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8.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35"/>
  </p:notesMasterIdLst>
  <p:handoutMasterIdLst>
    <p:handoutMasterId r:id="rId36"/>
  </p:handoutMasterIdLst>
  <p:sldIdLst>
    <p:sldId id="290" r:id="rId3"/>
    <p:sldId id="325" r:id="rId4"/>
    <p:sldId id="291" r:id="rId5"/>
    <p:sldId id="292" r:id="rId6"/>
    <p:sldId id="324" r:id="rId7"/>
    <p:sldId id="332" r:id="rId8"/>
    <p:sldId id="333" r:id="rId9"/>
    <p:sldId id="328" r:id="rId10"/>
    <p:sldId id="329" r:id="rId11"/>
    <p:sldId id="334" r:id="rId12"/>
    <p:sldId id="335" r:id="rId13"/>
    <p:sldId id="326" r:id="rId14"/>
    <p:sldId id="330" r:id="rId15"/>
    <p:sldId id="336" r:id="rId16"/>
    <p:sldId id="337" r:id="rId17"/>
    <p:sldId id="338" r:id="rId18"/>
    <p:sldId id="339" r:id="rId19"/>
    <p:sldId id="340" r:id="rId20"/>
    <p:sldId id="341" r:id="rId21"/>
    <p:sldId id="327" r:id="rId22"/>
    <p:sldId id="331" r:id="rId23"/>
    <p:sldId id="342" r:id="rId24"/>
    <p:sldId id="343" r:id="rId25"/>
    <p:sldId id="344" r:id="rId26"/>
    <p:sldId id="345" r:id="rId27"/>
    <p:sldId id="346" r:id="rId28"/>
    <p:sldId id="347" r:id="rId29"/>
    <p:sldId id="348" r:id="rId30"/>
    <p:sldId id="349" r:id="rId31"/>
    <p:sldId id="350" r:id="rId32"/>
    <p:sldId id="320" r:id="rId33"/>
    <p:sldId id="388" r:id="rId34"/>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7" autoAdjust="0"/>
    <p:restoredTop sz="95080" autoAdjust="0"/>
  </p:normalViewPr>
  <p:slideViewPr>
    <p:cSldViewPr snapToGrid="0">
      <p:cViewPr varScale="1">
        <p:scale>
          <a:sx n="107" d="100"/>
          <a:sy n="107" d="100"/>
        </p:scale>
        <p:origin x="768" y="114"/>
      </p:cViewPr>
      <p:guideLst/>
    </p:cSldViewPr>
  </p:slideViewPr>
  <p:notesTextViewPr>
    <p:cViewPr>
      <p:scale>
        <a:sx n="1" d="1"/>
        <a:sy n="1" d="1"/>
      </p:scale>
      <p:origin x="0" y="0"/>
    </p:cViewPr>
  </p:notesTextViewPr>
  <p:sorterViewPr>
    <p:cViewPr>
      <p:scale>
        <a:sx n="66" d="100"/>
        <a:sy n="66"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2026/7/21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0EC20B7D-E10B-4B47-A742-6B14FF1AE338}" type="datetimeFigureOut">
              <a:rPr lang="zh-CN" altLang="en-US" smtClean="0"/>
              <a:t>2026/7/21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6DA6DE87-1056-4D1C-B96D-F430998EAF13}"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t>模板来自于：</a:t>
            </a:r>
            <a:r>
              <a:rPr lang="en-US" altLang="zh-CN"/>
              <a:t> </a:t>
            </a:r>
            <a:r>
              <a:rPr lang="zh-CN" altLang="en-US"/>
              <a:t>第一</a:t>
            </a:r>
            <a:r>
              <a:rPr lang="en-US" altLang="zh-CN"/>
              <a:t>PPT https://www.1ppt.com/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498"/>
            <a:ext cx="12192000" cy="6862497"/>
          </a:xfrm>
          <a:prstGeom prst="rect">
            <a:avLst/>
          </a:prstGeom>
        </p:spPr>
      </p:pic>
      <p:sp>
        <p:nvSpPr>
          <p:cNvPr id="6" name="竖排文字占位符 9"/>
          <p:cNvSpPr>
            <a:spLocks noGrp="1"/>
          </p:cNvSpPr>
          <p:nvPr>
            <p:ph type="body" orient="vert" sz="quarter" idx="15" hasCustomPrompt="1"/>
          </p:nvPr>
        </p:nvSpPr>
        <p:spPr>
          <a:xfrm flipH="1">
            <a:off x="801240" y="3626106"/>
            <a:ext cx="6100652" cy="573097"/>
          </a:xfrm>
          <a:prstGeom prst="rect">
            <a:avLst/>
          </a:prstGeom>
          <a:noFill/>
        </p:spPr>
        <p:txBody>
          <a:bodyPr vert="horz" lIns="91440" tIns="45720" rIns="91440" bIns="45720" rtlCol="0" anchor="ctr">
            <a:noAutofit/>
          </a:bodyPr>
          <a:lstStyle>
            <a:lvl1pPr marL="0" indent="0" algn="l">
              <a:lnSpc>
                <a:spcPct val="100000"/>
              </a:lnSpc>
              <a:spcBef>
                <a:spcPct val="0"/>
              </a:spcBef>
              <a:buNone/>
              <a:defRPr lang="zh-CN" altLang="en-US" sz="2400" b="1">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
        <p:nvSpPr>
          <p:cNvPr id="9" name="竖排文字占位符 9"/>
          <p:cNvSpPr>
            <a:spLocks noGrp="1"/>
          </p:cNvSpPr>
          <p:nvPr>
            <p:ph type="body" orient="vert" sz="quarter" idx="16" hasCustomPrompt="1"/>
          </p:nvPr>
        </p:nvSpPr>
        <p:spPr>
          <a:xfrm flipH="1">
            <a:off x="801240" y="5251560"/>
            <a:ext cx="2697251" cy="573097"/>
          </a:xfrm>
          <a:prstGeom prst="roundRect">
            <a:avLst>
              <a:gd name="adj" fmla="val 0"/>
            </a:avLst>
          </a:prstGeom>
          <a:noFill/>
          <a:ln>
            <a:noFill/>
          </a:ln>
        </p:spPr>
        <p:txBody>
          <a:bodyPr vert="horz" lIns="91440" tIns="45720" rIns="91440" bIns="45720" rtlCol="0" anchor="ctr">
            <a:noAutofit/>
          </a:bodyPr>
          <a:lstStyle>
            <a:lvl1pPr marL="0" indent="0" algn="l">
              <a:lnSpc>
                <a:spcPct val="100000"/>
              </a:lnSpc>
              <a:spcBef>
                <a:spcPct val="0"/>
              </a:spcBef>
              <a:buNone/>
              <a:defRPr lang="zh-CN" altLang="en-US" sz="1800">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
        <p:nvSpPr>
          <p:cNvPr id="5" name="文本占位符 15"/>
          <p:cNvSpPr>
            <a:spLocks noGrp="1"/>
          </p:cNvSpPr>
          <p:nvPr>
            <p:ph type="body" sz="quarter" idx="13" hasCustomPrompt="1"/>
          </p:nvPr>
        </p:nvSpPr>
        <p:spPr>
          <a:xfrm>
            <a:off x="801240" y="1115338"/>
            <a:ext cx="6475860" cy="2606017"/>
          </a:xfrm>
        </p:spPr>
        <p:txBody>
          <a:bodyPr anchor="ctr">
            <a:noAutofit/>
          </a:bodyPr>
          <a:lstStyle>
            <a:lvl1pPr marL="0" indent="0" algn="l">
              <a:spcBef>
                <a:spcPct val="0"/>
              </a:spcBef>
              <a:buNone/>
              <a:defRPr lang="zh-CN" altLang="en-US" sz="7200" b="0" kern="1200" spc="0" baseline="0" smtClean="0">
                <a:solidFill>
                  <a:schemeClr val="bg1"/>
                </a:solidFill>
                <a:effectLst/>
                <a:latin typeface="+mj-ea"/>
                <a:ea typeface="+mj-ea"/>
                <a:cs typeface="+mn-cs"/>
              </a:defRPr>
            </a:lvl1pPr>
            <a:lvl2pPr>
              <a:buNone/>
              <a:defRPr/>
            </a:lvl2pPr>
          </a:lstStyle>
          <a:p>
            <a:pPr lvl="0"/>
            <a:r>
              <a:rPr lang="zh-CN" altLang="en-US"/>
              <a:t>标题文字</a:t>
            </a:r>
            <a:endParaRPr lang="en-US" altLang="zh-CN"/>
          </a:p>
        </p:txBody>
      </p:sp>
      <p:sp>
        <p:nvSpPr>
          <p:cNvPr id="10" name="竖排文字占位符 9"/>
          <p:cNvSpPr>
            <a:spLocks noGrp="1"/>
          </p:cNvSpPr>
          <p:nvPr>
            <p:ph type="body" orient="vert" sz="quarter" idx="17" hasCustomPrompt="1"/>
          </p:nvPr>
        </p:nvSpPr>
        <p:spPr>
          <a:xfrm flipH="1">
            <a:off x="801240" y="4371540"/>
            <a:ext cx="6100652" cy="573097"/>
          </a:xfrm>
          <a:prstGeom prst="rect">
            <a:avLst/>
          </a:prstGeom>
          <a:noFill/>
        </p:spPr>
        <p:txBody>
          <a:bodyPr vert="horz" lIns="91440" tIns="45720" rIns="91440" bIns="45720" rtlCol="0" anchor="ctr">
            <a:noAutofit/>
          </a:bodyPr>
          <a:lstStyle>
            <a:lvl1pPr marL="0" indent="0" algn="l">
              <a:lnSpc>
                <a:spcPct val="120000"/>
              </a:lnSpc>
              <a:spcBef>
                <a:spcPct val="0"/>
              </a:spcBef>
              <a:buNone/>
              <a:defRPr lang="zh-CN" altLang="en-US" sz="1600" b="1">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136"/>
            <a:ext cx="12192000" cy="6845728"/>
          </a:xfrm>
          <a:prstGeom prst="rect">
            <a:avLst/>
          </a:prstGeom>
        </p:spPr>
      </p:pic>
      <p:sp>
        <p:nvSpPr>
          <p:cNvPr id="3" name="矩形 2"/>
          <p:cNvSpPr/>
          <p:nvPr userDrawn="1"/>
        </p:nvSpPr>
        <p:spPr>
          <a:xfrm>
            <a:off x="0" y="0"/>
            <a:ext cx="12192000" cy="6858000"/>
          </a:xfrm>
          <a:prstGeom prst="rect">
            <a:avLst/>
          </a:prstGeom>
          <a:gradFill flip="none" rotWithShape="1">
            <a:gsLst>
              <a:gs pos="0">
                <a:schemeClr val="accent3"/>
              </a:gs>
              <a:gs pos="100000">
                <a:schemeClr val="accent1">
                  <a:alpha val="6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竖排文字占位符 9"/>
          <p:cNvSpPr>
            <a:spLocks noGrp="1"/>
          </p:cNvSpPr>
          <p:nvPr>
            <p:ph type="body" orient="vert" sz="quarter" idx="33" hasCustomPrompt="1"/>
          </p:nvPr>
        </p:nvSpPr>
        <p:spPr>
          <a:xfrm>
            <a:off x="1093866" y="1636166"/>
            <a:ext cx="3695848" cy="584775"/>
          </a:xfrm>
        </p:spPr>
        <p:txBody>
          <a:bodyPr vert="horz" wrap="square" anchor="ctr" anchorCtr="0">
            <a:noAutofit/>
          </a:bodyPr>
          <a:lstStyle>
            <a:lvl1pPr marL="0" indent="0" algn="l">
              <a:lnSpc>
                <a:spcPct val="100000"/>
              </a:lnSpc>
              <a:spcBef>
                <a:spcPct val="0"/>
              </a:spcBef>
              <a:buNone/>
              <a:defRPr sz="3200" spc="0">
                <a:solidFill>
                  <a:schemeClr val="bg1"/>
                </a:solidFill>
                <a:latin typeface="+mj-ea"/>
                <a:ea typeface="+mj-ea"/>
              </a:defRPr>
            </a:lvl1pPr>
          </a:lstStyle>
          <a:p>
            <a:pPr lvl="0"/>
            <a:r>
              <a:rPr lang="zh-CN" altLang="en-US"/>
              <a:t>编辑文本</a:t>
            </a:r>
          </a:p>
        </p:txBody>
      </p:sp>
      <p:sp>
        <p:nvSpPr>
          <p:cNvPr id="5" name="竖排文字占位符 9"/>
          <p:cNvSpPr>
            <a:spLocks noGrp="1"/>
          </p:cNvSpPr>
          <p:nvPr>
            <p:ph type="body" orient="vert" sz="quarter" idx="12" hasCustomPrompt="1"/>
          </p:nvPr>
        </p:nvSpPr>
        <p:spPr>
          <a:xfrm>
            <a:off x="7262002" y="2100234"/>
            <a:ext cx="3814023" cy="1256894"/>
          </a:xfrm>
        </p:spPr>
        <p:txBody>
          <a:bodyPr vert="horz" lIns="91440" tIns="45720" rIns="91440" bIns="45720" rtlCol="0" anchor="ctr">
            <a:noAutofit/>
          </a:bodyPr>
          <a:lstStyle>
            <a:lvl1pPr marL="0" indent="0" algn="ctr">
              <a:lnSpc>
                <a:spcPct val="100000"/>
              </a:lnSpc>
              <a:spcBef>
                <a:spcPct val="0"/>
              </a:spcBef>
              <a:buNone/>
              <a:defRPr lang="zh-CN" altLang="en-US" sz="11500" b="0" spc="0" baseline="0">
                <a:solidFill>
                  <a:schemeClr val="bg1"/>
                </a:solidFill>
                <a:effectLst/>
                <a:latin typeface="+mj-ea"/>
                <a:ea typeface="+mj-ea"/>
              </a:defRPr>
            </a:lvl1pPr>
          </a:lstStyle>
          <a:p>
            <a:pPr marL="0" lvl="0" indent="0">
              <a:spcBef>
                <a:spcPct val="0"/>
              </a:spcBef>
              <a:buNone/>
            </a:pPr>
            <a:r>
              <a:rPr lang="zh-CN" altLang="en-US"/>
              <a:t>编 辑</a:t>
            </a:r>
          </a:p>
        </p:txBody>
      </p:sp>
      <p:sp>
        <p:nvSpPr>
          <p:cNvPr id="26" name="竖排文字占位符 9"/>
          <p:cNvSpPr>
            <a:spLocks noGrp="1"/>
          </p:cNvSpPr>
          <p:nvPr>
            <p:ph type="body" orient="vert" sz="quarter" idx="22" hasCustomPrompt="1"/>
          </p:nvPr>
        </p:nvSpPr>
        <p:spPr>
          <a:xfrm>
            <a:off x="7175728" y="3875402"/>
            <a:ext cx="3986570" cy="584775"/>
          </a:xfrm>
        </p:spPr>
        <p:txBody>
          <a:bodyPr vert="horz" wrap="square" anchor="ctr" anchorCtr="0">
            <a:spAutoFit/>
          </a:bodyPr>
          <a:lstStyle>
            <a:lvl1pPr algn="dist">
              <a:lnSpc>
                <a:spcPct val="100000"/>
              </a:lnSpc>
              <a:buNone/>
              <a:defRPr sz="3200" spc="300">
                <a:solidFill>
                  <a:schemeClr val="bg1"/>
                </a:solidFill>
                <a:latin typeface="+mj-ea"/>
                <a:ea typeface="+mj-ea"/>
              </a:defRPr>
            </a:lvl1pPr>
          </a:lstStyle>
          <a:p>
            <a:pPr lvl="0"/>
            <a:r>
              <a:rPr lang="zh-CN" altLang="en-US"/>
              <a:t>编辑文本</a:t>
            </a:r>
          </a:p>
        </p:txBody>
      </p:sp>
      <p:sp>
        <p:nvSpPr>
          <p:cNvPr id="10" name="竖排文字占位符 9"/>
          <p:cNvSpPr>
            <a:spLocks noGrp="1"/>
          </p:cNvSpPr>
          <p:nvPr>
            <p:ph type="body" orient="vert" sz="quarter" idx="46" hasCustomPrompt="1"/>
          </p:nvPr>
        </p:nvSpPr>
        <p:spPr>
          <a:xfrm>
            <a:off x="4360736" y="1850688"/>
            <a:ext cx="3029622" cy="389010"/>
          </a:xfrm>
        </p:spPr>
        <p:txBody>
          <a:bodyPr vert="horz" wrap="square" anchor="ctr" anchorCtr="0">
            <a:noAutofit/>
          </a:bodyPr>
          <a:lstStyle>
            <a:lvl1pPr marL="0" indent="0" algn="l">
              <a:lnSpc>
                <a:spcPct val="100000"/>
              </a:lnSpc>
              <a:spcBef>
                <a:spcPct val="0"/>
              </a:spcBef>
              <a:buNone/>
              <a:defRPr sz="1600" spc="0">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编辑文本</a:t>
            </a:r>
          </a:p>
        </p:txBody>
      </p:sp>
      <p:grpSp>
        <p:nvGrpSpPr>
          <p:cNvPr id="76" name="组合 75"/>
          <p:cNvGrpSpPr/>
          <p:nvPr userDrawn="1"/>
        </p:nvGrpSpPr>
        <p:grpSpPr>
          <a:xfrm flipH="1">
            <a:off x="678286" y="1496308"/>
            <a:ext cx="5959600" cy="799297"/>
            <a:chOff x="5431523" y="833121"/>
            <a:chExt cx="4297058" cy="834132"/>
          </a:xfrm>
        </p:grpSpPr>
        <p:sp>
          <p:nvSpPr>
            <p:cNvPr id="77" name="平行四边形 76"/>
            <p:cNvSpPr/>
            <p:nvPr/>
          </p:nvSpPr>
          <p:spPr>
            <a:xfrm>
              <a:off x="5842473" y="939513"/>
              <a:ext cx="3886108" cy="727740"/>
            </a:xfrm>
            <a:prstGeom prst="parallelogram">
              <a:avLst>
                <a:gd name="adj" fmla="val 35461"/>
              </a:avLst>
            </a:prstGeom>
            <a:noFill/>
            <a:ln w="9525" cap="flat" cmpd="sng" algn="ctr">
              <a:gradFill flip="none" rotWithShape="1">
                <a:gsLst>
                  <a:gs pos="10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78" name="平行四边形 77"/>
            <p:cNvSpPr/>
            <p:nvPr/>
          </p:nvSpPr>
          <p:spPr>
            <a:xfrm>
              <a:off x="5842473" y="833121"/>
              <a:ext cx="3832617" cy="775788"/>
            </a:xfrm>
            <a:prstGeom prst="parallelogram">
              <a:avLst>
                <a:gd name="adj" fmla="val 35461"/>
              </a:avLst>
            </a:prstGeom>
            <a:noFill/>
            <a:ln w="12700" cap="flat" cmpd="sng" algn="ctr">
              <a:gradFill flip="none" rotWithShape="1">
                <a:gsLst>
                  <a:gs pos="10000">
                    <a:srgbClr val="152251">
                      <a:alpha val="0"/>
                    </a:srgbClr>
                  </a:gs>
                  <a:gs pos="100000">
                    <a:srgbClr val="37CFFF">
                      <a:alpha val="60000"/>
                    </a:srgbClr>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79" name="平行四边形 78"/>
            <p:cNvSpPr/>
            <p:nvPr/>
          </p:nvSpPr>
          <p:spPr>
            <a:xfrm>
              <a:off x="5431523" y="833121"/>
              <a:ext cx="4243567" cy="775788"/>
            </a:xfrm>
            <a:prstGeom prst="parallelogram">
              <a:avLst>
                <a:gd name="adj" fmla="val 35461"/>
              </a:avLst>
            </a:prstGeom>
            <a:noFill/>
            <a:ln w="12700" cap="flat" cmpd="sng" algn="ctr">
              <a:gradFill flip="none" rotWithShape="1">
                <a:gsLst>
                  <a:gs pos="15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grpSp>
      <p:grpSp>
        <p:nvGrpSpPr>
          <p:cNvPr id="80" name="组合 79"/>
          <p:cNvGrpSpPr/>
          <p:nvPr userDrawn="1"/>
        </p:nvGrpSpPr>
        <p:grpSpPr>
          <a:xfrm>
            <a:off x="721775" y="525459"/>
            <a:ext cx="695474" cy="193936"/>
            <a:chOff x="3345" y="548"/>
            <a:chExt cx="1316" cy="435"/>
          </a:xfrm>
          <a:gradFill>
            <a:gsLst>
              <a:gs pos="0">
                <a:schemeClr val="accent4"/>
              </a:gs>
              <a:gs pos="100000">
                <a:schemeClr val="accent4">
                  <a:alpha val="0"/>
                </a:schemeClr>
              </a:gs>
            </a:gsLst>
            <a:lin ang="10800000" scaled="1"/>
          </a:gradFill>
        </p:grpSpPr>
        <p:sp>
          <p:nvSpPr>
            <p:cNvPr id="81" name="燕尾形 917"/>
            <p:cNvSpPr/>
            <p:nvPr/>
          </p:nvSpPr>
          <p:spPr>
            <a:xfrm>
              <a:off x="3345" y="549"/>
              <a:ext cx="491" cy="43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Impact" panose="020B0806030902050204"/>
                <a:ea typeface="微软雅黑" panose="020B0503020204020204" pitchFamily="34" charset="-122"/>
                <a:cs typeface="+mn-cs"/>
              </a:endParaRPr>
            </a:p>
          </p:txBody>
        </p:sp>
        <p:sp>
          <p:nvSpPr>
            <p:cNvPr id="82" name="燕尾形 921"/>
            <p:cNvSpPr/>
            <p:nvPr/>
          </p:nvSpPr>
          <p:spPr>
            <a:xfrm>
              <a:off x="3749" y="548"/>
              <a:ext cx="491" cy="43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Impact" panose="020B0806030902050204"/>
                <a:ea typeface="微软雅黑" panose="020B0503020204020204" pitchFamily="34" charset="-122"/>
                <a:cs typeface="+mn-cs"/>
              </a:endParaRPr>
            </a:p>
          </p:txBody>
        </p:sp>
        <p:sp>
          <p:nvSpPr>
            <p:cNvPr id="83" name="燕尾形 922"/>
            <p:cNvSpPr/>
            <p:nvPr/>
          </p:nvSpPr>
          <p:spPr>
            <a:xfrm>
              <a:off x="4171" y="548"/>
              <a:ext cx="491" cy="43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Impact" panose="020B0806030902050204"/>
                <a:ea typeface="微软雅黑" panose="020B0503020204020204" pitchFamily="34" charset="-122"/>
                <a:cs typeface="+mn-cs"/>
              </a:endParaRPr>
            </a:p>
          </p:txBody>
        </p:sp>
      </p:grpSp>
      <p:sp>
        <p:nvSpPr>
          <p:cNvPr id="86" name="竖排文字占位符 9"/>
          <p:cNvSpPr>
            <a:spLocks noGrp="1"/>
          </p:cNvSpPr>
          <p:nvPr>
            <p:ph type="body" orient="vert" sz="quarter" idx="47" hasCustomPrompt="1"/>
          </p:nvPr>
        </p:nvSpPr>
        <p:spPr>
          <a:xfrm>
            <a:off x="1130959" y="2732494"/>
            <a:ext cx="3695848" cy="584775"/>
          </a:xfrm>
        </p:spPr>
        <p:txBody>
          <a:bodyPr vert="horz" wrap="square" anchor="ctr" anchorCtr="0">
            <a:noAutofit/>
          </a:bodyPr>
          <a:lstStyle>
            <a:lvl1pPr marL="0" indent="0" algn="l">
              <a:lnSpc>
                <a:spcPct val="100000"/>
              </a:lnSpc>
              <a:spcBef>
                <a:spcPct val="0"/>
              </a:spcBef>
              <a:buNone/>
              <a:defRPr sz="3200" spc="0">
                <a:solidFill>
                  <a:schemeClr val="bg1"/>
                </a:solidFill>
                <a:latin typeface="+mj-ea"/>
                <a:ea typeface="+mj-ea"/>
              </a:defRPr>
            </a:lvl1pPr>
          </a:lstStyle>
          <a:p>
            <a:pPr lvl="0"/>
            <a:r>
              <a:rPr lang="zh-CN" altLang="en-US"/>
              <a:t>编辑文本</a:t>
            </a:r>
          </a:p>
        </p:txBody>
      </p:sp>
      <p:sp>
        <p:nvSpPr>
          <p:cNvPr id="87" name="竖排文字占位符 9"/>
          <p:cNvSpPr>
            <a:spLocks noGrp="1"/>
          </p:cNvSpPr>
          <p:nvPr>
            <p:ph type="body" orient="vert" sz="quarter" idx="48" hasCustomPrompt="1"/>
          </p:nvPr>
        </p:nvSpPr>
        <p:spPr>
          <a:xfrm>
            <a:off x="4397829" y="2947016"/>
            <a:ext cx="3029622" cy="389010"/>
          </a:xfrm>
        </p:spPr>
        <p:txBody>
          <a:bodyPr vert="horz" wrap="square" anchor="ctr" anchorCtr="0">
            <a:noAutofit/>
          </a:bodyPr>
          <a:lstStyle>
            <a:lvl1pPr marL="0" indent="0" algn="l">
              <a:lnSpc>
                <a:spcPct val="100000"/>
              </a:lnSpc>
              <a:spcBef>
                <a:spcPct val="0"/>
              </a:spcBef>
              <a:buNone/>
              <a:defRPr sz="1600" spc="0">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编辑文本</a:t>
            </a:r>
          </a:p>
        </p:txBody>
      </p:sp>
      <p:grpSp>
        <p:nvGrpSpPr>
          <p:cNvPr id="88" name="组合 87"/>
          <p:cNvGrpSpPr/>
          <p:nvPr userDrawn="1"/>
        </p:nvGrpSpPr>
        <p:grpSpPr>
          <a:xfrm flipH="1">
            <a:off x="715379" y="2592636"/>
            <a:ext cx="5959600" cy="799297"/>
            <a:chOff x="5431523" y="833121"/>
            <a:chExt cx="4297058" cy="834132"/>
          </a:xfrm>
        </p:grpSpPr>
        <p:sp>
          <p:nvSpPr>
            <p:cNvPr id="89" name="平行四边形 88"/>
            <p:cNvSpPr/>
            <p:nvPr/>
          </p:nvSpPr>
          <p:spPr>
            <a:xfrm>
              <a:off x="5842473" y="939513"/>
              <a:ext cx="3886108" cy="727740"/>
            </a:xfrm>
            <a:prstGeom prst="parallelogram">
              <a:avLst>
                <a:gd name="adj" fmla="val 35461"/>
              </a:avLst>
            </a:prstGeom>
            <a:noFill/>
            <a:ln w="9525" cap="flat" cmpd="sng" algn="ctr">
              <a:gradFill flip="none" rotWithShape="1">
                <a:gsLst>
                  <a:gs pos="10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90" name="平行四边形 89"/>
            <p:cNvSpPr/>
            <p:nvPr/>
          </p:nvSpPr>
          <p:spPr>
            <a:xfrm>
              <a:off x="5842473" y="833121"/>
              <a:ext cx="3832617" cy="775788"/>
            </a:xfrm>
            <a:prstGeom prst="parallelogram">
              <a:avLst>
                <a:gd name="adj" fmla="val 35461"/>
              </a:avLst>
            </a:prstGeom>
            <a:noFill/>
            <a:ln w="12700" cap="flat" cmpd="sng" algn="ctr">
              <a:gradFill flip="none" rotWithShape="1">
                <a:gsLst>
                  <a:gs pos="10000">
                    <a:srgbClr val="152251">
                      <a:alpha val="0"/>
                    </a:srgbClr>
                  </a:gs>
                  <a:gs pos="100000">
                    <a:srgbClr val="37CFFF">
                      <a:alpha val="60000"/>
                    </a:srgbClr>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91" name="平行四边形 90"/>
            <p:cNvSpPr/>
            <p:nvPr/>
          </p:nvSpPr>
          <p:spPr>
            <a:xfrm>
              <a:off x="5431523" y="833121"/>
              <a:ext cx="4243567" cy="775788"/>
            </a:xfrm>
            <a:prstGeom prst="parallelogram">
              <a:avLst>
                <a:gd name="adj" fmla="val 35461"/>
              </a:avLst>
            </a:prstGeom>
            <a:noFill/>
            <a:ln w="12700" cap="flat" cmpd="sng" algn="ctr">
              <a:gradFill flip="none" rotWithShape="1">
                <a:gsLst>
                  <a:gs pos="15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grpSp>
      <p:sp>
        <p:nvSpPr>
          <p:cNvPr id="92" name="竖排文字占位符 9"/>
          <p:cNvSpPr>
            <a:spLocks noGrp="1"/>
          </p:cNvSpPr>
          <p:nvPr>
            <p:ph type="body" orient="vert" sz="quarter" idx="49" hasCustomPrompt="1"/>
          </p:nvPr>
        </p:nvSpPr>
        <p:spPr>
          <a:xfrm>
            <a:off x="1168052" y="3903081"/>
            <a:ext cx="3695848" cy="584775"/>
          </a:xfrm>
        </p:spPr>
        <p:txBody>
          <a:bodyPr vert="horz" wrap="square" anchor="ctr" anchorCtr="0">
            <a:noAutofit/>
          </a:bodyPr>
          <a:lstStyle>
            <a:lvl1pPr marL="0" indent="0" algn="l">
              <a:lnSpc>
                <a:spcPct val="100000"/>
              </a:lnSpc>
              <a:spcBef>
                <a:spcPct val="0"/>
              </a:spcBef>
              <a:buNone/>
              <a:defRPr sz="3200" spc="0">
                <a:solidFill>
                  <a:schemeClr val="bg1"/>
                </a:solidFill>
                <a:latin typeface="+mj-ea"/>
                <a:ea typeface="+mj-ea"/>
              </a:defRPr>
            </a:lvl1pPr>
          </a:lstStyle>
          <a:p>
            <a:pPr lvl="0"/>
            <a:r>
              <a:rPr lang="zh-CN" altLang="en-US"/>
              <a:t>编辑文本</a:t>
            </a:r>
          </a:p>
        </p:txBody>
      </p:sp>
      <p:sp>
        <p:nvSpPr>
          <p:cNvPr id="93" name="竖排文字占位符 9"/>
          <p:cNvSpPr>
            <a:spLocks noGrp="1"/>
          </p:cNvSpPr>
          <p:nvPr>
            <p:ph type="body" orient="vert" sz="quarter" idx="50" hasCustomPrompt="1"/>
          </p:nvPr>
        </p:nvSpPr>
        <p:spPr>
          <a:xfrm>
            <a:off x="4434922" y="4117603"/>
            <a:ext cx="3029622" cy="389010"/>
          </a:xfrm>
        </p:spPr>
        <p:txBody>
          <a:bodyPr vert="horz" wrap="square" anchor="ctr" anchorCtr="0">
            <a:noAutofit/>
          </a:bodyPr>
          <a:lstStyle>
            <a:lvl1pPr marL="0" indent="0" algn="l">
              <a:lnSpc>
                <a:spcPct val="100000"/>
              </a:lnSpc>
              <a:spcBef>
                <a:spcPct val="0"/>
              </a:spcBef>
              <a:buNone/>
              <a:defRPr sz="1600" spc="0">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编辑文本</a:t>
            </a:r>
          </a:p>
        </p:txBody>
      </p:sp>
      <p:grpSp>
        <p:nvGrpSpPr>
          <p:cNvPr id="94" name="组合 93"/>
          <p:cNvGrpSpPr/>
          <p:nvPr userDrawn="1"/>
        </p:nvGrpSpPr>
        <p:grpSpPr>
          <a:xfrm flipH="1">
            <a:off x="752472" y="3763223"/>
            <a:ext cx="5959600" cy="799297"/>
            <a:chOff x="5431523" y="833121"/>
            <a:chExt cx="4297058" cy="834132"/>
          </a:xfrm>
        </p:grpSpPr>
        <p:sp>
          <p:nvSpPr>
            <p:cNvPr id="95" name="平行四边形 94"/>
            <p:cNvSpPr/>
            <p:nvPr/>
          </p:nvSpPr>
          <p:spPr>
            <a:xfrm>
              <a:off x="5842473" y="939513"/>
              <a:ext cx="3886108" cy="727740"/>
            </a:xfrm>
            <a:prstGeom prst="parallelogram">
              <a:avLst>
                <a:gd name="adj" fmla="val 35461"/>
              </a:avLst>
            </a:prstGeom>
            <a:noFill/>
            <a:ln w="9525" cap="flat" cmpd="sng" algn="ctr">
              <a:gradFill flip="none" rotWithShape="1">
                <a:gsLst>
                  <a:gs pos="10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96" name="平行四边形 95"/>
            <p:cNvSpPr/>
            <p:nvPr/>
          </p:nvSpPr>
          <p:spPr>
            <a:xfrm>
              <a:off x="5842473" y="833121"/>
              <a:ext cx="3832617" cy="775788"/>
            </a:xfrm>
            <a:prstGeom prst="parallelogram">
              <a:avLst>
                <a:gd name="adj" fmla="val 35461"/>
              </a:avLst>
            </a:prstGeom>
            <a:noFill/>
            <a:ln w="12700" cap="flat" cmpd="sng" algn="ctr">
              <a:gradFill flip="none" rotWithShape="1">
                <a:gsLst>
                  <a:gs pos="10000">
                    <a:srgbClr val="152251">
                      <a:alpha val="0"/>
                    </a:srgbClr>
                  </a:gs>
                  <a:gs pos="100000">
                    <a:srgbClr val="37CFFF">
                      <a:alpha val="60000"/>
                    </a:srgbClr>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97" name="平行四边形 96"/>
            <p:cNvSpPr/>
            <p:nvPr/>
          </p:nvSpPr>
          <p:spPr>
            <a:xfrm>
              <a:off x="5431523" y="833121"/>
              <a:ext cx="4243567" cy="775788"/>
            </a:xfrm>
            <a:prstGeom prst="parallelogram">
              <a:avLst>
                <a:gd name="adj" fmla="val 35461"/>
              </a:avLst>
            </a:prstGeom>
            <a:noFill/>
            <a:ln w="12700" cap="flat" cmpd="sng" algn="ctr">
              <a:gradFill flip="none" rotWithShape="1">
                <a:gsLst>
                  <a:gs pos="15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grpSp>
      <p:sp>
        <p:nvSpPr>
          <p:cNvPr id="98" name="竖排文字占位符 9"/>
          <p:cNvSpPr>
            <a:spLocks noGrp="1"/>
          </p:cNvSpPr>
          <p:nvPr>
            <p:ph type="body" orient="vert" sz="quarter" idx="51" hasCustomPrompt="1"/>
          </p:nvPr>
        </p:nvSpPr>
        <p:spPr>
          <a:xfrm>
            <a:off x="1205145" y="4999409"/>
            <a:ext cx="3695848" cy="584775"/>
          </a:xfrm>
        </p:spPr>
        <p:txBody>
          <a:bodyPr vert="horz" wrap="square" anchor="ctr" anchorCtr="0">
            <a:noAutofit/>
          </a:bodyPr>
          <a:lstStyle>
            <a:lvl1pPr marL="0" indent="0" algn="l">
              <a:lnSpc>
                <a:spcPct val="100000"/>
              </a:lnSpc>
              <a:spcBef>
                <a:spcPct val="0"/>
              </a:spcBef>
              <a:buNone/>
              <a:defRPr sz="3200" spc="0">
                <a:solidFill>
                  <a:schemeClr val="bg1"/>
                </a:solidFill>
                <a:latin typeface="+mj-ea"/>
                <a:ea typeface="+mj-ea"/>
              </a:defRPr>
            </a:lvl1pPr>
          </a:lstStyle>
          <a:p>
            <a:pPr lvl="0"/>
            <a:r>
              <a:rPr lang="zh-CN" altLang="en-US"/>
              <a:t>编辑文本</a:t>
            </a:r>
          </a:p>
        </p:txBody>
      </p:sp>
      <p:sp>
        <p:nvSpPr>
          <p:cNvPr id="99" name="竖排文字占位符 9"/>
          <p:cNvSpPr>
            <a:spLocks noGrp="1"/>
          </p:cNvSpPr>
          <p:nvPr>
            <p:ph type="body" orient="vert" sz="quarter" idx="52" hasCustomPrompt="1"/>
          </p:nvPr>
        </p:nvSpPr>
        <p:spPr>
          <a:xfrm>
            <a:off x="4366602" y="5213931"/>
            <a:ext cx="3153835" cy="389010"/>
          </a:xfrm>
        </p:spPr>
        <p:txBody>
          <a:bodyPr vert="horz" wrap="square" anchor="ctr" anchorCtr="0">
            <a:noAutofit/>
          </a:bodyPr>
          <a:lstStyle>
            <a:lvl1pPr marL="0" indent="0" algn="l">
              <a:lnSpc>
                <a:spcPct val="100000"/>
              </a:lnSpc>
              <a:spcBef>
                <a:spcPct val="0"/>
              </a:spcBef>
              <a:buNone/>
              <a:defRPr sz="1600" spc="0">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编辑文本</a:t>
            </a:r>
          </a:p>
        </p:txBody>
      </p:sp>
      <p:grpSp>
        <p:nvGrpSpPr>
          <p:cNvPr id="100" name="组合 99"/>
          <p:cNvGrpSpPr/>
          <p:nvPr userDrawn="1"/>
        </p:nvGrpSpPr>
        <p:grpSpPr>
          <a:xfrm flipH="1">
            <a:off x="789565" y="4859551"/>
            <a:ext cx="5959600" cy="799297"/>
            <a:chOff x="5431523" y="833121"/>
            <a:chExt cx="4297058" cy="834132"/>
          </a:xfrm>
        </p:grpSpPr>
        <p:sp>
          <p:nvSpPr>
            <p:cNvPr id="101" name="平行四边形 100"/>
            <p:cNvSpPr/>
            <p:nvPr/>
          </p:nvSpPr>
          <p:spPr>
            <a:xfrm>
              <a:off x="5842473" y="939513"/>
              <a:ext cx="3886108" cy="727740"/>
            </a:xfrm>
            <a:prstGeom prst="parallelogram">
              <a:avLst>
                <a:gd name="adj" fmla="val 35461"/>
              </a:avLst>
            </a:prstGeom>
            <a:noFill/>
            <a:ln w="9525" cap="flat" cmpd="sng" algn="ctr">
              <a:gradFill flip="none" rotWithShape="1">
                <a:gsLst>
                  <a:gs pos="10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102" name="平行四边形 101"/>
            <p:cNvSpPr/>
            <p:nvPr/>
          </p:nvSpPr>
          <p:spPr>
            <a:xfrm>
              <a:off x="5842473" y="833121"/>
              <a:ext cx="3832617" cy="775788"/>
            </a:xfrm>
            <a:prstGeom prst="parallelogram">
              <a:avLst>
                <a:gd name="adj" fmla="val 35461"/>
              </a:avLst>
            </a:prstGeom>
            <a:noFill/>
            <a:ln w="12700" cap="flat" cmpd="sng" algn="ctr">
              <a:gradFill flip="none" rotWithShape="1">
                <a:gsLst>
                  <a:gs pos="10000">
                    <a:srgbClr val="152251">
                      <a:alpha val="0"/>
                    </a:srgbClr>
                  </a:gs>
                  <a:gs pos="100000">
                    <a:srgbClr val="37CFFF">
                      <a:alpha val="60000"/>
                    </a:srgbClr>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103" name="平行四边形 102"/>
            <p:cNvSpPr/>
            <p:nvPr/>
          </p:nvSpPr>
          <p:spPr>
            <a:xfrm>
              <a:off x="5431523" y="833121"/>
              <a:ext cx="4243567" cy="775788"/>
            </a:xfrm>
            <a:prstGeom prst="parallelogram">
              <a:avLst>
                <a:gd name="adj" fmla="val 35461"/>
              </a:avLst>
            </a:prstGeom>
            <a:noFill/>
            <a:ln w="12700" cap="flat" cmpd="sng" algn="ctr">
              <a:gradFill flip="none" rotWithShape="1">
                <a:gsLst>
                  <a:gs pos="15000">
                    <a:schemeClr val="accent4">
                      <a:alpha val="0"/>
                    </a:schemeClr>
                  </a:gs>
                  <a:gs pos="100000">
                    <a:schemeClr val="accent4"/>
                  </a:gs>
                </a:gsLst>
                <a:lin ang="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gr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498"/>
            <a:ext cx="12192000" cy="6862497"/>
          </a:xfrm>
          <a:prstGeom prst="rect">
            <a:avLst/>
          </a:prstGeom>
        </p:spPr>
      </p:pic>
      <p:sp>
        <p:nvSpPr>
          <p:cNvPr id="4" name="竖排文字占位符 9"/>
          <p:cNvSpPr>
            <a:spLocks noGrp="1"/>
          </p:cNvSpPr>
          <p:nvPr>
            <p:ph type="body" orient="vert" sz="quarter" idx="15" hasCustomPrompt="1"/>
          </p:nvPr>
        </p:nvSpPr>
        <p:spPr>
          <a:xfrm flipH="1">
            <a:off x="658813" y="2715060"/>
            <a:ext cx="6243079" cy="1189712"/>
          </a:xfrm>
          <a:prstGeom prst="rect">
            <a:avLst/>
          </a:prstGeom>
          <a:noFill/>
        </p:spPr>
        <p:txBody>
          <a:bodyPr vert="horz" lIns="91440" tIns="45720" rIns="91440" bIns="45720" rtlCol="0" anchor="ctr">
            <a:noAutofit/>
          </a:bodyPr>
          <a:lstStyle>
            <a:lvl1pPr marL="0" indent="0" algn="l">
              <a:lnSpc>
                <a:spcPct val="100000"/>
              </a:lnSpc>
              <a:spcBef>
                <a:spcPct val="0"/>
              </a:spcBef>
              <a:buNone/>
              <a:defRPr lang="zh-CN" altLang="en-US" sz="8000" b="1">
                <a:solidFill>
                  <a:schemeClr val="bg1"/>
                </a:solidFill>
                <a:latin typeface="+mj-ea"/>
                <a:ea typeface="+mj-ea"/>
              </a:defRPr>
            </a:lvl1pPr>
          </a:lstStyle>
          <a:p>
            <a:pPr lvl="0">
              <a:buNone/>
            </a:pPr>
            <a:r>
              <a:rPr lang="zh-CN" altLang="en-US"/>
              <a:t>编辑文本</a:t>
            </a:r>
          </a:p>
        </p:txBody>
      </p:sp>
      <p:sp>
        <p:nvSpPr>
          <p:cNvPr id="6" name="竖排文字占位符 9"/>
          <p:cNvSpPr>
            <a:spLocks noGrp="1"/>
          </p:cNvSpPr>
          <p:nvPr>
            <p:ph type="body" orient="vert" sz="quarter" idx="16" hasCustomPrompt="1"/>
          </p:nvPr>
        </p:nvSpPr>
        <p:spPr>
          <a:xfrm flipH="1">
            <a:off x="658811" y="4162381"/>
            <a:ext cx="6372035" cy="856186"/>
          </a:xfrm>
          <a:prstGeom prst="roundRect">
            <a:avLst>
              <a:gd name="adj" fmla="val 0"/>
            </a:avLst>
          </a:prstGeom>
          <a:noFill/>
          <a:ln>
            <a:noFill/>
          </a:ln>
        </p:spPr>
        <p:txBody>
          <a:bodyPr vert="horz" lIns="91440" tIns="45720" rIns="91440" bIns="45720" rtlCol="0" anchor="ctr">
            <a:noAutofit/>
          </a:bodyPr>
          <a:lstStyle>
            <a:lvl1pPr marL="0" indent="0" algn="l">
              <a:lnSpc>
                <a:spcPct val="100000"/>
              </a:lnSpc>
              <a:spcBef>
                <a:spcPct val="0"/>
              </a:spcBef>
              <a:buNone/>
              <a:defRPr lang="zh-CN" altLang="en-US" sz="1800">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
        <p:nvSpPr>
          <p:cNvPr id="7" name="文本占位符 15"/>
          <p:cNvSpPr>
            <a:spLocks noGrp="1"/>
          </p:cNvSpPr>
          <p:nvPr>
            <p:ph type="body" sz="quarter" idx="13" hasCustomPrompt="1"/>
          </p:nvPr>
        </p:nvSpPr>
        <p:spPr>
          <a:xfrm>
            <a:off x="658813" y="1267739"/>
            <a:ext cx="2287587" cy="1189712"/>
          </a:xfrm>
        </p:spPr>
        <p:txBody>
          <a:bodyPr anchor="ctr">
            <a:noAutofit/>
          </a:bodyPr>
          <a:lstStyle>
            <a:lvl1pPr marL="0" indent="0" algn="l">
              <a:spcBef>
                <a:spcPct val="0"/>
              </a:spcBef>
              <a:buNone/>
              <a:defRPr lang="zh-CN" altLang="en-US" sz="8000" b="1" kern="1200" spc="0" baseline="0" smtClean="0">
                <a:solidFill>
                  <a:schemeClr val="bg1"/>
                </a:solidFill>
                <a:effectLst/>
                <a:latin typeface="+mj-ea"/>
                <a:ea typeface="+mj-ea"/>
                <a:cs typeface="+mn-cs"/>
              </a:defRPr>
            </a:lvl1pPr>
            <a:lvl2pPr>
              <a:buNone/>
              <a:defRPr/>
            </a:lvl2pPr>
          </a:lstStyle>
          <a:p>
            <a:pPr lvl="0"/>
            <a:r>
              <a:rPr lang="zh-CN" altLang="en-US"/>
              <a:t>序号</a:t>
            </a:r>
            <a:endParaRPr lang="en-US" altLang="zh-CN"/>
          </a:p>
        </p:txBody>
      </p:sp>
      <p:sp>
        <p:nvSpPr>
          <p:cNvPr id="11" name="竖排文字占位符 9"/>
          <p:cNvSpPr>
            <a:spLocks noGrp="1"/>
          </p:cNvSpPr>
          <p:nvPr>
            <p:ph type="body" orient="vert" sz="quarter" idx="17" hasCustomPrompt="1"/>
          </p:nvPr>
        </p:nvSpPr>
        <p:spPr>
          <a:xfrm flipH="1">
            <a:off x="2533650" y="1561946"/>
            <a:ext cx="3562350" cy="710632"/>
          </a:xfrm>
          <a:prstGeom prst="rect">
            <a:avLst/>
          </a:prstGeom>
          <a:noFill/>
        </p:spPr>
        <p:txBody>
          <a:bodyPr vert="horz" lIns="91440" tIns="45720" rIns="91440" bIns="45720" rtlCol="0" anchor="ctr">
            <a:noAutofit/>
          </a:bodyPr>
          <a:lstStyle>
            <a:lvl1pPr marL="0" indent="0" algn="l">
              <a:lnSpc>
                <a:spcPct val="120000"/>
              </a:lnSpc>
              <a:spcBef>
                <a:spcPct val="0"/>
              </a:spcBef>
              <a:buNone/>
              <a:defRPr lang="zh-CN" altLang="en-US" sz="3600" b="1">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136"/>
            <a:ext cx="12192000" cy="6845728"/>
          </a:xfrm>
          <a:prstGeom prst="rect">
            <a:avLst/>
          </a:prstGeom>
        </p:spPr>
      </p:pic>
      <p:sp>
        <p:nvSpPr>
          <p:cNvPr id="6" name="矩形 5"/>
          <p:cNvSpPr/>
          <p:nvPr userDrawn="1"/>
        </p:nvSpPr>
        <p:spPr>
          <a:xfrm>
            <a:off x="0" y="0"/>
            <a:ext cx="12192000" cy="6858000"/>
          </a:xfrm>
          <a:prstGeom prst="rect">
            <a:avLst/>
          </a:prstGeom>
          <a:gradFill flip="none" rotWithShape="1">
            <a:gsLst>
              <a:gs pos="0">
                <a:schemeClr val="accent3"/>
              </a:gs>
              <a:gs pos="100000">
                <a:schemeClr val="accent1">
                  <a:alpha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 name="矩形 2"/>
          <p:cNvSpPr/>
          <p:nvPr userDrawn="1"/>
        </p:nvSpPr>
        <p:spPr>
          <a:xfrm>
            <a:off x="254000" y="176642"/>
            <a:ext cx="11720286" cy="65047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文本占位符 10"/>
          <p:cNvSpPr>
            <a:spLocks noGrp="1"/>
          </p:cNvSpPr>
          <p:nvPr>
            <p:ph type="body" sz="quarter" idx="10"/>
          </p:nvPr>
        </p:nvSpPr>
        <p:spPr>
          <a:xfrm>
            <a:off x="766120" y="359499"/>
            <a:ext cx="11208166" cy="535531"/>
          </a:xfrm>
        </p:spPr>
        <p:txBody>
          <a:bodyPr wrap="square">
            <a:spAutoFit/>
          </a:bodyPr>
          <a:lstStyle>
            <a:lvl1pPr>
              <a:buNone/>
              <a:defRPr sz="3200">
                <a:solidFill>
                  <a:schemeClr val="accent1"/>
                </a:solidFill>
                <a:latin typeface="+mj-ea"/>
                <a:ea typeface="+mj-ea"/>
              </a:defRPr>
            </a:lvl1pPr>
            <a:lvl2pPr>
              <a:buNone/>
              <a:defRPr/>
            </a:lvl2pPr>
            <a:lvl3pPr>
              <a:buNone/>
              <a:defRPr/>
            </a:lvl3pPr>
            <a:lvl4pPr>
              <a:buNone/>
              <a:defRPr/>
            </a:lvl4pPr>
            <a:lvl5pPr>
              <a:buNone/>
              <a:defRPr/>
            </a:lvl5pPr>
          </a:lstStyle>
          <a:p>
            <a:pPr lvl="0"/>
            <a:r>
              <a:rPr lang="zh-CN" altLang="en-US"/>
              <a:t>单击此处编辑母版文本样式</a:t>
            </a:r>
          </a:p>
        </p:txBody>
      </p:sp>
      <p:grpSp>
        <p:nvGrpSpPr>
          <p:cNvPr id="7" name="组合 6"/>
          <p:cNvGrpSpPr/>
          <p:nvPr userDrawn="1"/>
        </p:nvGrpSpPr>
        <p:grpSpPr>
          <a:xfrm flipH="1">
            <a:off x="417936" y="257899"/>
            <a:ext cx="5959600" cy="667240"/>
            <a:chOff x="5431523" y="833121"/>
            <a:chExt cx="4297058" cy="834132"/>
          </a:xfrm>
        </p:grpSpPr>
        <p:sp>
          <p:nvSpPr>
            <p:cNvPr id="8" name="平行四边形 7"/>
            <p:cNvSpPr/>
            <p:nvPr/>
          </p:nvSpPr>
          <p:spPr>
            <a:xfrm>
              <a:off x="5842473" y="939513"/>
              <a:ext cx="3886108" cy="727740"/>
            </a:xfrm>
            <a:prstGeom prst="parallelogram">
              <a:avLst>
                <a:gd name="adj" fmla="val 35461"/>
              </a:avLst>
            </a:prstGeom>
            <a:noFill/>
            <a:ln w="9525" cap="flat" cmpd="sng" algn="ctr">
              <a:gradFill flip="none" rotWithShape="1">
                <a:gsLst>
                  <a:gs pos="0">
                    <a:schemeClr val="accent1"/>
                  </a:gs>
                  <a:gs pos="100000">
                    <a:schemeClr val="accent1">
                      <a:lumMod val="30000"/>
                      <a:lumOff val="70000"/>
                      <a:alpha val="0"/>
                    </a:schemeClr>
                  </a:gs>
                </a:gsLst>
                <a:lin ang="1080000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10" name="平行四边形 9"/>
            <p:cNvSpPr/>
            <p:nvPr/>
          </p:nvSpPr>
          <p:spPr>
            <a:xfrm>
              <a:off x="5842473" y="833121"/>
              <a:ext cx="3832617" cy="775788"/>
            </a:xfrm>
            <a:prstGeom prst="parallelogram">
              <a:avLst>
                <a:gd name="adj" fmla="val 35461"/>
              </a:avLst>
            </a:prstGeom>
            <a:noFill/>
            <a:ln w="12700" cap="flat" cmpd="sng" algn="ctr">
              <a:gradFill flip="none" rotWithShape="1">
                <a:gsLst>
                  <a:gs pos="0">
                    <a:schemeClr val="accent1"/>
                  </a:gs>
                  <a:gs pos="100000">
                    <a:schemeClr val="accent1">
                      <a:lumMod val="30000"/>
                      <a:lumOff val="70000"/>
                      <a:alpha val="0"/>
                    </a:schemeClr>
                  </a:gs>
                </a:gsLst>
                <a:lin ang="1080000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sp>
          <p:nvSpPr>
            <p:cNvPr id="12" name="平行四边形 11"/>
            <p:cNvSpPr/>
            <p:nvPr/>
          </p:nvSpPr>
          <p:spPr>
            <a:xfrm>
              <a:off x="5431523" y="833121"/>
              <a:ext cx="4243567" cy="775788"/>
            </a:xfrm>
            <a:prstGeom prst="parallelogram">
              <a:avLst>
                <a:gd name="adj" fmla="val 35461"/>
              </a:avLst>
            </a:prstGeom>
            <a:noFill/>
            <a:ln w="12700" cap="flat" cmpd="sng" algn="ctr">
              <a:gradFill flip="none" rotWithShape="1">
                <a:gsLst>
                  <a:gs pos="0">
                    <a:schemeClr val="accent1"/>
                  </a:gs>
                  <a:gs pos="100000">
                    <a:schemeClr val="accent1">
                      <a:lumMod val="30000"/>
                      <a:lumOff val="70000"/>
                      <a:alpha val="0"/>
                    </a:schemeClr>
                  </a:gs>
                </a:gsLst>
                <a:lin ang="10800000" scaled="1"/>
              </a:gra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阿里巴巴普惠体 L" panose="00020600040101010101" pitchFamily="18" charset="-122"/>
                <a:sym typeface="阿里巴巴普惠体 L" panose="00020600040101010101" pitchFamily="18" charset="-122"/>
              </a:endParaRPr>
            </a:p>
          </p:txBody>
        </p:sp>
      </p:grpSp>
      <p:grpSp>
        <p:nvGrpSpPr>
          <p:cNvPr id="13" name="组合 12"/>
          <p:cNvGrpSpPr/>
          <p:nvPr userDrawn="1"/>
        </p:nvGrpSpPr>
        <p:grpSpPr>
          <a:xfrm>
            <a:off x="10730406" y="526836"/>
            <a:ext cx="695474" cy="193936"/>
            <a:chOff x="3345" y="548"/>
            <a:chExt cx="1316" cy="435"/>
          </a:xfrm>
          <a:gradFill>
            <a:gsLst>
              <a:gs pos="0">
                <a:schemeClr val="accent1"/>
              </a:gs>
              <a:gs pos="100000">
                <a:schemeClr val="accent4">
                  <a:alpha val="0"/>
                </a:schemeClr>
              </a:gs>
            </a:gsLst>
            <a:lin ang="10800000" scaled="1"/>
          </a:gradFill>
        </p:grpSpPr>
        <p:sp>
          <p:nvSpPr>
            <p:cNvPr id="14" name="燕尾形 917"/>
            <p:cNvSpPr/>
            <p:nvPr/>
          </p:nvSpPr>
          <p:spPr>
            <a:xfrm>
              <a:off x="3345" y="549"/>
              <a:ext cx="491" cy="43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Impact" panose="020B0806030902050204"/>
                <a:ea typeface="微软雅黑" panose="020B0503020204020204" pitchFamily="34" charset="-122"/>
                <a:cs typeface="+mn-cs"/>
              </a:endParaRPr>
            </a:p>
          </p:txBody>
        </p:sp>
        <p:sp>
          <p:nvSpPr>
            <p:cNvPr id="15" name="燕尾形 921"/>
            <p:cNvSpPr/>
            <p:nvPr/>
          </p:nvSpPr>
          <p:spPr>
            <a:xfrm>
              <a:off x="3749" y="548"/>
              <a:ext cx="491" cy="43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Impact" panose="020B0806030902050204"/>
                <a:ea typeface="微软雅黑" panose="020B0503020204020204" pitchFamily="34" charset="-122"/>
                <a:cs typeface="+mn-cs"/>
              </a:endParaRPr>
            </a:p>
          </p:txBody>
        </p:sp>
        <p:sp>
          <p:nvSpPr>
            <p:cNvPr id="16" name="燕尾形 922"/>
            <p:cNvSpPr/>
            <p:nvPr/>
          </p:nvSpPr>
          <p:spPr>
            <a:xfrm>
              <a:off x="4171" y="548"/>
              <a:ext cx="491" cy="43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Impact" panose="020B0806030902050204"/>
                <a:ea typeface="微软雅黑" panose="020B0503020204020204" pitchFamily="34" charset="-122"/>
                <a:cs typeface="+mn-cs"/>
              </a:endParaRPr>
            </a:p>
          </p:txBody>
        </p:sp>
      </p:grpSp>
    </p:spTree>
  </p:cSld>
  <p:clrMapOvr>
    <a:masterClrMapping/>
  </p:clrMapOvr>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12E9615C-7469-4A67-BAFE-D2B5029B140B}" type="datetimeFigureOut">
              <a:rPr lang="zh-CN" altLang="en-US" smtClean="0"/>
              <a:t>2026/7/21</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charset="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9pPr>
          </a:lstStyle>
          <a:p>
            <a:r>
              <a:rPr lang="zh-CN" altLang="en-US" dirty="0">
                <a:latin typeface="微软雅黑" panose="020B0503020204020204" pitchFamily="34" charset="-122"/>
              </a:rPr>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charset="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charset="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charset="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charset="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charset="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charset="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p>
          <a:p>
            <a:pPr lvl="1"/>
            <a:r>
              <a:rPr lang="zh-CN" altLang="en-US" dirty="0">
                <a:latin typeface="微软雅黑" panose="020B0503020204020204" pitchFamily="34" charset="-122"/>
                <a:ea typeface="微软雅黑" panose="020B0503020204020204" pitchFamily="34" charset="-122"/>
              </a:rPr>
              <a:t>二级</a:t>
            </a:r>
          </a:p>
          <a:p>
            <a:pPr lvl="2"/>
            <a:r>
              <a:rPr lang="zh-CN" altLang="en-US" dirty="0">
                <a:latin typeface="微软雅黑" panose="020B0503020204020204" pitchFamily="34" charset="-122"/>
                <a:ea typeface="微软雅黑" panose="020B0503020204020204" pitchFamily="34" charset="-122"/>
              </a:rPr>
              <a:t>三级</a:t>
            </a:r>
          </a:p>
          <a:p>
            <a:pPr lvl="3"/>
            <a:r>
              <a:rPr lang="zh-CN" altLang="en-US" dirty="0">
                <a:latin typeface="微软雅黑" panose="020B0503020204020204" pitchFamily="34" charset="-122"/>
                <a:ea typeface="微软雅黑" panose="020B0503020204020204" pitchFamily="34" charset="-122"/>
              </a:rPr>
              <a:t>四级</a:t>
            </a:r>
          </a:p>
          <a:p>
            <a:pPr lvl="4"/>
            <a:r>
              <a:rPr lang="zh-CN" altLang="en-US" dirty="0">
                <a:latin typeface="微软雅黑" panose="020B0503020204020204" pitchFamily="34" charset="-122"/>
                <a:ea typeface="微软雅黑" panose="020B0503020204020204" pitchFamily="34" charset="-122"/>
              </a:rPr>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498"/>
            <a:ext cx="12192000" cy="6862497"/>
          </a:xfrm>
          <a:prstGeom prst="rect">
            <a:avLst/>
          </a:prstGeom>
        </p:spPr>
      </p:pic>
      <p:sp>
        <p:nvSpPr>
          <p:cNvPr id="3" name="竖排文字占位符 9"/>
          <p:cNvSpPr>
            <a:spLocks noGrp="1"/>
          </p:cNvSpPr>
          <p:nvPr>
            <p:ph type="body" orient="vert" sz="quarter" idx="15" hasCustomPrompt="1"/>
          </p:nvPr>
        </p:nvSpPr>
        <p:spPr>
          <a:xfrm flipH="1">
            <a:off x="801240" y="3626106"/>
            <a:ext cx="6100652" cy="573097"/>
          </a:xfrm>
          <a:prstGeom prst="rect">
            <a:avLst/>
          </a:prstGeom>
          <a:noFill/>
        </p:spPr>
        <p:txBody>
          <a:bodyPr vert="horz" lIns="91440" tIns="45720" rIns="91440" bIns="45720" rtlCol="0" anchor="ctr">
            <a:noAutofit/>
          </a:bodyPr>
          <a:lstStyle>
            <a:lvl1pPr marL="0" indent="0" algn="l">
              <a:lnSpc>
                <a:spcPct val="100000"/>
              </a:lnSpc>
              <a:spcBef>
                <a:spcPct val="0"/>
              </a:spcBef>
              <a:buNone/>
              <a:defRPr lang="zh-CN" altLang="en-US" sz="2400" b="1">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
        <p:nvSpPr>
          <p:cNvPr id="8" name="竖排文字占位符 9"/>
          <p:cNvSpPr>
            <a:spLocks noGrp="1"/>
          </p:cNvSpPr>
          <p:nvPr>
            <p:ph type="body" orient="vert" sz="quarter" idx="16" hasCustomPrompt="1"/>
          </p:nvPr>
        </p:nvSpPr>
        <p:spPr>
          <a:xfrm flipH="1">
            <a:off x="801240" y="5251560"/>
            <a:ext cx="2697251" cy="573097"/>
          </a:xfrm>
          <a:prstGeom prst="roundRect">
            <a:avLst>
              <a:gd name="adj" fmla="val 0"/>
            </a:avLst>
          </a:prstGeom>
          <a:noFill/>
          <a:ln>
            <a:noFill/>
          </a:ln>
        </p:spPr>
        <p:txBody>
          <a:bodyPr vert="horz" lIns="91440" tIns="45720" rIns="91440" bIns="45720" rtlCol="0" anchor="ctr">
            <a:noAutofit/>
          </a:bodyPr>
          <a:lstStyle>
            <a:lvl1pPr marL="0" indent="0" algn="l">
              <a:lnSpc>
                <a:spcPct val="100000"/>
              </a:lnSpc>
              <a:spcBef>
                <a:spcPct val="0"/>
              </a:spcBef>
              <a:buNone/>
              <a:defRPr lang="zh-CN" altLang="en-US" sz="1800">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
        <p:nvSpPr>
          <p:cNvPr id="9" name="文本占位符 15"/>
          <p:cNvSpPr>
            <a:spLocks noGrp="1"/>
          </p:cNvSpPr>
          <p:nvPr>
            <p:ph type="body" sz="quarter" idx="13" hasCustomPrompt="1"/>
          </p:nvPr>
        </p:nvSpPr>
        <p:spPr>
          <a:xfrm>
            <a:off x="782190" y="1115338"/>
            <a:ext cx="6475860" cy="2606017"/>
          </a:xfrm>
        </p:spPr>
        <p:txBody>
          <a:bodyPr anchor="ctr">
            <a:noAutofit/>
          </a:bodyPr>
          <a:lstStyle>
            <a:lvl1pPr marL="0" indent="0" algn="l">
              <a:spcBef>
                <a:spcPct val="0"/>
              </a:spcBef>
              <a:buNone/>
              <a:defRPr lang="zh-CN" altLang="en-US" sz="7200" b="0" kern="1200" spc="0" baseline="0" smtClean="0">
                <a:solidFill>
                  <a:schemeClr val="bg1"/>
                </a:solidFill>
                <a:effectLst/>
                <a:latin typeface="+mj-ea"/>
                <a:ea typeface="+mj-ea"/>
                <a:cs typeface="+mn-cs"/>
              </a:defRPr>
            </a:lvl1pPr>
            <a:lvl2pPr>
              <a:buNone/>
              <a:defRPr/>
            </a:lvl2pPr>
          </a:lstStyle>
          <a:p>
            <a:pPr lvl="0"/>
            <a:r>
              <a:rPr lang="zh-CN" altLang="en-US"/>
              <a:t>标题文字</a:t>
            </a:r>
            <a:endParaRPr lang="en-US" altLang="zh-CN"/>
          </a:p>
        </p:txBody>
      </p:sp>
      <p:sp>
        <p:nvSpPr>
          <p:cNvPr id="11" name="竖排文字占位符 9"/>
          <p:cNvSpPr>
            <a:spLocks noGrp="1"/>
          </p:cNvSpPr>
          <p:nvPr>
            <p:ph type="body" orient="vert" sz="quarter" idx="17" hasCustomPrompt="1"/>
          </p:nvPr>
        </p:nvSpPr>
        <p:spPr>
          <a:xfrm flipH="1">
            <a:off x="801240" y="4371540"/>
            <a:ext cx="6100652" cy="573097"/>
          </a:xfrm>
          <a:prstGeom prst="rect">
            <a:avLst/>
          </a:prstGeom>
          <a:noFill/>
        </p:spPr>
        <p:txBody>
          <a:bodyPr vert="horz" lIns="91440" tIns="45720" rIns="91440" bIns="45720" rtlCol="0" anchor="ctr">
            <a:noAutofit/>
          </a:bodyPr>
          <a:lstStyle>
            <a:lvl1pPr marL="0" indent="0" algn="l">
              <a:lnSpc>
                <a:spcPct val="120000"/>
              </a:lnSpc>
              <a:spcBef>
                <a:spcPct val="0"/>
              </a:spcBef>
              <a:buNone/>
              <a:defRPr lang="zh-CN" altLang="en-US" sz="1600" b="1">
                <a:solidFill>
                  <a:schemeClr val="bg1"/>
                </a:solidFill>
                <a:latin typeface="微软雅黑" panose="020B0503020204020204" pitchFamily="34" charset="-122"/>
                <a:ea typeface="微软雅黑" panose="020B0503020204020204" pitchFamily="34" charset="-122"/>
              </a:defRPr>
            </a:lvl1pPr>
          </a:lstStyle>
          <a:p>
            <a:pPr lvl="0">
              <a:buNone/>
            </a:pPr>
            <a:r>
              <a:rPr lang="zh-CN" altLang="en-US" dirty="0"/>
              <a:t>编辑文本</a:t>
            </a:r>
          </a:p>
        </p:txBody>
      </p:sp>
    </p:spTree>
  </p:cSld>
  <p:clrMapOvr>
    <a:masterClrMapping/>
  </p:clrMapOvr>
  <p:transition/>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1048578"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E335F522-6256-461E-A79F-4037A6D0C8F9}" type="datetimeFigureOut">
              <a:rPr lang="zh-CN" altLang="en-US" smtClean="0"/>
              <a:t>2026/7/21</a:t>
            </a:fld>
            <a:endParaRPr lang="zh-CN" altLang="en-US" dirty="0"/>
          </a:p>
        </p:txBody>
      </p:sp>
      <p:sp>
        <p:nvSpPr>
          <p:cNvPr id="1048579"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1048580"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1C1A564D-84E6-4D0E-9D2B-1519760DAFCC}"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优设标题黑" panose="0000050000000000000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16.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slideLayout" Target="../slideLayouts/slideLayout4.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7.jpeg"/><Relationship Id="rId5" Type="http://schemas.openxmlformats.org/officeDocument/2006/relationships/slideLayout" Target="../slideLayouts/slideLayout4.xml"/><Relationship Id="rId4"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1.xml"/><Relationship Id="rId1" Type="http://schemas.openxmlformats.org/officeDocument/2006/relationships/tags" Target="../tags/tag3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ags" Target="../tags/tag34.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13.png"/><Relationship Id="rId4" Type="http://schemas.openxmlformats.org/officeDocument/2006/relationships/notesSlide" Target="../notesSlides/notesSlide8.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17.png"/><Relationship Id="rId4"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18.jpeg"/><Relationship Id="rId4"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9.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7.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20.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竖排文字占位符 22"/>
          <p:cNvSpPr>
            <a:spLocks noGrp="1"/>
          </p:cNvSpPr>
          <p:nvPr>
            <p:ph type="body" orient="vert" sz="quarter" idx="15"/>
          </p:nvPr>
        </p:nvSpPr>
        <p:spPr>
          <a:xfrm flipH="1">
            <a:off x="801240" y="3626106"/>
            <a:ext cx="6100652" cy="573097"/>
          </a:xfrm>
        </p:spPr>
        <p:txBody>
          <a:bodyPr/>
          <a:lstStyle/>
          <a:p>
            <a:r>
              <a:rPr lang="en-US" altLang="zh-CN" dirty="0"/>
              <a:t>AI basic knowledge training</a:t>
            </a:r>
          </a:p>
        </p:txBody>
      </p:sp>
      <p:sp>
        <p:nvSpPr>
          <p:cNvPr id="25" name="竖排文字占位符 24"/>
          <p:cNvSpPr>
            <a:spLocks noGrp="1"/>
          </p:cNvSpPr>
          <p:nvPr>
            <p:ph type="body" orient="vert" sz="quarter" idx="16"/>
          </p:nvPr>
        </p:nvSpPr>
        <p:spPr>
          <a:xfrm flipH="1">
            <a:off x="801240" y="5251560"/>
            <a:ext cx="2697251" cy="573097"/>
          </a:xfrm>
        </p:spPr>
        <p:txBody>
          <a:bodyPr/>
          <a:lstStyle/>
          <a:p>
            <a:r>
              <a:rPr lang="zh-CN" altLang="en-US" dirty="0"/>
              <a:t>主讲人：第一</a:t>
            </a:r>
            <a:r>
              <a:rPr lang="en-US" altLang="zh-CN" dirty="0"/>
              <a:t>PPT</a:t>
            </a:r>
            <a:endParaRPr lang="zh-CN" altLang="en-US" dirty="0"/>
          </a:p>
        </p:txBody>
      </p:sp>
      <p:sp>
        <p:nvSpPr>
          <p:cNvPr id="18" name="文本占位符 17"/>
          <p:cNvSpPr>
            <a:spLocks noGrp="1"/>
          </p:cNvSpPr>
          <p:nvPr>
            <p:ph type="body" sz="quarter" idx="13"/>
          </p:nvPr>
        </p:nvSpPr>
        <p:spPr>
          <a:xfrm>
            <a:off x="801240" y="1039138"/>
            <a:ext cx="6475860" cy="2606017"/>
          </a:xfrm>
        </p:spPr>
        <p:txBody>
          <a:bodyPr/>
          <a:lstStyle/>
          <a:p>
            <a:r>
              <a:rPr lang="en-US" altLang="zh-CN" dirty="0">
                <a:latin typeface="优设标题黑" panose="00000500000000000000" charset="-122"/>
                <a:ea typeface="优设标题黑" panose="00000500000000000000" charset="-122"/>
                <a:cs typeface="优设标题黑" panose="00000500000000000000" charset="-122"/>
              </a:rPr>
              <a:t>AI</a:t>
            </a:r>
            <a:r>
              <a:rPr lang="zh-CN" altLang="en-US" dirty="0">
                <a:latin typeface="优设标题黑" panose="00000500000000000000" charset="-122"/>
                <a:ea typeface="优设标题黑" panose="00000500000000000000" charset="-122"/>
                <a:cs typeface="优设标题黑" panose="00000500000000000000" charset="-122"/>
              </a:rPr>
              <a:t>（人工智能）</a:t>
            </a:r>
          </a:p>
          <a:p>
            <a:r>
              <a:rPr lang="zh-CN" altLang="en-US" dirty="0">
                <a:latin typeface="优设标题黑" panose="00000500000000000000" charset="-122"/>
                <a:ea typeface="优设标题黑" panose="00000500000000000000" charset="-122"/>
                <a:cs typeface="优设标题黑" panose="00000500000000000000" charset="-122"/>
              </a:rPr>
              <a:t>基础知识培训</a:t>
            </a:r>
          </a:p>
        </p:txBody>
      </p:sp>
      <p:sp>
        <p:nvSpPr>
          <p:cNvPr id="26" name="竖排文字占位符 25"/>
          <p:cNvSpPr>
            <a:spLocks noGrp="1"/>
          </p:cNvSpPr>
          <p:nvPr>
            <p:ph type="body" orient="vert" sz="quarter" idx="17"/>
          </p:nvPr>
        </p:nvSpPr>
        <p:spPr>
          <a:xfrm flipH="1">
            <a:off x="801240" y="4371540"/>
            <a:ext cx="6100652" cy="573097"/>
          </a:xfrm>
        </p:spPr>
        <p:txBody>
          <a:bodyPr/>
          <a:lstStyle/>
          <a:p>
            <a:r>
              <a:rPr lang="zh-CN" altLang="en-US" dirty="0"/>
              <a:t>智慧浪潮席卷时代，</a:t>
            </a:r>
            <a:r>
              <a:rPr lang="en-US" altLang="zh-CN" dirty="0"/>
              <a:t>AI</a:t>
            </a:r>
            <a:r>
              <a:rPr lang="zh-CN" altLang="en-US" dirty="0"/>
              <a:t>驱动创新变革。精准高效赋能千行万业，让科技更有温度，让未来触手可及。携手人工智能，共创智能新纪元，点亮无限可能！</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barn(inVertical)">
                                      <p:cBhvr>
                                        <p:cTn id="7" dur="500"/>
                                        <p:tgtEl>
                                          <p:spTgt spid="2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barn(inVertical)">
                                      <p:cBhvr>
                                        <p:cTn id="10" dur="500"/>
                                        <p:tgtEl>
                                          <p:spTgt spid="25">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Effect transition="in" filter="barn(inVertical)">
                                      <p:cBhvr>
                                        <p:cTn id="13" dur="500"/>
                                        <p:tgtEl>
                                          <p:spTgt spid="18">
                                            <p:txEl>
                                              <p:pRg st="0" end="0"/>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xEl>
                                              <p:pRg st="1" end="1"/>
                                            </p:txEl>
                                          </p:spTgt>
                                        </p:tgtEl>
                                        <p:attrNameLst>
                                          <p:attrName>style.visibility</p:attrName>
                                        </p:attrNameLst>
                                      </p:cBhvr>
                                      <p:to>
                                        <p:strVal val="visible"/>
                                      </p:to>
                                    </p:set>
                                    <p:animEffect transition="in" filter="barn(inVertical)">
                                      <p:cBhvr>
                                        <p:cTn id="16" dur="500"/>
                                        <p:tgtEl>
                                          <p:spTgt spid="18">
                                            <p:txEl>
                                              <p:pRg st="1" end="1"/>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animEffect transition="in" filter="barn(inVertical)">
                                      <p:cBhvr>
                                        <p:cTn id="19"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25" grpId="0" build="p"/>
      <p:bldP spid="18" grpId="0" uiExpand="1" build="p"/>
      <p:bldP spid="2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cstate="screen">
            <a:alphaModFix amt="35000"/>
            <a:extLst>
              <a:ext uri="{28A0092B-C50C-407E-A947-70E740481C1C}">
                <a14:useLocalDpi xmlns:a14="http://schemas.microsoft.com/office/drawing/2010/main"/>
              </a:ext>
            </a:extLst>
          </a:blip>
          <a:srcRect/>
          <a:stretch>
            <a:fillRect/>
          </a:stretch>
        </p:blipFill>
        <p:spPr>
          <a:xfrm>
            <a:off x="0" y="133576"/>
            <a:ext cx="12192000" cy="6845502"/>
          </a:xfrm>
          <a:prstGeom prst="rect">
            <a:avLst/>
          </a:prstGeom>
        </p:spPr>
      </p:pic>
      <p:sp>
        <p:nvSpPr>
          <p:cNvPr id="3" name="文本占位符 2"/>
          <p:cNvSpPr>
            <a:spLocks noGrp="1"/>
          </p:cNvSpPr>
          <p:nvPr>
            <p:ph type="body" sz="quarter" idx="10"/>
          </p:nvPr>
        </p:nvSpPr>
        <p:spPr>
          <a:xfrm>
            <a:off x="766120" y="359499"/>
            <a:ext cx="11208166" cy="535531"/>
          </a:xfrm>
        </p:spPr>
        <p:txBody>
          <a:bodyPr/>
          <a:lstStyle/>
          <a:p>
            <a:r>
              <a:rPr lang="zh-CN" altLang="en-US" dirty="0"/>
              <a:t>勇敢的人先享受世界，第一批用</a:t>
            </a:r>
            <a:r>
              <a:rPr lang="en-US" altLang="zh-CN" dirty="0"/>
              <a:t>AI</a:t>
            </a:r>
            <a:r>
              <a:rPr lang="zh-CN" altLang="en-US" dirty="0"/>
              <a:t>的人已经离不开</a:t>
            </a:r>
            <a:r>
              <a:rPr lang="en-US" altLang="zh-CN" dirty="0"/>
              <a:t>AI</a:t>
            </a:r>
          </a:p>
        </p:txBody>
      </p:sp>
      <p:sp>
        <p:nvSpPr>
          <p:cNvPr id="5" name="文本框 4"/>
          <p:cNvSpPr txBox="1"/>
          <p:nvPr/>
        </p:nvSpPr>
        <p:spPr>
          <a:xfrm>
            <a:off x="905594" y="1741897"/>
            <a:ext cx="10627594" cy="3083921"/>
          </a:xfrm>
          <a:prstGeom prst="rect">
            <a:avLst/>
          </a:prstGeom>
        </p:spPr>
        <p:txBody>
          <a:bodyPr vert="horz" lIns="91440" tIns="45720" rIns="91440" bIns="45720" rtlCol="0" anchor="ctr">
            <a:noAutofit/>
          </a:bodyPr>
          <a:lstStyle>
            <a:lvl1pPr indent="0">
              <a:lnSpc>
                <a:spcPct val="90000"/>
              </a:lnSpc>
              <a:spcBef>
                <a:spcPct val="0"/>
              </a:spcBef>
              <a:buFont typeface="Arial" panose="020B0604020202020204" pitchFamily="34" charset="0"/>
              <a:buNone/>
              <a:defRPr lang="zh-CN" altLang="en-US" sz="7200" b="0" spc="0" baseline="0" smtClean="0">
                <a:solidFill>
                  <a:schemeClr val="bg1"/>
                </a:solidFill>
                <a:effectLst/>
                <a:latin typeface="+mj-ea"/>
                <a:ea typeface="+mj-ea"/>
              </a:defRPr>
            </a:lvl1pPr>
            <a:lvl2pPr marL="685800" indent="-228600">
              <a:lnSpc>
                <a:spcPct val="90000"/>
              </a:lnSpc>
              <a:spcBef>
                <a:spcPts val="500"/>
              </a:spcBef>
              <a:buFont typeface="Arial" panose="020B0604020202020204" pitchFamily="34" charset="0"/>
              <a:buNone/>
              <a:defRPr sz="2400">
                <a:latin typeface="思源黑体 CN Normal" panose="020B0400000000000000" pitchFamily="34" charset="-122"/>
              </a:defRPr>
            </a:lvl2pPr>
            <a:lvl3pPr marL="1143000" indent="-228600">
              <a:lnSpc>
                <a:spcPct val="90000"/>
              </a:lnSpc>
              <a:spcBef>
                <a:spcPts val="500"/>
              </a:spcBef>
              <a:buFont typeface="Arial" panose="020B0604020202020204" pitchFamily="34" charset="0"/>
              <a:buChar char="•"/>
              <a:defRPr sz="2000">
                <a:latin typeface="思源黑体 CN Normal" panose="020B0400000000000000" pitchFamily="34" charset="-122"/>
              </a:defRPr>
            </a:lvl3pPr>
            <a:lvl4pPr marL="1600200" indent="-228600">
              <a:lnSpc>
                <a:spcPct val="90000"/>
              </a:lnSpc>
              <a:spcBef>
                <a:spcPts val="500"/>
              </a:spcBef>
              <a:buFont typeface="Arial" panose="020B0604020202020204" pitchFamily="34" charset="0"/>
              <a:buChar char="•"/>
              <a:defRPr>
                <a:latin typeface="思源黑体 CN Normal" panose="020B0400000000000000" pitchFamily="34" charset="-122"/>
              </a:defRPr>
            </a:lvl4pPr>
            <a:lvl5pPr marL="2057400" indent="-228600">
              <a:lnSpc>
                <a:spcPct val="90000"/>
              </a:lnSpc>
              <a:spcBef>
                <a:spcPts val="500"/>
              </a:spcBef>
              <a:buFont typeface="Arial" panose="020B0604020202020204" pitchFamily="34" charset="0"/>
              <a:buChar char="•"/>
              <a:defRPr>
                <a:latin typeface="思源黑体 CN Normal" panose="020B0400000000000000"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altLang="zh-CN" dirty="0" err="1">
                <a:solidFill>
                  <a:schemeClr val="accent1"/>
                </a:solidFill>
              </a:rPr>
              <a:t>AI有什么用</a:t>
            </a:r>
            <a:r>
              <a:rPr lang="en-US" altLang="zh-CN" dirty="0">
                <a:solidFill>
                  <a:schemeClr val="accent1"/>
                </a:solidFill>
              </a:rPr>
              <a:t>？</a:t>
            </a:r>
          </a:p>
          <a:p>
            <a:pPr algn="ctr"/>
            <a:r>
              <a:rPr lang="en-US" altLang="zh-CN" dirty="0" err="1">
                <a:solidFill>
                  <a:schemeClr val="accent1"/>
                </a:solidFill>
                <a:sym typeface="汉仪刚艺体-95简" panose="02010600030101010101" charset="-122"/>
              </a:rPr>
              <a:t>能带来什么可能性</a:t>
            </a:r>
            <a:r>
              <a:rPr lang="en-US" altLang="zh-CN" dirty="0">
                <a:solidFill>
                  <a:schemeClr val="accent1"/>
                </a:solidFill>
                <a:sym typeface="汉仪刚艺体-95简" panose="02010600030101010101"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竖排文字占位符 86"/>
          <p:cNvSpPr>
            <a:spLocks noGrp="1"/>
          </p:cNvSpPr>
          <p:nvPr>
            <p:ph type="body" orient="vert" sz="quarter" idx="33"/>
          </p:nvPr>
        </p:nvSpPr>
        <p:spPr>
          <a:xfrm>
            <a:off x="1093866" y="1636166"/>
            <a:ext cx="3695848" cy="584775"/>
          </a:xfrm>
        </p:spPr>
        <p:txBody>
          <a:bodyPr/>
          <a:lstStyle/>
          <a:p>
            <a:r>
              <a:rPr lang="en-US" altLang="zh-CN" dirty="0"/>
              <a:t>01.AI</a:t>
            </a:r>
            <a:r>
              <a:rPr lang="zh-CN" altLang="en-US" dirty="0"/>
              <a:t>与工作</a:t>
            </a:r>
          </a:p>
        </p:txBody>
      </p:sp>
      <p:sp>
        <p:nvSpPr>
          <p:cNvPr id="66" name="竖排文字占位符 65"/>
          <p:cNvSpPr>
            <a:spLocks noGrp="1"/>
          </p:cNvSpPr>
          <p:nvPr>
            <p:ph type="body" orient="vert" sz="quarter" idx="12"/>
          </p:nvPr>
        </p:nvSpPr>
        <p:spPr>
          <a:xfrm>
            <a:off x="7262002" y="2100234"/>
            <a:ext cx="3814023" cy="1256894"/>
          </a:xfrm>
        </p:spPr>
        <p:txBody>
          <a:bodyPr/>
          <a:lstStyle/>
          <a:p>
            <a:r>
              <a:rPr lang="zh-CN" altLang="en-US"/>
              <a:t>目录</a:t>
            </a:r>
          </a:p>
        </p:txBody>
      </p:sp>
      <p:sp>
        <p:nvSpPr>
          <p:cNvPr id="26" name="文本占位符 25"/>
          <p:cNvSpPr>
            <a:spLocks noGrp="1"/>
          </p:cNvSpPr>
          <p:nvPr>
            <p:ph type="body" orient="vert" sz="quarter" idx="22"/>
          </p:nvPr>
        </p:nvSpPr>
        <p:spPr>
          <a:xfrm>
            <a:off x="7175728" y="3825215"/>
            <a:ext cx="3986570" cy="584775"/>
          </a:xfrm>
        </p:spPr>
        <p:txBody>
          <a:bodyPr/>
          <a:lstStyle/>
          <a:p>
            <a:r>
              <a:rPr lang="en-US" altLang="zh-CN" dirty="0"/>
              <a:t>contents</a:t>
            </a:r>
            <a:endParaRPr lang="zh-CN" altLang="en-US" dirty="0"/>
          </a:p>
        </p:txBody>
      </p:sp>
      <p:sp>
        <p:nvSpPr>
          <p:cNvPr id="16" name="竖排文字占位符 15"/>
          <p:cNvSpPr>
            <a:spLocks noGrp="1"/>
          </p:cNvSpPr>
          <p:nvPr>
            <p:ph type="body" orient="vert" sz="quarter" idx="46"/>
          </p:nvPr>
        </p:nvSpPr>
        <p:spPr>
          <a:xfrm>
            <a:off x="4360736" y="1850688"/>
            <a:ext cx="3029622" cy="389010"/>
          </a:xfrm>
        </p:spPr>
        <p:txBody>
          <a:bodyPr/>
          <a:lstStyle/>
          <a:p>
            <a:r>
              <a:rPr lang="en-US" altLang="zh-CN" dirty="0"/>
              <a:t>AI and Work</a:t>
            </a:r>
          </a:p>
        </p:txBody>
      </p:sp>
      <p:sp>
        <p:nvSpPr>
          <p:cNvPr id="28" name="文本占位符 27"/>
          <p:cNvSpPr>
            <a:spLocks noGrp="1"/>
          </p:cNvSpPr>
          <p:nvPr>
            <p:ph type="body" orient="vert" sz="quarter" idx="47"/>
          </p:nvPr>
        </p:nvSpPr>
        <p:spPr>
          <a:xfrm>
            <a:off x="1130959" y="2732494"/>
            <a:ext cx="3695848" cy="584775"/>
          </a:xfrm>
        </p:spPr>
        <p:txBody>
          <a:bodyPr/>
          <a:lstStyle/>
          <a:p>
            <a:r>
              <a:rPr lang="en-US" altLang="zh-CN" dirty="0"/>
              <a:t>02.</a:t>
            </a:r>
            <a:r>
              <a:rPr lang="zh-CN" altLang="en-US" dirty="0"/>
              <a:t>常见</a:t>
            </a:r>
            <a:r>
              <a:rPr lang="en-US" altLang="zh-CN" dirty="0"/>
              <a:t>AI</a:t>
            </a:r>
            <a:r>
              <a:rPr lang="zh-CN" altLang="en-US" dirty="0"/>
              <a:t>工具</a:t>
            </a:r>
          </a:p>
        </p:txBody>
      </p:sp>
      <p:sp>
        <p:nvSpPr>
          <p:cNvPr id="30" name="文本占位符 29"/>
          <p:cNvSpPr>
            <a:spLocks noGrp="1"/>
          </p:cNvSpPr>
          <p:nvPr>
            <p:ph type="body" orient="vert" sz="quarter" idx="48"/>
          </p:nvPr>
        </p:nvSpPr>
        <p:spPr>
          <a:xfrm>
            <a:off x="4397829" y="2947016"/>
            <a:ext cx="3029622" cy="389010"/>
          </a:xfrm>
        </p:spPr>
        <p:txBody>
          <a:bodyPr/>
          <a:lstStyle/>
          <a:p>
            <a:r>
              <a:rPr lang="en-US" altLang="zh-CN"/>
              <a:t>Common AI tools</a:t>
            </a:r>
          </a:p>
        </p:txBody>
      </p:sp>
      <p:sp>
        <p:nvSpPr>
          <p:cNvPr id="32" name="文本占位符 31"/>
          <p:cNvSpPr>
            <a:spLocks noGrp="1"/>
          </p:cNvSpPr>
          <p:nvPr>
            <p:ph type="body" orient="vert" sz="quarter" idx="49"/>
          </p:nvPr>
        </p:nvSpPr>
        <p:spPr>
          <a:xfrm>
            <a:off x="1168052" y="3903081"/>
            <a:ext cx="3695848" cy="584775"/>
          </a:xfrm>
        </p:spPr>
        <p:txBody>
          <a:bodyPr/>
          <a:lstStyle/>
          <a:p>
            <a:r>
              <a:rPr lang="en-US" altLang="zh-CN"/>
              <a:t>03.</a:t>
            </a:r>
            <a:r>
              <a:rPr lang="zh-CN" altLang="en-US">
                <a:sym typeface="+mn-lt"/>
              </a:rPr>
              <a:t>如何与</a:t>
            </a:r>
            <a:r>
              <a:rPr lang="en-US" altLang="zh-CN">
                <a:sym typeface="+mn-lt"/>
              </a:rPr>
              <a:t>AI</a:t>
            </a:r>
            <a:r>
              <a:rPr lang="zh-CN" altLang="en-US">
                <a:sym typeface="+mn-lt"/>
              </a:rPr>
              <a:t>对话</a:t>
            </a:r>
          </a:p>
        </p:txBody>
      </p:sp>
      <p:sp>
        <p:nvSpPr>
          <p:cNvPr id="39" name="文本占位符 38"/>
          <p:cNvSpPr>
            <a:spLocks noGrp="1"/>
          </p:cNvSpPr>
          <p:nvPr>
            <p:ph type="body" orient="vert" sz="quarter" idx="50"/>
          </p:nvPr>
        </p:nvSpPr>
        <p:spPr>
          <a:xfrm>
            <a:off x="4434922" y="4117603"/>
            <a:ext cx="3029622" cy="389010"/>
          </a:xfrm>
        </p:spPr>
        <p:txBody>
          <a:bodyPr/>
          <a:lstStyle/>
          <a:p>
            <a:r>
              <a:rPr lang="en-US" altLang="zh-CN"/>
              <a:t>How to converse with AI</a:t>
            </a:r>
          </a:p>
        </p:txBody>
      </p:sp>
      <p:sp>
        <p:nvSpPr>
          <p:cNvPr id="41" name="文本占位符 40"/>
          <p:cNvSpPr>
            <a:spLocks noGrp="1"/>
          </p:cNvSpPr>
          <p:nvPr>
            <p:ph type="body" orient="vert" sz="quarter" idx="51"/>
          </p:nvPr>
        </p:nvSpPr>
        <p:spPr>
          <a:xfrm>
            <a:off x="1205145" y="4999409"/>
            <a:ext cx="3695848" cy="584775"/>
          </a:xfrm>
        </p:spPr>
        <p:txBody>
          <a:bodyPr/>
          <a:lstStyle/>
          <a:p>
            <a:r>
              <a:rPr lang="en-US" altLang="zh-CN" dirty="0"/>
              <a:t>04.</a:t>
            </a:r>
            <a:r>
              <a:rPr lang="zh-CN" altLang="en-US" dirty="0">
                <a:sym typeface="+mn-lt"/>
              </a:rPr>
              <a:t>工作坊</a:t>
            </a:r>
          </a:p>
        </p:txBody>
      </p:sp>
      <p:sp>
        <p:nvSpPr>
          <p:cNvPr id="43" name="文本占位符 42"/>
          <p:cNvSpPr>
            <a:spLocks noGrp="1"/>
          </p:cNvSpPr>
          <p:nvPr>
            <p:ph type="body" orient="vert" sz="quarter" idx="52"/>
          </p:nvPr>
        </p:nvSpPr>
        <p:spPr>
          <a:xfrm>
            <a:off x="4366602" y="5213931"/>
            <a:ext cx="3153835" cy="389010"/>
          </a:xfrm>
        </p:spPr>
        <p:txBody>
          <a:bodyPr/>
          <a:lstStyle/>
          <a:p>
            <a:r>
              <a:rPr lang="en-US" altLang="zh-CN"/>
              <a:t>Workshop</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wipe(left)">
                                      <p:cBhvr>
                                        <p:cTn id="7" dur="500"/>
                                        <p:tgtEl>
                                          <p:spTgt spid="8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xEl>
                                              <p:pRg st="0" end="0"/>
                                            </p:txEl>
                                          </p:spTgt>
                                        </p:tgtEl>
                                        <p:attrNameLst>
                                          <p:attrName>style.visibility</p:attrName>
                                        </p:attrNameLst>
                                      </p:cBhvr>
                                      <p:to>
                                        <p:strVal val="visible"/>
                                      </p:to>
                                    </p:set>
                                    <p:animEffect transition="in" filter="wipe(left)">
                                      <p:cBhvr>
                                        <p:cTn id="10" dur="500"/>
                                        <p:tgtEl>
                                          <p:spTgt spid="16">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wipe(left)">
                                      <p:cBhvr>
                                        <p:cTn id="13" dur="500"/>
                                        <p:tgtEl>
                                          <p:spTgt spid="66">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
                                            <p:txEl>
                                              <p:pRg st="0" end="0"/>
                                            </p:txEl>
                                          </p:spTgt>
                                        </p:tgtEl>
                                        <p:attrNameLst>
                                          <p:attrName>style.visibility</p:attrName>
                                        </p:attrNameLst>
                                      </p:cBhvr>
                                      <p:to>
                                        <p:strVal val="visible"/>
                                      </p:to>
                                    </p:set>
                                    <p:animEffect transition="in" filter="wipe(left)">
                                      <p:cBhvr>
                                        <p:cTn id="16" dur="500"/>
                                        <p:tgtEl>
                                          <p:spTgt spid="26">
                                            <p:txEl>
                                              <p:pRg st="0" end="0"/>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8">
                                            <p:txEl>
                                              <p:pRg st="0" end="0"/>
                                            </p:txEl>
                                          </p:spTgt>
                                        </p:tgtEl>
                                        <p:attrNameLst>
                                          <p:attrName>style.visibility</p:attrName>
                                        </p:attrNameLst>
                                      </p:cBhvr>
                                      <p:to>
                                        <p:strVal val="visible"/>
                                      </p:to>
                                    </p:set>
                                    <p:animEffect transition="in" filter="wipe(left)">
                                      <p:cBhvr>
                                        <p:cTn id="19" dur="500"/>
                                        <p:tgtEl>
                                          <p:spTgt spid="28">
                                            <p:txEl>
                                              <p:pRg st="0" end="0"/>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wipe(left)">
                                      <p:cBhvr>
                                        <p:cTn id="22" dur="500"/>
                                        <p:tgtEl>
                                          <p:spTgt spid="30">
                                            <p:txEl>
                                              <p:pRg st="0" end="0"/>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2">
                                            <p:txEl>
                                              <p:pRg st="0" end="0"/>
                                            </p:txEl>
                                          </p:spTgt>
                                        </p:tgtEl>
                                        <p:attrNameLst>
                                          <p:attrName>style.visibility</p:attrName>
                                        </p:attrNameLst>
                                      </p:cBhvr>
                                      <p:to>
                                        <p:strVal val="visible"/>
                                      </p:to>
                                    </p:set>
                                    <p:animEffect transition="in" filter="wipe(left)">
                                      <p:cBhvr>
                                        <p:cTn id="25" dur="500"/>
                                        <p:tgtEl>
                                          <p:spTgt spid="32">
                                            <p:txEl>
                                              <p:pRg st="0" end="0"/>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9">
                                            <p:txEl>
                                              <p:pRg st="0" end="0"/>
                                            </p:txEl>
                                          </p:spTgt>
                                        </p:tgtEl>
                                        <p:attrNameLst>
                                          <p:attrName>style.visibility</p:attrName>
                                        </p:attrNameLst>
                                      </p:cBhvr>
                                      <p:to>
                                        <p:strVal val="visible"/>
                                      </p:to>
                                    </p:set>
                                    <p:animEffect transition="in" filter="wipe(left)">
                                      <p:cBhvr>
                                        <p:cTn id="28" dur="500"/>
                                        <p:tgtEl>
                                          <p:spTgt spid="39">
                                            <p:txEl>
                                              <p:pRg st="0" end="0"/>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1">
                                            <p:txEl>
                                              <p:pRg st="0" end="0"/>
                                            </p:txEl>
                                          </p:spTgt>
                                        </p:tgtEl>
                                        <p:attrNameLst>
                                          <p:attrName>style.visibility</p:attrName>
                                        </p:attrNameLst>
                                      </p:cBhvr>
                                      <p:to>
                                        <p:strVal val="visible"/>
                                      </p:to>
                                    </p:set>
                                    <p:animEffect transition="in" filter="wipe(left)">
                                      <p:cBhvr>
                                        <p:cTn id="31" dur="500"/>
                                        <p:tgtEl>
                                          <p:spTgt spid="41">
                                            <p:txEl>
                                              <p:pRg st="0" end="0"/>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3">
                                            <p:txEl>
                                              <p:pRg st="0" end="0"/>
                                            </p:txEl>
                                          </p:spTgt>
                                        </p:tgtEl>
                                        <p:attrNameLst>
                                          <p:attrName>style.visibility</p:attrName>
                                        </p:attrNameLst>
                                      </p:cBhvr>
                                      <p:to>
                                        <p:strVal val="visible"/>
                                      </p:to>
                                    </p:set>
                                    <p:animEffect transition="in" filter="wipe(left)">
                                      <p:cBhvr>
                                        <p:cTn id="34"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build="p"/>
      <p:bldP spid="66" grpId="0" build="p"/>
      <p:bldP spid="26" grpId="0" build="p"/>
      <p:bldP spid="16" grpId="0" build="p"/>
      <p:bldP spid="28" grpId="0" build="p"/>
      <p:bldP spid="30" grpId="0" build="p"/>
      <p:bldP spid="32" grpId="0" build="p"/>
      <p:bldP spid="39" grpId="0" build="p"/>
      <p:bldP spid="41" grpId="0" build="p"/>
      <p:bldP spid="4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orient="vert" sz="quarter" idx="15"/>
          </p:nvPr>
        </p:nvSpPr>
        <p:spPr>
          <a:xfrm flipH="1">
            <a:off x="658813" y="2715060"/>
            <a:ext cx="6243079" cy="1189712"/>
          </a:xfrm>
        </p:spPr>
        <p:txBody>
          <a:bodyPr/>
          <a:lstStyle/>
          <a:p>
            <a:r>
              <a:rPr lang="en-US" altLang="zh-CN" dirty="0"/>
              <a:t>AI</a:t>
            </a:r>
            <a:r>
              <a:rPr lang="zh-CN" altLang="en-US" dirty="0"/>
              <a:t>与工作</a:t>
            </a:r>
          </a:p>
        </p:txBody>
      </p:sp>
      <p:sp>
        <p:nvSpPr>
          <p:cNvPr id="11" name="文本占位符 10"/>
          <p:cNvSpPr>
            <a:spLocks noGrp="1"/>
          </p:cNvSpPr>
          <p:nvPr>
            <p:ph type="body" orient="vert" sz="quarter" idx="16"/>
          </p:nvPr>
        </p:nvSpPr>
        <p:spPr>
          <a:xfrm flipH="1">
            <a:off x="658811" y="4162381"/>
            <a:ext cx="6372035" cy="856186"/>
          </a:xfrm>
        </p:spPr>
        <p:txBody>
          <a:bodyPr/>
          <a:lstStyle/>
          <a:p>
            <a:r>
              <a:rPr lang="zh-CN" altLang="en-US" dirty="0"/>
              <a:t>智慧浪潮席卷时代，</a:t>
            </a:r>
            <a:r>
              <a:rPr lang="en-US" altLang="zh-CN" dirty="0"/>
              <a:t>AI</a:t>
            </a:r>
            <a:r>
              <a:rPr lang="zh-CN" altLang="en-US" dirty="0"/>
              <a:t>驱动创新变革。精准高效赋能千行万业，让科技更有温度，让未来触手可及。携手人工智能，共创智能新纪元，点亮无限可能！</a:t>
            </a:r>
          </a:p>
        </p:txBody>
      </p:sp>
      <p:sp>
        <p:nvSpPr>
          <p:cNvPr id="16" name="文本占位符 15"/>
          <p:cNvSpPr>
            <a:spLocks noGrp="1"/>
          </p:cNvSpPr>
          <p:nvPr>
            <p:ph type="body" sz="quarter" idx="13"/>
          </p:nvPr>
        </p:nvSpPr>
        <p:spPr>
          <a:xfrm>
            <a:off x="658813" y="1267739"/>
            <a:ext cx="2287587" cy="1189712"/>
          </a:xfrm>
        </p:spPr>
        <p:txBody>
          <a:bodyPr/>
          <a:lstStyle/>
          <a:p>
            <a:r>
              <a:rPr lang="en-US" altLang="zh-CN"/>
              <a:t>01.</a:t>
            </a:r>
            <a:endParaRPr lang="zh-CN" altLang="en-US"/>
          </a:p>
        </p:txBody>
      </p:sp>
      <p:sp>
        <p:nvSpPr>
          <p:cNvPr id="18" name="文本占位符 17"/>
          <p:cNvSpPr>
            <a:spLocks noGrp="1"/>
          </p:cNvSpPr>
          <p:nvPr>
            <p:ph type="body" orient="vert" sz="quarter" idx="17"/>
          </p:nvPr>
        </p:nvSpPr>
        <p:spPr>
          <a:xfrm flipH="1">
            <a:off x="2533650" y="1561946"/>
            <a:ext cx="3562350" cy="710632"/>
          </a:xfrm>
        </p:spPr>
        <p:txBody>
          <a:bodyPr/>
          <a:lstStyle/>
          <a:p>
            <a:r>
              <a:rPr lang="en-US" altLang="zh-CN"/>
              <a:t>PART ONE</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p:cTn id="1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 calcmode="lin" valueType="num">
                                      <p:cBhvr>
                                        <p:cTn id="1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19" dur="500"/>
                                        <p:tgtEl>
                                          <p:spTgt spid="16">
                                            <p:txEl>
                                              <p:pRg st="0" end="0"/>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 calcmode="lin" valueType="num">
                                      <p:cBhvr>
                                        <p:cTn id="22"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6" grpId="0" build="p"/>
      <p:bldP spid="1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en-US" altLang="zh-CN"/>
              <a:t>AI</a:t>
            </a:r>
            <a:r>
              <a:rPr lang="zh-CN" altLang="en-US"/>
              <a:t>与工作</a:t>
            </a:r>
          </a:p>
        </p:txBody>
      </p:sp>
      <p:pic>
        <p:nvPicPr>
          <p:cNvPr id="2" name="图片 1"/>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799707" y="2828166"/>
            <a:ext cx="9682665" cy="2074347"/>
          </a:xfrm>
          <a:prstGeom prst="rect">
            <a:avLst/>
          </a:prstGeom>
        </p:spPr>
      </p:pic>
      <p:cxnSp>
        <p:nvCxnSpPr>
          <p:cNvPr id="3" name="直接连接符 2"/>
          <p:cNvCxnSpPr/>
          <p:nvPr/>
        </p:nvCxnSpPr>
        <p:spPr>
          <a:xfrm flipH="1">
            <a:off x="1689100" y="1354612"/>
            <a:ext cx="0" cy="1282700"/>
          </a:xfrm>
          <a:prstGeom prst="line">
            <a:avLst/>
          </a:prstGeom>
          <a:ln w="28575" cap="rnd">
            <a:solidFill>
              <a:schemeClr val="accent5"/>
            </a:solidFill>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919252" y="1171270"/>
            <a:ext cx="550099" cy="2099788"/>
          </a:xfrm>
          <a:prstGeom prst="rect">
            <a:avLst/>
          </a:prstGeom>
          <a:noFill/>
          <a:ln>
            <a:noFill/>
          </a:ln>
        </p:spPr>
        <p:txBody>
          <a:bodyPr wrap="square" lIns="90000" tIns="46800" rIns="90000" bIns="46800" anchor="b" anchorCtr="0">
            <a:normAutofit/>
          </a:bodyPr>
          <a:lstStyle/>
          <a:p>
            <a:pPr lvl="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驱动未来</a:t>
            </a:r>
          </a:p>
        </p:txBody>
      </p:sp>
      <p:sp>
        <p:nvSpPr>
          <p:cNvPr id="5" name="文本框 4"/>
          <p:cNvSpPr txBox="1"/>
          <p:nvPr/>
        </p:nvSpPr>
        <p:spPr>
          <a:xfrm>
            <a:off x="1799714" y="1271149"/>
            <a:ext cx="9535036" cy="1406987"/>
          </a:xfrm>
          <a:prstGeom prst="rect">
            <a:avLst/>
          </a:prstGeom>
          <a:noFill/>
          <a:ln>
            <a:noFill/>
          </a:ln>
        </p:spPr>
        <p:txBody>
          <a:bodyPr wrap="square" lIns="90000" tIns="46800" rIns="90000" bIns="46800" anchor="ctr" anchorCtr="0">
            <a:noAutofit/>
          </a:bodyPr>
          <a:lstStyle/>
          <a:p>
            <a:pPr>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人工智能（</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）是致力于让机器模拟人类智能的科学领域，其核心在于通过机器学习（尤其是深度学习）使计算机具备感知、学习、推理和决策的能力。当前</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发展的核心趋势是生成式</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和大模型的爆发，它们不仅能分析数据，更能创造内容，推动</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走向多模态融合和普惠化，并成为科学研究的新范式。</a:t>
            </a:r>
          </a:p>
          <a:p>
            <a:pPr>
              <a:lnSpc>
                <a:spcPct val="150000"/>
              </a:lnSpc>
            </a:pP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正引爆新一轮生产力，通过自动化大幅提升效率，催生新业态，并驱动各产业智能化升级。</a:t>
            </a:r>
          </a:p>
        </p:txBody>
      </p:sp>
      <p:sp>
        <p:nvSpPr>
          <p:cNvPr id="6" name="椭圆 5"/>
          <p:cNvSpPr/>
          <p:nvPr/>
        </p:nvSpPr>
        <p:spPr>
          <a:xfrm>
            <a:off x="614934" y="3836446"/>
            <a:ext cx="2369566" cy="2369566"/>
          </a:xfrm>
          <a:prstGeom prst="ellipse">
            <a:avLst/>
          </a:prstGeom>
          <a:solidFill>
            <a:schemeClr val="accent2"/>
          </a:solid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5186109" y="5093873"/>
            <a:ext cx="6296280" cy="535058"/>
          </a:xfrm>
          <a:prstGeom prst="rect">
            <a:avLst/>
          </a:prstGeom>
          <a:solidFill>
            <a:schemeClr val="accent6">
              <a:lumMod val="50000"/>
            </a:schemeClr>
          </a:solid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20000"/>
              </a:lnSpc>
            </a:pPr>
            <a:endParaRPr lang="zh-CN" altLang="en-US" sz="16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bwMode="auto">
          <a:xfrm>
            <a:off x="6870699" y="5093873"/>
            <a:ext cx="1454931" cy="442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anchor="ctr">
            <a:noAutofit/>
          </a:bodyPr>
          <a:lstStyle/>
          <a:p>
            <a:pPr lvl="0"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内容生成</a:t>
            </a:r>
          </a:p>
        </p:txBody>
      </p:sp>
      <p:sp>
        <p:nvSpPr>
          <p:cNvPr id="9" name="文本框 8"/>
          <p:cNvSpPr txBox="1"/>
          <p:nvPr/>
        </p:nvSpPr>
        <p:spPr bwMode="auto">
          <a:xfrm>
            <a:off x="8449078" y="5093873"/>
            <a:ext cx="1454931" cy="442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anchor="ctr">
            <a:noAutofit/>
          </a:bodyPr>
          <a:lstStyle/>
          <a:p>
            <a:pPr lvl="0"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多模态</a:t>
            </a:r>
          </a:p>
        </p:txBody>
      </p:sp>
      <p:sp>
        <p:nvSpPr>
          <p:cNvPr id="10" name="文本框 9"/>
          <p:cNvSpPr txBox="1"/>
          <p:nvPr/>
        </p:nvSpPr>
        <p:spPr bwMode="auto">
          <a:xfrm>
            <a:off x="10027457" y="5093873"/>
            <a:ext cx="1454931" cy="442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anchor="ctr">
            <a:noAutofit/>
          </a:bodyPr>
          <a:lstStyle/>
          <a:p>
            <a:pPr lvl="0"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效率</a:t>
            </a:r>
          </a:p>
        </p:txBody>
      </p:sp>
      <p:cxnSp>
        <p:nvCxnSpPr>
          <p:cNvPr id="15" name="直接连接符 14"/>
          <p:cNvCxnSpPr/>
          <p:nvPr/>
        </p:nvCxnSpPr>
        <p:spPr>
          <a:xfrm flipV="1">
            <a:off x="6870699" y="5929152"/>
            <a:ext cx="1454931" cy="236"/>
          </a:xfrm>
          <a:prstGeom prst="line">
            <a:avLst/>
          </a:prstGeom>
          <a:ln w="31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8449076" y="5929152"/>
            <a:ext cx="1454931" cy="236"/>
          </a:xfrm>
          <a:prstGeom prst="line">
            <a:avLst/>
          </a:prstGeom>
          <a:ln w="31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0027453" y="5929152"/>
            <a:ext cx="1454931" cy="236"/>
          </a:xfrm>
          <a:prstGeom prst="line">
            <a:avLst/>
          </a:prstGeom>
          <a:ln w="3175" cap="rnd">
            <a:solidFill>
              <a:schemeClr val="accent1"/>
            </a:solidFill>
            <a:round/>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35900" y="3957412"/>
            <a:ext cx="2127634" cy="2127634"/>
          </a:xfrm>
          <a:custGeom>
            <a:avLst/>
            <a:gdLst>
              <a:gd name="connsiteX0" fmla="*/ 1063817 w 2127634"/>
              <a:gd name="connsiteY0" fmla="*/ 0 h 2127634"/>
              <a:gd name="connsiteX1" fmla="*/ 2127634 w 2127634"/>
              <a:gd name="connsiteY1" fmla="*/ 1063817 h 2127634"/>
              <a:gd name="connsiteX2" fmla="*/ 1063817 w 2127634"/>
              <a:gd name="connsiteY2" fmla="*/ 2127634 h 2127634"/>
              <a:gd name="connsiteX3" fmla="*/ 0 w 2127634"/>
              <a:gd name="connsiteY3" fmla="*/ 1063817 h 2127634"/>
              <a:gd name="connsiteX4" fmla="*/ 1063817 w 2127634"/>
              <a:gd name="connsiteY4" fmla="*/ 0 h 2127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7634" h="2127634">
                <a:moveTo>
                  <a:pt x="1063817" y="0"/>
                </a:moveTo>
                <a:cubicBezTo>
                  <a:pt x="1651347" y="0"/>
                  <a:pt x="2127634" y="476287"/>
                  <a:pt x="2127634" y="1063817"/>
                </a:cubicBezTo>
                <a:cubicBezTo>
                  <a:pt x="2127634" y="1651347"/>
                  <a:pt x="1651347" y="2127634"/>
                  <a:pt x="1063817" y="2127634"/>
                </a:cubicBezTo>
                <a:cubicBezTo>
                  <a:pt x="476287" y="2127634"/>
                  <a:pt x="0" y="1651347"/>
                  <a:pt x="0" y="1063817"/>
                </a:cubicBezTo>
                <a:cubicBezTo>
                  <a:pt x="0" y="476287"/>
                  <a:pt x="476287" y="0"/>
                  <a:pt x="1063817" y="0"/>
                </a:cubicBezTo>
                <a:close/>
              </a:path>
            </a:pathLst>
          </a:custGeom>
          <a:ln>
            <a:noFill/>
          </a:ln>
        </p:spPr>
      </p:pic>
      <p:sp>
        <p:nvSpPr>
          <p:cNvPr id="19" name="文本框 18"/>
          <p:cNvSpPr txBox="1"/>
          <p:nvPr/>
        </p:nvSpPr>
        <p:spPr bwMode="auto">
          <a:xfrm>
            <a:off x="5186108" y="5093873"/>
            <a:ext cx="1454931" cy="442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anchor="ctr">
            <a:noAutofit/>
          </a:bodyPr>
          <a:lstStyle/>
          <a:p>
            <a:pPr lvl="0" algn="ctr">
              <a:lnSpc>
                <a:spcPct val="150000"/>
              </a:lnSpc>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智能学习</a:t>
            </a:r>
          </a:p>
        </p:txBody>
      </p:sp>
      <p:cxnSp>
        <p:nvCxnSpPr>
          <p:cNvPr id="20" name="直接连接符 19"/>
          <p:cNvCxnSpPr/>
          <p:nvPr/>
        </p:nvCxnSpPr>
        <p:spPr>
          <a:xfrm flipV="1">
            <a:off x="5281357" y="5928916"/>
            <a:ext cx="1454931" cy="236"/>
          </a:xfrm>
          <a:prstGeom prst="line">
            <a:avLst/>
          </a:prstGeom>
          <a:ln w="3175" cap="rnd">
            <a:solidFill>
              <a:schemeClr val="accent1"/>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par>
                                <p:cTn id="13" presetID="21" presetClass="entr" presetSubtype="1"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heel(1)">
                                      <p:cBhvr>
                                        <p:cTn id="15" dur="2000"/>
                                        <p:tgtEl>
                                          <p:spTgt spid="18"/>
                                        </p:tgtEl>
                                      </p:cBhvr>
                                    </p:animEffect>
                                  </p:childTnLst>
                                </p:cTn>
                              </p:par>
                            </p:childTnLst>
                          </p:cTn>
                        </p:par>
                        <p:par>
                          <p:cTn id="16" fill="hold">
                            <p:stCondLst>
                              <p:cond delay="500"/>
                            </p:stCondLst>
                            <p:childTnLst>
                              <p:par>
                                <p:cTn id="17" presetID="6" presetClass="entr" presetSubtype="16"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2000"/>
                                        <p:tgtEl>
                                          <p:spTgt spid="3"/>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ircle(in)">
                                      <p:cBhvr>
                                        <p:cTn id="22" dur="2000"/>
                                        <p:tgtEl>
                                          <p:spTgt spid="4"/>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circle(in)">
                                      <p:cBhvr>
                                        <p:cTn id="25" dur="2000"/>
                                        <p:tgtEl>
                                          <p:spTgt spid="5"/>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circle(in)">
                                      <p:cBhvr>
                                        <p:cTn id="28" dur="2000"/>
                                        <p:tgtEl>
                                          <p:spTgt spid="6"/>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circle(in)">
                                      <p:cBhvr>
                                        <p:cTn id="31" dur="2000"/>
                                        <p:tgtEl>
                                          <p:spTgt spid="7"/>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circle(in)">
                                      <p:cBhvr>
                                        <p:cTn id="34" dur="2000"/>
                                        <p:tgtEl>
                                          <p:spTgt spid="8"/>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circle(in)">
                                      <p:cBhvr>
                                        <p:cTn id="37" dur="2000"/>
                                        <p:tgtEl>
                                          <p:spTgt spid="9"/>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circle(in)">
                                      <p:cBhvr>
                                        <p:cTn id="40" dur="2000"/>
                                        <p:tgtEl>
                                          <p:spTgt spid="10"/>
                                        </p:tgtEl>
                                      </p:cBhvr>
                                    </p:animEffect>
                                  </p:childTnLst>
                                </p:cTn>
                              </p:par>
                              <p:par>
                                <p:cTn id="41" presetID="6" presetClass="entr" presetSubtype="16"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circle(in)">
                                      <p:cBhvr>
                                        <p:cTn id="43" dur="2000"/>
                                        <p:tgtEl>
                                          <p:spTgt spid="15"/>
                                        </p:tgtEl>
                                      </p:cBhvr>
                                    </p:animEffect>
                                  </p:childTnLst>
                                </p:cTn>
                              </p:par>
                              <p:par>
                                <p:cTn id="44" presetID="6" presetClass="entr" presetSubtype="16"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circle(in)">
                                      <p:cBhvr>
                                        <p:cTn id="46" dur="2000"/>
                                        <p:tgtEl>
                                          <p:spTgt spid="16"/>
                                        </p:tgtEl>
                                      </p:cBhvr>
                                    </p:animEffect>
                                  </p:childTnLst>
                                </p:cTn>
                              </p:par>
                              <p:par>
                                <p:cTn id="47" presetID="6" presetClass="entr" presetSubtype="16"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circle(in)">
                                      <p:cBhvr>
                                        <p:cTn id="49" dur="2000"/>
                                        <p:tgtEl>
                                          <p:spTgt spid="17"/>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circle(in)">
                                      <p:cBhvr>
                                        <p:cTn id="52" dur="2000"/>
                                        <p:tgtEl>
                                          <p:spTgt spid="19"/>
                                        </p:tgtEl>
                                      </p:cBhvr>
                                    </p:animEffect>
                                  </p:childTnLst>
                                </p:cTn>
                              </p:par>
                              <p:par>
                                <p:cTn id="53" presetID="6" presetClass="entr" presetSubtype="16"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circle(in)">
                                      <p:cBhvr>
                                        <p:cTn id="5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4" grpId="0"/>
      <p:bldP spid="5" grpId="0"/>
      <p:bldP spid="6" grpId="0" animBg="1"/>
      <p:bldP spid="7" grpId="0" animBg="1"/>
      <p:bldP spid="8" grpId="0"/>
      <p:bldP spid="9" grpId="0"/>
      <p:bldP spid="10"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en-US" altLang="zh-CN"/>
              <a:t>AI</a:t>
            </a:r>
            <a:r>
              <a:rPr lang="zh-CN" altLang="en-US"/>
              <a:t>与工作</a:t>
            </a:r>
          </a:p>
        </p:txBody>
      </p:sp>
      <p:sp>
        <p:nvSpPr>
          <p:cNvPr id="2" name="平行四边形 1"/>
          <p:cNvSpPr/>
          <p:nvPr/>
        </p:nvSpPr>
        <p:spPr>
          <a:xfrm>
            <a:off x="766120" y="2076528"/>
            <a:ext cx="3330575" cy="166796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207189" y="2602520"/>
            <a:ext cx="2276546" cy="936025"/>
          </a:xfrm>
          <a:prstGeom prst="rect">
            <a:avLst/>
          </a:prstGeom>
          <a:noFill/>
        </p:spPr>
        <p:txBody>
          <a:bodyPr wrap="square" lIns="0" tIns="0" rIns="0" bIns="0" rtlCol="0">
            <a:spAutoFit/>
          </a:bodyPr>
          <a:lstStyle/>
          <a:p>
            <a:pPr lvl="0">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通过算法自动化完成 “数据清洗、结构化转换、特征提取、规律挖掘” 的全流程。</a:t>
            </a:r>
          </a:p>
        </p:txBody>
      </p:sp>
      <p:sp>
        <p:nvSpPr>
          <p:cNvPr id="4" name="平行四边形 3"/>
          <p:cNvSpPr/>
          <p:nvPr/>
        </p:nvSpPr>
        <p:spPr>
          <a:xfrm>
            <a:off x="1562334" y="3931612"/>
            <a:ext cx="1910725" cy="98629"/>
          </a:xfrm>
          <a:prstGeom prst="parallelogram">
            <a:avLst/>
          </a:prstGeom>
          <a:gradFill flip="none" rotWithShape="1">
            <a:gsLst>
              <a:gs pos="0">
                <a:schemeClr val="accent1"/>
              </a:gs>
              <a:gs pos="100000">
                <a:schemeClr val="accent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iṡļíḍe"/>
          <p:cNvSpPr txBox="1"/>
          <p:nvPr/>
        </p:nvSpPr>
        <p:spPr bwMode="auto">
          <a:xfrm>
            <a:off x="1111287" y="2110714"/>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数据处理与分析</a:t>
            </a:r>
          </a:p>
        </p:txBody>
      </p:sp>
      <p:sp>
        <p:nvSpPr>
          <p:cNvPr id="6" name="平行四边形 5"/>
          <p:cNvSpPr/>
          <p:nvPr/>
        </p:nvSpPr>
        <p:spPr>
          <a:xfrm>
            <a:off x="766120" y="4283575"/>
            <a:ext cx="3330575" cy="166796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207189" y="4809567"/>
            <a:ext cx="2276546" cy="936025"/>
          </a:xfrm>
          <a:prstGeom prst="rect">
            <a:avLst/>
          </a:prstGeom>
          <a:noFill/>
        </p:spPr>
        <p:txBody>
          <a:bodyPr wrap="square" lIns="0" tIns="0" rIns="0" bIns="0" rtlCol="0">
            <a:spAutoFit/>
          </a:bodyPr>
          <a:lstStyle/>
          <a:p>
            <a:pPr lvl="0">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基于历史数据和模式，预测未来可能发生的情况或用户可能喜欢的内容。</a:t>
            </a:r>
          </a:p>
        </p:txBody>
      </p:sp>
      <p:sp>
        <p:nvSpPr>
          <p:cNvPr id="8" name="平行四边形 7"/>
          <p:cNvSpPr/>
          <p:nvPr/>
        </p:nvSpPr>
        <p:spPr>
          <a:xfrm>
            <a:off x="1562334" y="6138659"/>
            <a:ext cx="1910725" cy="98629"/>
          </a:xfrm>
          <a:prstGeom prst="parallelogram">
            <a:avLst/>
          </a:prstGeom>
          <a:gradFill flip="none" rotWithShape="1">
            <a:gsLst>
              <a:gs pos="0">
                <a:schemeClr val="accent1"/>
              </a:gs>
              <a:gs pos="100000">
                <a:schemeClr val="accent1">
                  <a:alpha val="0"/>
                </a:schemeClr>
              </a:gs>
            </a:gsLst>
            <a:lin ang="10800000" scaled="1"/>
          </a:gradFill>
          <a:ln>
            <a:gradFill>
              <a:gsLst>
                <a:gs pos="12000">
                  <a:schemeClr val="accent6">
                    <a:lumMod val="50000"/>
                  </a:schemeClr>
                </a:gs>
                <a:gs pos="75000">
                  <a:schemeClr val="accent6">
                    <a:lumMod val="50000"/>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9" name="iṡļíḍe"/>
          <p:cNvSpPr txBox="1"/>
          <p:nvPr/>
        </p:nvSpPr>
        <p:spPr bwMode="auto">
          <a:xfrm>
            <a:off x="1111287" y="4317761"/>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预测与推荐</a:t>
            </a:r>
          </a:p>
        </p:txBody>
      </p:sp>
      <p:sp>
        <p:nvSpPr>
          <p:cNvPr id="10" name="平行四边形 9"/>
          <p:cNvSpPr/>
          <p:nvPr/>
        </p:nvSpPr>
        <p:spPr>
          <a:xfrm>
            <a:off x="4363247" y="2076528"/>
            <a:ext cx="3330575" cy="166796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nvSpPr>
        <p:spPr>
          <a:xfrm>
            <a:off x="4804316" y="2602520"/>
            <a:ext cx="2276546" cy="936025"/>
          </a:xfrm>
          <a:prstGeom prst="rect">
            <a:avLst/>
          </a:prstGeom>
          <a:noFill/>
        </p:spPr>
        <p:txBody>
          <a:bodyPr wrap="square" lIns="0" tIns="0" rIns="0" bIns="0" rtlCol="0">
            <a:spAutoFit/>
          </a:bodyPr>
          <a:lstStyle/>
          <a:p>
            <a:pPr lvl="0">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让机器能“看懂”世界、“听懂”声音。即从原始数据中识别和提取关键信息。</a:t>
            </a:r>
          </a:p>
        </p:txBody>
      </p:sp>
      <p:sp>
        <p:nvSpPr>
          <p:cNvPr id="12" name="平行四边形 11"/>
          <p:cNvSpPr/>
          <p:nvPr/>
        </p:nvSpPr>
        <p:spPr>
          <a:xfrm>
            <a:off x="5159461" y="3931612"/>
            <a:ext cx="1910725" cy="98629"/>
          </a:xfrm>
          <a:prstGeom prst="parallelogram">
            <a:avLst/>
          </a:prstGeom>
          <a:gradFill flip="none" rotWithShape="1">
            <a:gsLst>
              <a:gs pos="0">
                <a:schemeClr val="accent1"/>
              </a:gs>
              <a:gs pos="100000">
                <a:schemeClr val="accent1">
                  <a:alpha val="0"/>
                </a:schemeClr>
              </a:gs>
            </a:gsLst>
            <a:lin ang="10800000" scaled="1"/>
          </a:gradFill>
          <a:ln>
            <a:gradFill>
              <a:gsLst>
                <a:gs pos="12000">
                  <a:schemeClr val="accent6">
                    <a:lumMod val="50000"/>
                  </a:schemeClr>
                </a:gs>
                <a:gs pos="75000">
                  <a:schemeClr val="accent6">
                    <a:lumMod val="50000"/>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3" name="iṡļíḍe"/>
          <p:cNvSpPr txBox="1"/>
          <p:nvPr/>
        </p:nvSpPr>
        <p:spPr bwMode="auto">
          <a:xfrm>
            <a:off x="4708414" y="2110714"/>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识别与感知</a:t>
            </a:r>
          </a:p>
        </p:txBody>
      </p:sp>
      <p:sp>
        <p:nvSpPr>
          <p:cNvPr id="15" name="平行四边形 14"/>
          <p:cNvSpPr/>
          <p:nvPr/>
        </p:nvSpPr>
        <p:spPr>
          <a:xfrm>
            <a:off x="4363247" y="4283575"/>
            <a:ext cx="3330575" cy="166796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nvSpPr>
        <p:spPr>
          <a:xfrm>
            <a:off x="4804316" y="4809567"/>
            <a:ext cx="2543098" cy="936025"/>
          </a:xfrm>
          <a:prstGeom prst="rect">
            <a:avLst/>
          </a:prstGeom>
          <a:noFill/>
        </p:spPr>
        <p:txBody>
          <a:bodyPr wrap="square" lIns="0" tIns="0" rIns="0" bIns="0" rtlCol="0">
            <a:spAutoFit/>
          </a:bodyPr>
          <a:lstStyle/>
          <a:p>
            <a:pPr lvl="0">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在多个复杂选项中，自主选择最优解，以实现特定目标（如效率最高、成本最低、收益最大）。</a:t>
            </a:r>
          </a:p>
        </p:txBody>
      </p:sp>
      <p:sp>
        <p:nvSpPr>
          <p:cNvPr id="17" name="平行四边形 16"/>
          <p:cNvSpPr/>
          <p:nvPr/>
        </p:nvSpPr>
        <p:spPr>
          <a:xfrm>
            <a:off x="5159461" y="6138659"/>
            <a:ext cx="1910725" cy="98629"/>
          </a:xfrm>
          <a:prstGeom prst="parallelogram">
            <a:avLst/>
          </a:prstGeom>
          <a:gradFill flip="none" rotWithShape="1">
            <a:gsLst>
              <a:gs pos="0">
                <a:schemeClr val="accent1"/>
              </a:gs>
              <a:gs pos="100000">
                <a:schemeClr val="accent1">
                  <a:alpha val="0"/>
                </a:schemeClr>
              </a:gs>
            </a:gsLst>
            <a:lin ang="10800000" scaled="1"/>
          </a:gradFill>
          <a:ln>
            <a:gradFill>
              <a:gsLst>
                <a:gs pos="12000">
                  <a:schemeClr val="accent6">
                    <a:lumMod val="50000"/>
                  </a:schemeClr>
                </a:gs>
                <a:gs pos="75000">
                  <a:schemeClr val="accent6">
                    <a:lumMod val="50000"/>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8" name="iṡļíḍe"/>
          <p:cNvSpPr txBox="1"/>
          <p:nvPr/>
        </p:nvSpPr>
        <p:spPr bwMode="auto">
          <a:xfrm>
            <a:off x="4708414" y="4317761"/>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决策与优化</a:t>
            </a:r>
          </a:p>
        </p:txBody>
      </p:sp>
      <p:sp>
        <p:nvSpPr>
          <p:cNvPr id="19" name="平行四边形 18"/>
          <p:cNvSpPr/>
          <p:nvPr/>
        </p:nvSpPr>
        <p:spPr>
          <a:xfrm>
            <a:off x="7960374" y="2076528"/>
            <a:ext cx="3330575" cy="166796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0" name="文本框 19"/>
          <p:cNvSpPr txBox="1"/>
          <p:nvPr/>
        </p:nvSpPr>
        <p:spPr>
          <a:xfrm>
            <a:off x="8401443" y="2602520"/>
            <a:ext cx="2276546" cy="936025"/>
          </a:xfrm>
          <a:prstGeom prst="rect">
            <a:avLst/>
          </a:prstGeom>
          <a:noFill/>
        </p:spPr>
        <p:txBody>
          <a:bodyPr wrap="square" lIns="0" tIns="0" rIns="0" bIns="0" rtlCol="0">
            <a:spAutoFit/>
          </a:bodyPr>
          <a:lstStyle/>
          <a:p>
            <a:pPr lvl="0">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理解人类语言和指令的真实意图，并能进行自然、流畅的对话和交流。</a:t>
            </a:r>
          </a:p>
        </p:txBody>
      </p:sp>
      <p:sp>
        <p:nvSpPr>
          <p:cNvPr id="21" name="平行四边形 20"/>
          <p:cNvSpPr/>
          <p:nvPr/>
        </p:nvSpPr>
        <p:spPr>
          <a:xfrm>
            <a:off x="8756588" y="3931612"/>
            <a:ext cx="1910725" cy="98629"/>
          </a:xfrm>
          <a:prstGeom prst="parallelogram">
            <a:avLst/>
          </a:prstGeom>
          <a:gradFill flip="none" rotWithShape="1">
            <a:gsLst>
              <a:gs pos="0">
                <a:schemeClr val="accent1"/>
              </a:gs>
              <a:gs pos="100000">
                <a:schemeClr val="accent1">
                  <a:alpha val="0"/>
                </a:schemeClr>
              </a:gs>
            </a:gsLst>
            <a:lin ang="10800000" scaled="1"/>
          </a:gradFill>
          <a:ln>
            <a:gradFill>
              <a:gsLst>
                <a:gs pos="12000">
                  <a:schemeClr val="accent6">
                    <a:lumMod val="50000"/>
                  </a:schemeClr>
                </a:gs>
                <a:gs pos="75000">
                  <a:schemeClr val="accent6">
                    <a:lumMod val="50000"/>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2" name="iṡļíḍe"/>
          <p:cNvSpPr txBox="1"/>
          <p:nvPr/>
        </p:nvSpPr>
        <p:spPr bwMode="auto">
          <a:xfrm>
            <a:off x="8305541" y="2110714"/>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理解与交互</a:t>
            </a:r>
          </a:p>
        </p:txBody>
      </p:sp>
      <p:sp>
        <p:nvSpPr>
          <p:cNvPr id="23" name="平行四边形 22"/>
          <p:cNvSpPr/>
          <p:nvPr/>
        </p:nvSpPr>
        <p:spPr>
          <a:xfrm>
            <a:off x="7960374" y="4283575"/>
            <a:ext cx="3330575" cy="166796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4" name="文本框 23"/>
          <p:cNvSpPr txBox="1"/>
          <p:nvPr/>
        </p:nvSpPr>
        <p:spPr>
          <a:xfrm>
            <a:off x="8401443" y="4809567"/>
            <a:ext cx="2276546" cy="936025"/>
          </a:xfrm>
          <a:prstGeom prst="rect">
            <a:avLst/>
          </a:prstGeom>
          <a:noFill/>
        </p:spPr>
        <p:txBody>
          <a:bodyPr wrap="square" lIns="0" tIns="0" rIns="0" bIns="0" rtlCol="0">
            <a:spAutoFit/>
          </a:bodyPr>
          <a:lstStyle/>
          <a:p>
            <a:pPr lvl="0">
              <a:lnSpc>
                <a:spcPct val="150000"/>
              </a:lnSpc>
            </a:pPr>
            <a:r>
              <a:rPr lang="en-US" altLang="zh-CN" sz="1400" dirty="0">
                <a:solidFill>
                  <a:schemeClr val="bg1"/>
                </a:solidFill>
                <a:latin typeface="微软雅黑" panose="020B0503020204020204" pitchFamily="34" charset="-122"/>
                <a:ea typeface="微软雅黑" panose="020B0503020204020204" pitchFamily="34" charset="-122"/>
                <a:cs typeface="+mn-ea"/>
                <a:sym typeface="+mn-lt"/>
              </a:rPr>
              <a:t>AI</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不再只是分析现有数据，而是根据学习到的模式创造全新的、原创的内容。</a:t>
            </a:r>
          </a:p>
        </p:txBody>
      </p:sp>
      <p:sp>
        <p:nvSpPr>
          <p:cNvPr id="25" name="平行四边形 24"/>
          <p:cNvSpPr/>
          <p:nvPr/>
        </p:nvSpPr>
        <p:spPr>
          <a:xfrm>
            <a:off x="8756588" y="6138659"/>
            <a:ext cx="1910725" cy="98629"/>
          </a:xfrm>
          <a:prstGeom prst="parallelogram">
            <a:avLst/>
          </a:prstGeom>
          <a:gradFill flip="none" rotWithShape="1">
            <a:gsLst>
              <a:gs pos="0">
                <a:schemeClr val="accent1"/>
              </a:gs>
              <a:gs pos="100000">
                <a:schemeClr val="accent1">
                  <a:alpha val="0"/>
                </a:schemeClr>
              </a:gs>
            </a:gsLst>
            <a:lin ang="10800000" scaled="1"/>
          </a:gradFill>
          <a:ln>
            <a:gradFill>
              <a:gsLst>
                <a:gs pos="12000">
                  <a:schemeClr val="accent6">
                    <a:lumMod val="50000"/>
                  </a:schemeClr>
                </a:gs>
                <a:gs pos="75000">
                  <a:schemeClr val="accent6">
                    <a:lumMod val="50000"/>
                    <a:alpha val="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6" name="iṡļíḍe"/>
          <p:cNvSpPr txBox="1"/>
          <p:nvPr/>
        </p:nvSpPr>
        <p:spPr bwMode="auto">
          <a:xfrm>
            <a:off x="8305541" y="4317761"/>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生成与创造</a:t>
            </a:r>
          </a:p>
        </p:txBody>
      </p:sp>
      <p:sp>
        <p:nvSpPr>
          <p:cNvPr id="27" name="文本框 26"/>
          <p:cNvSpPr txBox="1"/>
          <p:nvPr/>
        </p:nvSpPr>
        <p:spPr>
          <a:xfrm>
            <a:off x="1223427" y="1313464"/>
            <a:ext cx="10067521" cy="612860"/>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人工智能看似应用万千，但其能力均构建于六大核心基石之上：数据处理与分析、识别与感知、理解与交互、预测与推荐、决策与优化、生成与创造。理解这些基础功能，是我们解锁</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潜能、赋能业务创新的第一步。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500"/>
                                        <p:tgtEl>
                                          <p:spTgt spid="1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down)">
                                      <p:cBhvr>
                                        <p:cTn id="39" dur="500"/>
                                        <p:tgtEl>
                                          <p:spTgt spid="11"/>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down)">
                                      <p:cBhvr>
                                        <p:cTn id="45" dur="500"/>
                                        <p:tgtEl>
                                          <p:spTgt spid="13"/>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down)">
                                      <p:cBhvr>
                                        <p:cTn id="48" dur="500"/>
                                        <p:tgtEl>
                                          <p:spTgt spid="15"/>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down)">
                                      <p:cBhvr>
                                        <p:cTn id="51" dur="500"/>
                                        <p:tgtEl>
                                          <p:spTgt spid="16"/>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down)">
                                      <p:cBhvr>
                                        <p:cTn id="54" dur="500"/>
                                        <p:tgtEl>
                                          <p:spTgt spid="17"/>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down)">
                                      <p:cBhvr>
                                        <p:cTn id="57" dur="500"/>
                                        <p:tgtEl>
                                          <p:spTgt spid="18"/>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down)">
                                      <p:cBhvr>
                                        <p:cTn id="60" dur="500"/>
                                        <p:tgtEl>
                                          <p:spTgt spid="19"/>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down)">
                                      <p:cBhvr>
                                        <p:cTn id="63" dur="500"/>
                                        <p:tgtEl>
                                          <p:spTgt spid="20"/>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down)">
                                      <p:cBhvr>
                                        <p:cTn id="66" dur="500"/>
                                        <p:tgtEl>
                                          <p:spTgt spid="21"/>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down)">
                                      <p:cBhvr>
                                        <p:cTn id="69" dur="500"/>
                                        <p:tgtEl>
                                          <p:spTgt spid="22"/>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down)">
                                      <p:cBhvr>
                                        <p:cTn id="72" dur="500"/>
                                        <p:tgtEl>
                                          <p:spTgt spid="23"/>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down)">
                                      <p:cBhvr>
                                        <p:cTn id="75" dur="500"/>
                                        <p:tgtEl>
                                          <p:spTgt spid="24"/>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down)">
                                      <p:cBhvr>
                                        <p:cTn id="78" dur="500"/>
                                        <p:tgtEl>
                                          <p:spTgt spid="25"/>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down)">
                                      <p:cBhvr>
                                        <p:cTn id="81" dur="500"/>
                                        <p:tgtEl>
                                          <p:spTgt spid="26"/>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down)">
                                      <p:cBhvr>
                                        <p:cTn id="8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p:bldP spid="4" grpId="0" animBg="1"/>
      <p:bldP spid="5" grpId="0"/>
      <p:bldP spid="6" grpId="0" animBg="1"/>
      <p:bldP spid="7" grpId="0"/>
      <p:bldP spid="8" grpId="0" animBg="1"/>
      <p:bldP spid="9" grpId="0"/>
      <p:bldP spid="10" grpId="0" animBg="1"/>
      <p:bldP spid="11" grpId="0"/>
      <p:bldP spid="12" grpId="0" animBg="1"/>
      <p:bldP spid="13" grpId="0"/>
      <p:bldP spid="15" grpId="0" animBg="1"/>
      <p:bldP spid="16" grpId="0"/>
      <p:bldP spid="17" grpId="0" animBg="1"/>
      <p:bldP spid="18" grpId="0"/>
      <p:bldP spid="19" grpId="0" animBg="1"/>
      <p:bldP spid="20" grpId="0"/>
      <p:bldP spid="21" grpId="0" animBg="1"/>
      <p:bldP spid="22" grpId="0"/>
      <p:bldP spid="23" grpId="0" animBg="1"/>
      <p:bldP spid="24" grpId="0"/>
      <p:bldP spid="25" grpId="0" animBg="1"/>
      <p:bldP spid="26"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en-US" altLang="zh-CN"/>
              <a:t>AI</a:t>
            </a:r>
            <a:r>
              <a:rPr lang="zh-CN" altLang="en-US"/>
              <a:t>与工作</a:t>
            </a:r>
          </a:p>
        </p:txBody>
      </p:sp>
      <p:sp>
        <p:nvSpPr>
          <p:cNvPr id="2" name="椭圆 1"/>
          <p:cNvSpPr>
            <a:spLocks noChangeAspect="1"/>
          </p:cNvSpPr>
          <p:nvPr/>
        </p:nvSpPr>
        <p:spPr>
          <a:xfrm>
            <a:off x="896389" y="2400300"/>
            <a:ext cx="971550" cy="9715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38653" y="2690601"/>
            <a:ext cx="502061" cy="430374"/>
          </a:xfrm>
          <a:prstGeom prst="rect">
            <a:avLst/>
          </a:prstGeom>
        </p:spPr>
        <p:txBody>
          <a:bodyPr wrap="none">
            <a:spAutoFit/>
          </a:bodyPr>
          <a:lstStyle/>
          <a:p>
            <a:pPr lvl="0" algn="ctr">
              <a:lnSpc>
                <a:spcPct val="120000"/>
              </a:lnSpc>
              <a:buSzPct val="25000"/>
              <a:defRPr/>
            </a:pPr>
            <a:r>
              <a:rPr lang="en-US" altLang="zh-CN" sz="2000" b="1" cap="all"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 name="椭圆 3"/>
          <p:cNvSpPr>
            <a:spLocks noChangeAspect="1"/>
          </p:cNvSpPr>
          <p:nvPr/>
        </p:nvSpPr>
        <p:spPr>
          <a:xfrm>
            <a:off x="896389" y="3742902"/>
            <a:ext cx="971550" cy="9715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138653" y="4033203"/>
            <a:ext cx="502061" cy="430374"/>
          </a:xfrm>
          <a:prstGeom prst="rect">
            <a:avLst/>
          </a:prstGeom>
        </p:spPr>
        <p:txBody>
          <a:bodyPr wrap="none">
            <a:spAutoFit/>
          </a:bodyPr>
          <a:lstStyle/>
          <a:p>
            <a:pPr lvl="0" algn="ctr">
              <a:lnSpc>
                <a:spcPct val="120000"/>
              </a:lnSpc>
              <a:buSzPct val="25000"/>
              <a:defRPr/>
            </a:pPr>
            <a:r>
              <a:rPr lang="en-US" altLang="zh-CN" sz="2000" b="1" cap="all"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6" name="椭圆 5"/>
          <p:cNvSpPr>
            <a:spLocks noChangeAspect="1"/>
          </p:cNvSpPr>
          <p:nvPr/>
        </p:nvSpPr>
        <p:spPr>
          <a:xfrm>
            <a:off x="896389" y="5085504"/>
            <a:ext cx="971550" cy="9715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1138653" y="5375805"/>
            <a:ext cx="502061" cy="430374"/>
          </a:xfrm>
          <a:prstGeom prst="rect">
            <a:avLst/>
          </a:prstGeom>
        </p:spPr>
        <p:txBody>
          <a:bodyPr wrap="none">
            <a:spAutoFit/>
          </a:bodyPr>
          <a:lstStyle/>
          <a:p>
            <a:pPr lvl="0" algn="ctr">
              <a:lnSpc>
                <a:spcPct val="120000"/>
              </a:lnSpc>
              <a:buSzPct val="25000"/>
              <a:defRPr/>
            </a:pPr>
            <a:r>
              <a:rPr lang="en-US" altLang="zh-CN" sz="2000" b="1" cap="all"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2210912" y="2754341"/>
            <a:ext cx="3866038" cy="612860"/>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挖掘数据背后的深层价值；智能数据清洗、用户行为分析、自动报告与可视化、数据监控等。</a:t>
            </a:r>
          </a:p>
        </p:txBody>
      </p:sp>
      <p:sp>
        <p:nvSpPr>
          <p:cNvPr id="9" name="iṡļíḍe"/>
          <p:cNvSpPr txBox="1"/>
          <p:nvPr/>
        </p:nvSpPr>
        <p:spPr bwMode="auto">
          <a:xfrm>
            <a:off x="2115011" y="2262535"/>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accent1"/>
                </a:solidFill>
                <a:latin typeface="微软雅黑" panose="020B0503020204020204" pitchFamily="34" charset="-122"/>
                <a:ea typeface="微软雅黑" panose="020B0503020204020204" pitchFamily="34" charset="-122"/>
                <a:cs typeface="+mn-ea"/>
                <a:sym typeface="+mn-lt"/>
              </a:rPr>
              <a:t>数据处理与分析</a:t>
            </a:r>
          </a:p>
        </p:txBody>
      </p:sp>
      <p:sp>
        <p:nvSpPr>
          <p:cNvPr id="10" name="椭圆 9"/>
          <p:cNvSpPr>
            <a:spLocks noChangeAspect="1"/>
          </p:cNvSpPr>
          <p:nvPr/>
        </p:nvSpPr>
        <p:spPr>
          <a:xfrm>
            <a:off x="6296516" y="2395651"/>
            <a:ext cx="971550" cy="9715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6538780" y="2685952"/>
            <a:ext cx="502061" cy="430374"/>
          </a:xfrm>
          <a:prstGeom prst="rect">
            <a:avLst/>
          </a:prstGeom>
        </p:spPr>
        <p:txBody>
          <a:bodyPr wrap="none">
            <a:spAutoFit/>
          </a:bodyPr>
          <a:lstStyle/>
          <a:p>
            <a:pPr lvl="0" algn="ctr">
              <a:lnSpc>
                <a:spcPct val="120000"/>
              </a:lnSpc>
              <a:buSzPct val="25000"/>
              <a:defRPr/>
            </a:pPr>
            <a:r>
              <a:rPr lang="en-US" altLang="zh-CN" sz="2000" b="1" cap="all"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 name="椭圆 11"/>
          <p:cNvSpPr>
            <a:spLocks noChangeAspect="1"/>
          </p:cNvSpPr>
          <p:nvPr/>
        </p:nvSpPr>
        <p:spPr>
          <a:xfrm>
            <a:off x="6296516" y="3738253"/>
            <a:ext cx="971550" cy="9715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3" name="矩形 12"/>
          <p:cNvSpPr/>
          <p:nvPr/>
        </p:nvSpPr>
        <p:spPr>
          <a:xfrm>
            <a:off x="6538780" y="4028554"/>
            <a:ext cx="502061" cy="430374"/>
          </a:xfrm>
          <a:prstGeom prst="rect">
            <a:avLst/>
          </a:prstGeom>
        </p:spPr>
        <p:txBody>
          <a:bodyPr wrap="none">
            <a:spAutoFit/>
          </a:bodyPr>
          <a:lstStyle/>
          <a:p>
            <a:pPr lvl="0" algn="ctr">
              <a:lnSpc>
                <a:spcPct val="120000"/>
              </a:lnSpc>
              <a:buSzPct val="25000"/>
              <a:defRPr/>
            </a:pPr>
            <a:r>
              <a:rPr lang="en-US" altLang="zh-CN" sz="2000" b="1" cap="all"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5" name="椭圆 14"/>
          <p:cNvSpPr>
            <a:spLocks noChangeAspect="1"/>
          </p:cNvSpPr>
          <p:nvPr/>
        </p:nvSpPr>
        <p:spPr>
          <a:xfrm>
            <a:off x="6296516" y="5080855"/>
            <a:ext cx="971550" cy="9715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6" name="矩形 15"/>
          <p:cNvSpPr/>
          <p:nvPr/>
        </p:nvSpPr>
        <p:spPr>
          <a:xfrm>
            <a:off x="6538780" y="5371156"/>
            <a:ext cx="502061" cy="430374"/>
          </a:xfrm>
          <a:prstGeom prst="rect">
            <a:avLst/>
          </a:prstGeom>
        </p:spPr>
        <p:txBody>
          <a:bodyPr wrap="none">
            <a:spAutoFit/>
          </a:bodyPr>
          <a:lstStyle/>
          <a:p>
            <a:pPr lvl="0" algn="ctr">
              <a:lnSpc>
                <a:spcPct val="120000"/>
              </a:lnSpc>
              <a:buSzPct val="25000"/>
              <a:defRPr/>
            </a:pPr>
            <a:r>
              <a:rPr lang="en-US" altLang="zh-CN" sz="2000" b="1" cap="all"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7" name="文本框 16"/>
          <p:cNvSpPr txBox="1"/>
          <p:nvPr/>
        </p:nvSpPr>
        <p:spPr>
          <a:xfrm>
            <a:off x="7611039" y="2749692"/>
            <a:ext cx="3866038" cy="612860"/>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驱动决策的科学化与前瞻性；销售预测、客户管理、需求预测、个性化推荐等。</a:t>
            </a:r>
          </a:p>
        </p:txBody>
      </p:sp>
      <p:sp>
        <p:nvSpPr>
          <p:cNvPr id="18" name="iṡļíḍe"/>
          <p:cNvSpPr txBox="1"/>
          <p:nvPr/>
        </p:nvSpPr>
        <p:spPr bwMode="auto">
          <a:xfrm>
            <a:off x="7515138" y="2257886"/>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accent1"/>
                </a:solidFill>
                <a:latin typeface="微软雅黑" panose="020B0503020204020204" pitchFamily="34" charset="-122"/>
                <a:ea typeface="微软雅黑" panose="020B0503020204020204" pitchFamily="34" charset="-122"/>
                <a:cs typeface="+mn-ea"/>
                <a:sym typeface="+mn-lt"/>
              </a:rPr>
              <a:t>预测与推荐</a:t>
            </a:r>
          </a:p>
        </p:txBody>
      </p:sp>
      <p:sp>
        <p:nvSpPr>
          <p:cNvPr id="19" name="文本框 18"/>
          <p:cNvSpPr txBox="1"/>
          <p:nvPr/>
        </p:nvSpPr>
        <p:spPr>
          <a:xfrm>
            <a:off x="2210912" y="4087509"/>
            <a:ext cx="3866038" cy="612860"/>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实现信息处理的自动化；文档数字化、会议效率提升（生成纪要）、信息归类等。</a:t>
            </a:r>
          </a:p>
        </p:txBody>
      </p:sp>
      <p:sp>
        <p:nvSpPr>
          <p:cNvPr id="20" name="iṡļíḍe"/>
          <p:cNvSpPr txBox="1"/>
          <p:nvPr/>
        </p:nvSpPr>
        <p:spPr bwMode="auto">
          <a:xfrm>
            <a:off x="2115011" y="3595703"/>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accent1"/>
                </a:solidFill>
                <a:latin typeface="微软雅黑" panose="020B0503020204020204" pitchFamily="34" charset="-122"/>
                <a:ea typeface="微软雅黑" panose="020B0503020204020204" pitchFamily="34" charset="-122"/>
                <a:cs typeface="+mn-ea"/>
                <a:sym typeface="+mn-lt"/>
              </a:rPr>
              <a:t>识别与感知</a:t>
            </a:r>
          </a:p>
        </p:txBody>
      </p:sp>
      <p:sp>
        <p:nvSpPr>
          <p:cNvPr id="21" name="文本框 20"/>
          <p:cNvSpPr txBox="1"/>
          <p:nvPr/>
        </p:nvSpPr>
        <p:spPr>
          <a:xfrm>
            <a:off x="7611039" y="4082860"/>
            <a:ext cx="3866038" cy="289695"/>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实现资源调配的最优化；路径规划、风险评估等。</a:t>
            </a:r>
          </a:p>
        </p:txBody>
      </p:sp>
      <p:sp>
        <p:nvSpPr>
          <p:cNvPr id="22" name="iṡļíḍe"/>
          <p:cNvSpPr txBox="1"/>
          <p:nvPr/>
        </p:nvSpPr>
        <p:spPr bwMode="auto">
          <a:xfrm>
            <a:off x="7515138" y="3591054"/>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accent1"/>
                </a:solidFill>
                <a:latin typeface="微软雅黑" panose="020B0503020204020204" pitchFamily="34" charset="-122"/>
                <a:ea typeface="微软雅黑" panose="020B0503020204020204" pitchFamily="34" charset="-122"/>
                <a:cs typeface="+mn-ea"/>
                <a:sym typeface="+mn-lt"/>
              </a:rPr>
              <a:t>决策与优化</a:t>
            </a:r>
          </a:p>
        </p:txBody>
      </p:sp>
      <p:sp>
        <p:nvSpPr>
          <p:cNvPr id="23" name="文本框 22"/>
          <p:cNvSpPr txBox="1"/>
          <p:nvPr/>
        </p:nvSpPr>
        <p:spPr>
          <a:xfrm>
            <a:off x="2210912" y="5434896"/>
            <a:ext cx="3866038" cy="612860"/>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提升客户服务的智能化水平；智能客服、语音助手、聊天机器人等。</a:t>
            </a:r>
          </a:p>
        </p:txBody>
      </p:sp>
      <p:sp>
        <p:nvSpPr>
          <p:cNvPr id="24" name="iṡļíḍe"/>
          <p:cNvSpPr txBox="1"/>
          <p:nvPr/>
        </p:nvSpPr>
        <p:spPr bwMode="auto">
          <a:xfrm>
            <a:off x="2115011" y="4943090"/>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accent1"/>
                </a:solidFill>
                <a:latin typeface="微软雅黑" panose="020B0503020204020204" pitchFamily="34" charset="-122"/>
                <a:ea typeface="微软雅黑" panose="020B0503020204020204" pitchFamily="34" charset="-122"/>
                <a:cs typeface="+mn-ea"/>
                <a:sym typeface="+mn-lt"/>
              </a:rPr>
              <a:t>理解与交互</a:t>
            </a:r>
          </a:p>
        </p:txBody>
      </p:sp>
      <p:sp>
        <p:nvSpPr>
          <p:cNvPr id="25" name="文本框 24"/>
          <p:cNvSpPr txBox="1"/>
          <p:nvPr/>
        </p:nvSpPr>
        <p:spPr>
          <a:xfrm>
            <a:off x="7611039" y="5430247"/>
            <a:ext cx="3866038" cy="618862"/>
          </a:xfrm>
          <a:prstGeom prst="rect">
            <a:avLst/>
          </a:prstGeom>
          <a:noFill/>
        </p:spPr>
        <p:txBody>
          <a:bodyPr wrap="square" lIns="0" tIns="0" rIns="0" bIns="0" rtlCol="0">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引爆内容创作的效率；营销素材创作、设计辅助、代码助手、报告撰写等。</a:t>
            </a:r>
          </a:p>
        </p:txBody>
      </p:sp>
      <p:sp>
        <p:nvSpPr>
          <p:cNvPr id="26" name="iṡļíḍe"/>
          <p:cNvSpPr txBox="1"/>
          <p:nvPr/>
        </p:nvSpPr>
        <p:spPr bwMode="auto">
          <a:xfrm>
            <a:off x="7515138" y="4938441"/>
            <a:ext cx="2071009" cy="42806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000" b="1" cap="all" dirty="0">
                <a:solidFill>
                  <a:schemeClr val="accent1"/>
                </a:solidFill>
                <a:latin typeface="微软雅黑" panose="020B0503020204020204" pitchFamily="34" charset="-122"/>
                <a:ea typeface="微软雅黑" panose="020B0503020204020204" pitchFamily="34" charset="-122"/>
                <a:cs typeface="+mn-ea"/>
                <a:sym typeface="+mn-lt"/>
              </a:rPr>
              <a:t>生成与创造</a:t>
            </a:r>
          </a:p>
        </p:txBody>
      </p:sp>
      <p:sp>
        <p:nvSpPr>
          <p:cNvPr id="27" name="文本框 26"/>
          <p:cNvSpPr txBox="1"/>
          <p:nvPr/>
        </p:nvSpPr>
        <p:spPr>
          <a:xfrm>
            <a:off x="928335" y="1534250"/>
            <a:ext cx="10548742" cy="612860"/>
          </a:xfrm>
          <a:prstGeom prst="rect">
            <a:avLst/>
          </a:prstGeom>
          <a:noFill/>
        </p:spPr>
        <p:txBody>
          <a:bodyPr wrap="square" lIns="0" tIns="0" rIns="0" bIns="0" rtlCol="0">
            <a:spAutoFit/>
          </a:bodyPr>
          <a:lstStyle/>
          <a:p>
            <a:pPr lvl="0">
              <a:lnSpc>
                <a:spcPct val="150000"/>
              </a:lnSpc>
            </a:pP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不是替代我们，而是成为我们的 “能力增强器” 。它通过自动化繁琐任务、智能化分析预测、高效化内容创造，将我们从重复性工作中解放出来，让我们能更专注于战略思考、创意创造和情感连接等更高价值的工作。</a:t>
            </a:r>
          </a:p>
        </p:txBody>
      </p:sp>
      <p:sp>
        <p:nvSpPr>
          <p:cNvPr id="28" name="iṡļíḍe"/>
          <p:cNvSpPr txBox="1"/>
          <p:nvPr/>
        </p:nvSpPr>
        <p:spPr bwMode="auto">
          <a:xfrm>
            <a:off x="832434" y="1042444"/>
            <a:ext cx="2367966" cy="458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AI</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对工作的赋能</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ppt_w</p:attrName>
                                        </p:attrNameLst>
                                      </p:cBhvr>
                                      <p:tavLst>
                                        <p:tav tm="0">
                                          <p:val>
                                            <p:fltVal val="0"/>
                                          </p:val>
                                        </p:tav>
                                        <p:tav tm="100000">
                                          <p:val>
                                            <p:strVal val="#ppt_w"/>
                                          </p:val>
                                        </p:tav>
                                      </p:tavLst>
                                    </p:anim>
                                    <p:anim calcmode="lin" valueType="num">
                                      <p:cBhvr>
                                        <p:cTn id="28" dur="500" fill="hold"/>
                                        <p:tgtEl>
                                          <p:spTgt spid="5"/>
                                        </p:tgtEl>
                                        <p:attrNameLst>
                                          <p:attrName>ppt_h</p:attrName>
                                        </p:attrNameLst>
                                      </p:cBhvr>
                                      <p:tavLst>
                                        <p:tav tm="0">
                                          <p:val>
                                            <p:fltVal val="0"/>
                                          </p:val>
                                        </p:tav>
                                        <p:tav tm="100000">
                                          <p:val>
                                            <p:strVal val="#ppt_h"/>
                                          </p:val>
                                        </p:tav>
                                      </p:tavLst>
                                    </p:anim>
                                    <p:animEffect transition="in" filter="fade">
                                      <p:cBhvr>
                                        <p:cTn id="29" dur="500"/>
                                        <p:tgtEl>
                                          <p:spTgt spid="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500" fill="hold"/>
                                        <p:tgtEl>
                                          <p:spTgt spid="9"/>
                                        </p:tgtEl>
                                        <p:attrNameLst>
                                          <p:attrName>ppt_w</p:attrName>
                                        </p:attrNameLst>
                                      </p:cBhvr>
                                      <p:tavLst>
                                        <p:tav tm="0">
                                          <p:val>
                                            <p:fltVal val="0"/>
                                          </p:val>
                                        </p:tav>
                                        <p:tav tm="100000">
                                          <p:val>
                                            <p:strVal val="#ppt_w"/>
                                          </p:val>
                                        </p:tav>
                                      </p:tavLst>
                                    </p:anim>
                                    <p:anim calcmode="lin" valueType="num">
                                      <p:cBhvr>
                                        <p:cTn id="48" dur="500" fill="hold"/>
                                        <p:tgtEl>
                                          <p:spTgt spid="9"/>
                                        </p:tgtEl>
                                        <p:attrNameLst>
                                          <p:attrName>ppt_h</p:attrName>
                                        </p:attrNameLst>
                                      </p:cBhvr>
                                      <p:tavLst>
                                        <p:tav tm="0">
                                          <p:val>
                                            <p:fltVal val="0"/>
                                          </p:val>
                                        </p:tav>
                                        <p:tav tm="100000">
                                          <p:val>
                                            <p:strVal val="#ppt_h"/>
                                          </p:val>
                                        </p:tav>
                                      </p:tavLst>
                                    </p:anim>
                                    <p:animEffect transition="in" filter="fade">
                                      <p:cBhvr>
                                        <p:cTn id="49" dur="500"/>
                                        <p:tgtEl>
                                          <p:spTgt spid="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p:cTn id="52" dur="500" fill="hold"/>
                                        <p:tgtEl>
                                          <p:spTgt spid="10"/>
                                        </p:tgtEl>
                                        <p:attrNameLst>
                                          <p:attrName>ppt_w</p:attrName>
                                        </p:attrNameLst>
                                      </p:cBhvr>
                                      <p:tavLst>
                                        <p:tav tm="0">
                                          <p:val>
                                            <p:fltVal val="0"/>
                                          </p:val>
                                        </p:tav>
                                        <p:tav tm="100000">
                                          <p:val>
                                            <p:strVal val="#ppt_w"/>
                                          </p:val>
                                        </p:tav>
                                      </p:tavLst>
                                    </p:anim>
                                    <p:anim calcmode="lin" valueType="num">
                                      <p:cBhvr>
                                        <p:cTn id="53" dur="500" fill="hold"/>
                                        <p:tgtEl>
                                          <p:spTgt spid="10"/>
                                        </p:tgtEl>
                                        <p:attrNameLst>
                                          <p:attrName>ppt_h</p:attrName>
                                        </p:attrNameLst>
                                      </p:cBhvr>
                                      <p:tavLst>
                                        <p:tav tm="0">
                                          <p:val>
                                            <p:fltVal val="0"/>
                                          </p:val>
                                        </p:tav>
                                        <p:tav tm="100000">
                                          <p:val>
                                            <p:strVal val="#ppt_h"/>
                                          </p:val>
                                        </p:tav>
                                      </p:tavLst>
                                    </p:anim>
                                    <p:animEffect transition="in" filter="fade">
                                      <p:cBhvr>
                                        <p:cTn id="54" dur="500"/>
                                        <p:tgtEl>
                                          <p:spTgt spid="10"/>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500" fill="hold"/>
                                        <p:tgtEl>
                                          <p:spTgt spid="11"/>
                                        </p:tgtEl>
                                        <p:attrNameLst>
                                          <p:attrName>ppt_w</p:attrName>
                                        </p:attrNameLst>
                                      </p:cBhvr>
                                      <p:tavLst>
                                        <p:tav tm="0">
                                          <p:val>
                                            <p:fltVal val="0"/>
                                          </p:val>
                                        </p:tav>
                                        <p:tav tm="100000">
                                          <p:val>
                                            <p:strVal val="#ppt_w"/>
                                          </p:val>
                                        </p:tav>
                                      </p:tavLst>
                                    </p:anim>
                                    <p:anim calcmode="lin" valueType="num">
                                      <p:cBhvr>
                                        <p:cTn id="58" dur="500" fill="hold"/>
                                        <p:tgtEl>
                                          <p:spTgt spid="11"/>
                                        </p:tgtEl>
                                        <p:attrNameLst>
                                          <p:attrName>ppt_h</p:attrName>
                                        </p:attrNameLst>
                                      </p:cBhvr>
                                      <p:tavLst>
                                        <p:tav tm="0">
                                          <p:val>
                                            <p:fltVal val="0"/>
                                          </p:val>
                                        </p:tav>
                                        <p:tav tm="100000">
                                          <p:val>
                                            <p:strVal val="#ppt_h"/>
                                          </p:val>
                                        </p:tav>
                                      </p:tavLst>
                                    </p:anim>
                                    <p:animEffect transition="in" filter="fade">
                                      <p:cBhvr>
                                        <p:cTn id="59" dur="500"/>
                                        <p:tgtEl>
                                          <p:spTgt spid="11"/>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 calcmode="lin" valueType="num">
                                      <p:cBhvr>
                                        <p:cTn id="62" dur="500" fill="hold"/>
                                        <p:tgtEl>
                                          <p:spTgt spid="12"/>
                                        </p:tgtEl>
                                        <p:attrNameLst>
                                          <p:attrName>ppt_w</p:attrName>
                                        </p:attrNameLst>
                                      </p:cBhvr>
                                      <p:tavLst>
                                        <p:tav tm="0">
                                          <p:val>
                                            <p:fltVal val="0"/>
                                          </p:val>
                                        </p:tav>
                                        <p:tav tm="100000">
                                          <p:val>
                                            <p:strVal val="#ppt_w"/>
                                          </p:val>
                                        </p:tav>
                                      </p:tavLst>
                                    </p:anim>
                                    <p:anim calcmode="lin" valueType="num">
                                      <p:cBhvr>
                                        <p:cTn id="63" dur="500" fill="hold"/>
                                        <p:tgtEl>
                                          <p:spTgt spid="12"/>
                                        </p:tgtEl>
                                        <p:attrNameLst>
                                          <p:attrName>ppt_h</p:attrName>
                                        </p:attrNameLst>
                                      </p:cBhvr>
                                      <p:tavLst>
                                        <p:tav tm="0">
                                          <p:val>
                                            <p:fltVal val="0"/>
                                          </p:val>
                                        </p:tav>
                                        <p:tav tm="100000">
                                          <p:val>
                                            <p:strVal val="#ppt_h"/>
                                          </p:val>
                                        </p:tav>
                                      </p:tavLst>
                                    </p:anim>
                                    <p:animEffect transition="in" filter="fade">
                                      <p:cBhvr>
                                        <p:cTn id="64" dur="500"/>
                                        <p:tgtEl>
                                          <p:spTgt spid="12"/>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500" fill="hold"/>
                                        <p:tgtEl>
                                          <p:spTgt spid="16"/>
                                        </p:tgtEl>
                                        <p:attrNameLst>
                                          <p:attrName>ppt_w</p:attrName>
                                        </p:attrNameLst>
                                      </p:cBhvr>
                                      <p:tavLst>
                                        <p:tav tm="0">
                                          <p:val>
                                            <p:fltVal val="0"/>
                                          </p:val>
                                        </p:tav>
                                        <p:tav tm="100000">
                                          <p:val>
                                            <p:strVal val="#ppt_w"/>
                                          </p:val>
                                        </p:tav>
                                      </p:tavLst>
                                    </p:anim>
                                    <p:anim calcmode="lin" valueType="num">
                                      <p:cBhvr>
                                        <p:cTn id="78" dur="500" fill="hold"/>
                                        <p:tgtEl>
                                          <p:spTgt spid="16"/>
                                        </p:tgtEl>
                                        <p:attrNameLst>
                                          <p:attrName>ppt_h</p:attrName>
                                        </p:attrNameLst>
                                      </p:cBhvr>
                                      <p:tavLst>
                                        <p:tav tm="0">
                                          <p:val>
                                            <p:fltVal val="0"/>
                                          </p:val>
                                        </p:tav>
                                        <p:tav tm="100000">
                                          <p:val>
                                            <p:strVal val="#ppt_h"/>
                                          </p:val>
                                        </p:tav>
                                      </p:tavLst>
                                    </p:anim>
                                    <p:animEffect transition="in" filter="fade">
                                      <p:cBhvr>
                                        <p:cTn id="79" dur="500"/>
                                        <p:tgtEl>
                                          <p:spTgt spid="16"/>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 calcmode="lin" valueType="num">
                                      <p:cBhvr>
                                        <p:cTn id="82" dur="500" fill="hold"/>
                                        <p:tgtEl>
                                          <p:spTgt spid="17"/>
                                        </p:tgtEl>
                                        <p:attrNameLst>
                                          <p:attrName>ppt_w</p:attrName>
                                        </p:attrNameLst>
                                      </p:cBhvr>
                                      <p:tavLst>
                                        <p:tav tm="0">
                                          <p:val>
                                            <p:fltVal val="0"/>
                                          </p:val>
                                        </p:tav>
                                        <p:tav tm="100000">
                                          <p:val>
                                            <p:strVal val="#ppt_w"/>
                                          </p:val>
                                        </p:tav>
                                      </p:tavLst>
                                    </p:anim>
                                    <p:anim calcmode="lin" valueType="num">
                                      <p:cBhvr>
                                        <p:cTn id="83" dur="500" fill="hold"/>
                                        <p:tgtEl>
                                          <p:spTgt spid="17"/>
                                        </p:tgtEl>
                                        <p:attrNameLst>
                                          <p:attrName>ppt_h</p:attrName>
                                        </p:attrNameLst>
                                      </p:cBhvr>
                                      <p:tavLst>
                                        <p:tav tm="0">
                                          <p:val>
                                            <p:fltVal val="0"/>
                                          </p:val>
                                        </p:tav>
                                        <p:tav tm="100000">
                                          <p:val>
                                            <p:strVal val="#ppt_h"/>
                                          </p:val>
                                        </p:tav>
                                      </p:tavLst>
                                    </p:anim>
                                    <p:animEffect transition="in" filter="fade">
                                      <p:cBhvr>
                                        <p:cTn id="84" dur="500"/>
                                        <p:tgtEl>
                                          <p:spTgt spid="17"/>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p:cTn id="87" dur="500" fill="hold"/>
                                        <p:tgtEl>
                                          <p:spTgt spid="18"/>
                                        </p:tgtEl>
                                        <p:attrNameLst>
                                          <p:attrName>ppt_w</p:attrName>
                                        </p:attrNameLst>
                                      </p:cBhvr>
                                      <p:tavLst>
                                        <p:tav tm="0">
                                          <p:val>
                                            <p:fltVal val="0"/>
                                          </p:val>
                                        </p:tav>
                                        <p:tav tm="100000">
                                          <p:val>
                                            <p:strVal val="#ppt_w"/>
                                          </p:val>
                                        </p:tav>
                                      </p:tavLst>
                                    </p:anim>
                                    <p:anim calcmode="lin" valueType="num">
                                      <p:cBhvr>
                                        <p:cTn id="88" dur="500" fill="hold"/>
                                        <p:tgtEl>
                                          <p:spTgt spid="18"/>
                                        </p:tgtEl>
                                        <p:attrNameLst>
                                          <p:attrName>ppt_h</p:attrName>
                                        </p:attrNameLst>
                                      </p:cBhvr>
                                      <p:tavLst>
                                        <p:tav tm="0">
                                          <p:val>
                                            <p:fltVal val="0"/>
                                          </p:val>
                                        </p:tav>
                                        <p:tav tm="100000">
                                          <p:val>
                                            <p:strVal val="#ppt_h"/>
                                          </p:val>
                                        </p:tav>
                                      </p:tavLst>
                                    </p:anim>
                                    <p:animEffect transition="in" filter="fade">
                                      <p:cBhvr>
                                        <p:cTn id="89" dur="500"/>
                                        <p:tgtEl>
                                          <p:spTgt spid="18"/>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 calcmode="lin" valueType="num">
                                      <p:cBhvr>
                                        <p:cTn id="92" dur="500" fill="hold"/>
                                        <p:tgtEl>
                                          <p:spTgt spid="19"/>
                                        </p:tgtEl>
                                        <p:attrNameLst>
                                          <p:attrName>ppt_w</p:attrName>
                                        </p:attrNameLst>
                                      </p:cBhvr>
                                      <p:tavLst>
                                        <p:tav tm="0">
                                          <p:val>
                                            <p:fltVal val="0"/>
                                          </p:val>
                                        </p:tav>
                                        <p:tav tm="100000">
                                          <p:val>
                                            <p:strVal val="#ppt_w"/>
                                          </p:val>
                                        </p:tav>
                                      </p:tavLst>
                                    </p:anim>
                                    <p:anim calcmode="lin" valueType="num">
                                      <p:cBhvr>
                                        <p:cTn id="93" dur="500" fill="hold"/>
                                        <p:tgtEl>
                                          <p:spTgt spid="19"/>
                                        </p:tgtEl>
                                        <p:attrNameLst>
                                          <p:attrName>ppt_h</p:attrName>
                                        </p:attrNameLst>
                                      </p:cBhvr>
                                      <p:tavLst>
                                        <p:tav tm="0">
                                          <p:val>
                                            <p:fltVal val="0"/>
                                          </p:val>
                                        </p:tav>
                                        <p:tav tm="100000">
                                          <p:val>
                                            <p:strVal val="#ppt_h"/>
                                          </p:val>
                                        </p:tav>
                                      </p:tavLst>
                                    </p:anim>
                                    <p:animEffect transition="in" filter="fade">
                                      <p:cBhvr>
                                        <p:cTn id="94" dur="500"/>
                                        <p:tgtEl>
                                          <p:spTgt spid="19"/>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 calcmode="lin" valueType="num">
                                      <p:cBhvr>
                                        <p:cTn id="97" dur="500" fill="hold"/>
                                        <p:tgtEl>
                                          <p:spTgt spid="20"/>
                                        </p:tgtEl>
                                        <p:attrNameLst>
                                          <p:attrName>ppt_w</p:attrName>
                                        </p:attrNameLst>
                                      </p:cBhvr>
                                      <p:tavLst>
                                        <p:tav tm="0">
                                          <p:val>
                                            <p:fltVal val="0"/>
                                          </p:val>
                                        </p:tav>
                                        <p:tav tm="100000">
                                          <p:val>
                                            <p:strVal val="#ppt_w"/>
                                          </p:val>
                                        </p:tav>
                                      </p:tavLst>
                                    </p:anim>
                                    <p:anim calcmode="lin" valueType="num">
                                      <p:cBhvr>
                                        <p:cTn id="98" dur="500" fill="hold"/>
                                        <p:tgtEl>
                                          <p:spTgt spid="20"/>
                                        </p:tgtEl>
                                        <p:attrNameLst>
                                          <p:attrName>ppt_h</p:attrName>
                                        </p:attrNameLst>
                                      </p:cBhvr>
                                      <p:tavLst>
                                        <p:tav tm="0">
                                          <p:val>
                                            <p:fltVal val="0"/>
                                          </p:val>
                                        </p:tav>
                                        <p:tav tm="100000">
                                          <p:val>
                                            <p:strVal val="#ppt_h"/>
                                          </p:val>
                                        </p:tav>
                                      </p:tavLst>
                                    </p:anim>
                                    <p:animEffect transition="in" filter="fade">
                                      <p:cBhvr>
                                        <p:cTn id="99" dur="500"/>
                                        <p:tgtEl>
                                          <p:spTgt spid="20"/>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500" fill="hold"/>
                                        <p:tgtEl>
                                          <p:spTgt spid="21"/>
                                        </p:tgtEl>
                                        <p:attrNameLst>
                                          <p:attrName>ppt_w</p:attrName>
                                        </p:attrNameLst>
                                      </p:cBhvr>
                                      <p:tavLst>
                                        <p:tav tm="0">
                                          <p:val>
                                            <p:fltVal val="0"/>
                                          </p:val>
                                        </p:tav>
                                        <p:tav tm="100000">
                                          <p:val>
                                            <p:strVal val="#ppt_w"/>
                                          </p:val>
                                        </p:tav>
                                      </p:tavLst>
                                    </p:anim>
                                    <p:anim calcmode="lin" valueType="num">
                                      <p:cBhvr>
                                        <p:cTn id="103" dur="500" fill="hold"/>
                                        <p:tgtEl>
                                          <p:spTgt spid="21"/>
                                        </p:tgtEl>
                                        <p:attrNameLst>
                                          <p:attrName>ppt_h</p:attrName>
                                        </p:attrNameLst>
                                      </p:cBhvr>
                                      <p:tavLst>
                                        <p:tav tm="0">
                                          <p:val>
                                            <p:fltVal val="0"/>
                                          </p:val>
                                        </p:tav>
                                        <p:tav tm="100000">
                                          <p:val>
                                            <p:strVal val="#ppt_h"/>
                                          </p:val>
                                        </p:tav>
                                      </p:tavLst>
                                    </p:anim>
                                    <p:animEffect transition="in" filter="fade">
                                      <p:cBhvr>
                                        <p:cTn id="104" dur="500"/>
                                        <p:tgtEl>
                                          <p:spTgt spid="21"/>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 calcmode="lin" valueType="num">
                                      <p:cBhvr>
                                        <p:cTn id="107" dur="500" fill="hold"/>
                                        <p:tgtEl>
                                          <p:spTgt spid="22"/>
                                        </p:tgtEl>
                                        <p:attrNameLst>
                                          <p:attrName>ppt_w</p:attrName>
                                        </p:attrNameLst>
                                      </p:cBhvr>
                                      <p:tavLst>
                                        <p:tav tm="0">
                                          <p:val>
                                            <p:fltVal val="0"/>
                                          </p:val>
                                        </p:tav>
                                        <p:tav tm="100000">
                                          <p:val>
                                            <p:strVal val="#ppt_w"/>
                                          </p:val>
                                        </p:tav>
                                      </p:tavLst>
                                    </p:anim>
                                    <p:anim calcmode="lin" valueType="num">
                                      <p:cBhvr>
                                        <p:cTn id="108" dur="500" fill="hold"/>
                                        <p:tgtEl>
                                          <p:spTgt spid="22"/>
                                        </p:tgtEl>
                                        <p:attrNameLst>
                                          <p:attrName>ppt_h</p:attrName>
                                        </p:attrNameLst>
                                      </p:cBhvr>
                                      <p:tavLst>
                                        <p:tav tm="0">
                                          <p:val>
                                            <p:fltVal val="0"/>
                                          </p:val>
                                        </p:tav>
                                        <p:tav tm="100000">
                                          <p:val>
                                            <p:strVal val="#ppt_h"/>
                                          </p:val>
                                        </p:tav>
                                      </p:tavLst>
                                    </p:anim>
                                    <p:animEffect transition="in" filter="fade">
                                      <p:cBhvr>
                                        <p:cTn id="109" dur="500"/>
                                        <p:tgtEl>
                                          <p:spTgt spid="22"/>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 calcmode="lin" valueType="num">
                                      <p:cBhvr>
                                        <p:cTn id="112" dur="500" fill="hold"/>
                                        <p:tgtEl>
                                          <p:spTgt spid="23"/>
                                        </p:tgtEl>
                                        <p:attrNameLst>
                                          <p:attrName>ppt_w</p:attrName>
                                        </p:attrNameLst>
                                      </p:cBhvr>
                                      <p:tavLst>
                                        <p:tav tm="0">
                                          <p:val>
                                            <p:fltVal val="0"/>
                                          </p:val>
                                        </p:tav>
                                        <p:tav tm="100000">
                                          <p:val>
                                            <p:strVal val="#ppt_w"/>
                                          </p:val>
                                        </p:tav>
                                      </p:tavLst>
                                    </p:anim>
                                    <p:anim calcmode="lin" valueType="num">
                                      <p:cBhvr>
                                        <p:cTn id="113" dur="500" fill="hold"/>
                                        <p:tgtEl>
                                          <p:spTgt spid="23"/>
                                        </p:tgtEl>
                                        <p:attrNameLst>
                                          <p:attrName>ppt_h</p:attrName>
                                        </p:attrNameLst>
                                      </p:cBhvr>
                                      <p:tavLst>
                                        <p:tav tm="0">
                                          <p:val>
                                            <p:fltVal val="0"/>
                                          </p:val>
                                        </p:tav>
                                        <p:tav tm="100000">
                                          <p:val>
                                            <p:strVal val="#ppt_h"/>
                                          </p:val>
                                        </p:tav>
                                      </p:tavLst>
                                    </p:anim>
                                    <p:animEffect transition="in" filter="fade">
                                      <p:cBhvr>
                                        <p:cTn id="114" dur="500"/>
                                        <p:tgtEl>
                                          <p:spTgt spid="23"/>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 calcmode="lin" valueType="num">
                                      <p:cBhvr>
                                        <p:cTn id="117" dur="500" fill="hold"/>
                                        <p:tgtEl>
                                          <p:spTgt spid="24"/>
                                        </p:tgtEl>
                                        <p:attrNameLst>
                                          <p:attrName>ppt_w</p:attrName>
                                        </p:attrNameLst>
                                      </p:cBhvr>
                                      <p:tavLst>
                                        <p:tav tm="0">
                                          <p:val>
                                            <p:fltVal val="0"/>
                                          </p:val>
                                        </p:tav>
                                        <p:tav tm="100000">
                                          <p:val>
                                            <p:strVal val="#ppt_w"/>
                                          </p:val>
                                        </p:tav>
                                      </p:tavLst>
                                    </p:anim>
                                    <p:anim calcmode="lin" valueType="num">
                                      <p:cBhvr>
                                        <p:cTn id="118" dur="500" fill="hold"/>
                                        <p:tgtEl>
                                          <p:spTgt spid="24"/>
                                        </p:tgtEl>
                                        <p:attrNameLst>
                                          <p:attrName>ppt_h</p:attrName>
                                        </p:attrNameLst>
                                      </p:cBhvr>
                                      <p:tavLst>
                                        <p:tav tm="0">
                                          <p:val>
                                            <p:fltVal val="0"/>
                                          </p:val>
                                        </p:tav>
                                        <p:tav tm="100000">
                                          <p:val>
                                            <p:strVal val="#ppt_h"/>
                                          </p:val>
                                        </p:tav>
                                      </p:tavLst>
                                    </p:anim>
                                    <p:animEffect transition="in" filter="fade">
                                      <p:cBhvr>
                                        <p:cTn id="119" dur="500"/>
                                        <p:tgtEl>
                                          <p:spTgt spid="24"/>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 calcmode="lin" valueType="num">
                                      <p:cBhvr>
                                        <p:cTn id="122" dur="500" fill="hold"/>
                                        <p:tgtEl>
                                          <p:spTgt spid="25"/>
                                        </p:tgtEl>
                                        <p:attrNameLst>
                                          <p:attrName>ppt_w</p:attrName>
                                        </p:attrNameLst>
                                      </p:cBhvr>
                                      <p:tavLst>
                                        <p:tav tm="0">
                                          <p:val>
                                            <p:fltVal val="0"/>
                                          </p:val>
                                        </p:tav>
                                        <p:tav tm="100000">
                                          <p:val>
                                            <p:strVal val="#ppt_w"/>
                                          </p:val>
                                        </p:tav>
                                      </p:tavLst>
                                    </p:anim>
                                    <p:anim calcmode="lin" valueType="num">
                                      <p:cBhvr>
                                        <p:cTn id="123" dur="500" fill="hold"/>
                                        <p:tgtEl>
                                          <p:spTgt spid="25"/>
                                        </p:tgtEl>
                                        <p:attrNameLst>
                                          <p:attrName>ppt_h</p:attrName>
                                        </p:attrNameLst>
                                      </p:cBhvr>
                                      <p:tavLst>
                                        <p:tav tm="0">
                                          <p:val>
                                            <p:fltVal val="0"/>
                                          </p:val>
                                        </p:tav>
                                        <p:tav tm="100000">
                                          <p:val>
                                            <p:strVal val="#ppt_h"/>
                                          </p:val>
                                        </p:tav>
                                      </p:tavLst>
                                    </p:anim>
                                    <p:animEffect transition="in" filter="fade">
                                      <p:cBhvr>
                                        <p:cTn id="124" dur="500"/>
                                        <p:tgtEl>
                                          <p:spTgt spid="25"/>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 calcmode="lin" valueType="num">
                                      <p:cBhvr>
                                        <p:cTn id="127" dur="500" fill="hold"/>
                                        <p:tgtEl>
                                          <p:spTgt spid="26"/>
                                        </p:tgtEl>
                                        <p:attrNameLst>
                                          <p:attrName>ppt_w</p:attrName>
                                        </p:attrNameLst>
                                      </p:cBhvr>
                                      <p:tavLst>
                                        <p:tav tm="0">
                                          <p:val>
                                            <p:fltVal val="0"/>
                                          </p:val>
                                        </p:tav>
                                        <p:tav tm="100000">
                                          <p:val>
                                            <p:strVal val="#ppt_w"/>
                                          </p:val>
                                        </p:tav>
                                      </p:tavLst>
                                    </p:anim>
                                    <p:anim calcmode="lin" valueType="num">
                                      <p:cBhvr>
                                        <p:cTn id="128" dur="500" fill="hold"/>
                                        <p:tgtEl>
                                          <p:spTgt spid="26"/>
                                        </p:tgtEl>
                                        <p:attrNameLst>
                                          <p:attrName>ppt_h</p:attrName>
                                        </p:attrNameLst>
                                      </p:cBhvr>
                                      <p:tavLst>
                                        <p:tav tm="0">
                                          <p:val>
                                            <p:fltVal val="0"/>
                                          </p:val>
                                        </p:tav>
                                        <p:tav tm="100000">
                                          <p:val>
                                            <p:strVal val="#ppt_h"/>
                                          </p:val>
                                        </p:tav>
                                      </p:tavLst>
                                    </p:anim>
                                    <p:animEffect transition="in" filter="fade">
                                      <p:cBhvr>
                                        <p:cTn id="129" dur="500"/>
                                        <p:tgtEl>
                                          <p:spTgt spid="26"/>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7"/>
                                        </p:tgtEl>
                                        <p:attrNameLst>
                                          <p:attrName>style.visibility</p:attrName>
                                        </p:attrNameLst>
                                      </p:cBhvr>
                                      <p:to>
                                        <p:strVal val="visible"/>
                                      </p:to>
                                    </p:set>
                                    <p:anim calcmode="lin" valueType="num">
                                      <p:cBhvr>
                                        <p:cTn id="132" dur="500" fill="hold"/>
                                        <p:tgtEl>
                                          <p:spTgt spid="27"/>
                                        </p:tgtEl>
                                        <p:attrNameLst>
                                          <p:attrName>ppt_w</p:attrName>
                                        </p:attrNameLst>
                                      </p:cBhvr>
                                      <p:tavLst>
                                        <p:tav tm="0">
                                          <p:val>
                                            <p:fltVal val="0"/>
                                          </p:val>
                                        </p:tav>
                                        <p:tav tm="100000">
                                          <p:val>
                                            <p:strVal val="#ppt_w"/>
                                          </p:val>
                                        </p:tav>
                                      </p:tavLst>
                                    </p:anim>
                                    <p:anim calcmode="lin" valueType="num">
                                      <p:cBhvr>
                                        <p:cTn id="133" dur="500" fill="hold"/>
                                        <p:tgtEl>
                                          <p:spTgt spid="27"/>
                                        </p:tgtEl>
                                        <p:attrNameLst>
                                          <p:attrName>ppt_h</p:attrName>
                                        </p:attrNameLst>
                                      </p:cBhvr>
                                      <p:tavLst>
                                        <p:tav tm="0">
                                          <p:val>
                                            <p:fltVal val="0"/>
                                          </p:val>
                                        </p:tav>
                                        <p:tav tm="100000">
                                          <p:val>
                                            <p:strVal val="#ppt_h"/>
                                          </p:val>
                                        </p:tav>
                                      </p:tavLst>
                                    </p:anim>
                                    <p:animEffect transition="in" filter="fade">
                                      <p:cBhvr>
                                        <p:cTn id="134" dur="500"/>
                                        <p:tgtEl>
                                          <p:spTgt spid="27"/>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28"/>
                                        </p:tgtEl>
                                        <p:attrNameLst>
                                          <p:attrName>style.visibility</p:attrName>
                                        </p:attrNameLst>
                                      </p:cBhvr>
                                      <p:to>
                                        <p:strVal val="visible"/>
                                      </p:to>
                                    </p:set>
                                    <p:anim calcmode="lin" valueType="num">
                                      <p:cBhvr>
                                        <p:cTn id="137" dur="500" fill="hold"/>
                                        <p:tgtEl>
                                          <p:spTgt spid="28"/>
                                        </p:tgtEl>
                                        <p:attrNameLst>
                                          <p:attrName>ppt_w</p:attrName>
                                        </p:attrNameLst>
                                      </p:cBhvr>
                                      <p:tavLst>
                                        <p:tav tm="0">
                                          <p:val>
                                            <p:fltVal val="0"/>
                                          </p:val>
                                        </p:tav>
                                        <p:tav tm="100000">
                                          <p:val>
                                            <p:strVal val="#ppt_w"/>
                                          </p:val>
                                        </p:tav>
                                      </p:tavLst>
                                    </p:anim>
                                    <p:anim calcmode="lin" valueType="num">
                                      <p:cBhvr>
                                        <p:cTn id="138" dur="500" fill="hold"/>
                                        <p:tgtEl>
                                          <p:spTgt spid="28"/>
                                        </p:tgtEl>
                                        <p:attrNameLst>
                                          <p:attrName>ppt_h</p:attrName>
                                        </p:attrNameLst>
                                      </p:cBhvr>
                                      <p:tavLst>
                                        <p:tav tm="0">
                                          <p:val>
                                            <p:fltVal val="0"/>
                                          </p:val>
                                        </p:tav>
                                        <p:tav tm="100000">
                                          <p:val>
                                            <p:strVal val="#ppt_h"/>
                                          </p:val>
                                        </p:tav>
                                      </p:tavLst>
                                    </p:anim>
                                    <p:animEffect transition="in" filter="fade">
                                      <p:cBhvr>
                                        <p:cTn id="13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p:bldP spid="4" grpId="0" animBg="1"/>
      <p:bldP spid="5" grpId="0"/>
      <p:bldP spid="6" grpId="0" animBg="1"/>
      <p:bldP spid="7" grpId="0"/>
      <p:bldP spid="8" grpId="0"/>
      <p:bldP spid="9" grpId="0"/>
      <p:bldP spid="10" grpId="0" animBg="1"/>
      <p:bldP spid="11" grpId="0"/>
      <p:bldP spid="12" grpId="0" animBg="1"/>
      <p:bldP spid="13" grpId="0"/>
      <p:bldP spid="15" grpId="0" animBg="1"/>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orient="vert" sz="quarter" idx="15"/>
          </p:nvPr>
        </p:nvSpPr>
        <p:spPr>
          <a:xfrm flipH="1">
            <a:off x="658813" y="2715060"/>
            <a:ext cx="6243079" cy="1189712"/>
          </a:xfrm>
        </p:spPr>
        <p:txBody>
          <a:bodyPr/>
          <a:lstStyle/>
          <a:p>
            <a:r>
              <a:rPr lang="zh-CN" altLang="en-US"/>
              <a:t>常见</a:t>
            </a:r>
            <a:r>
              <a:rPr lang="en-US" altLang="zh-CN"/>
              <a:t>AI</a:t>
            </a:r>
            <a:r>
              <a:rPr lang="zh-CN" altLang="en-US"/>
              <a:t>工具</a:t>
            </a:r>
          </a:p>
        </p:txBody>
      </p:sp>
      <p:sp>
        <p:nvSpPr>
          <p:cNvPr id="11" name="文本占位符 10"/>
          <p:cNvSpPr>
            <a:spLocks noGrp="1"/>
          </p:cNvSpPr>
          <p:nvPr>
            <p:ph type="body" orient="vert" sz="quarter" idx="16"/>
          </p:nvPr>
        </p:nvSpPr>
        <p:spPr>
          <a:xfrm flipH="1">
            <a:off x="658811" y="4162381"/>
            <a:ext cx="6372035" cy="856186"/>
          </a:xfrm>
        </p:spPr>
        <p:txBody>
          <a:bodyPr/>
          <a:lstStyle/>
          <a:p>
            <a:r>
              <a:rPr lang="zh-CN" altLang="en-US"/>
              <a:t>智慧浪潮席卷时代，</a:t>
            </a:r>
            <a:r>
              <a:rPr lang="en-US" altLang="zh-CN"/>
              <a:t>AI</a:t>
            </a:r>
            <a:r>
              <a:rPr lang="zh-CN" altLang="en-US"/>
              <a:t>驱动创新变革。精准高效赋能千行万业，让科技更有温度，让未来触手可及。携手人工智能，共创智能新纪元，点亮无限可能！</a:t>
            </a:r>
          </a:p>
        </p:txBody>
      </p:sp>
      <p:sp>
        <p:nvSpPr>
          <p:cNvPr id="16" name="文本占位符 15"/>
          <p:cNvSpPr>
            <a:spLocks noGrp="1"/>
          </p:cNvSpPr>
          <p:nvPr>
            <p:ph type="body" sz="quarter" idx="13"/>
          </p:nvPr>
        </p:nvSpPr>
        <p:spPr>
          <a:xfrm>
            <a:off x="658813" y="1267739"/>
            <a:ext cx="2287587" cy="1189712"/>
          </a:xfrm>
        </p:spPr>
        <p:txBody>
          <a:bodyPr/>
          <a:lstStyle/>
          <a:p>
            <a:r>
              <a:rPr lang="en-US" altLang="zh-CN"/>
              <a:t>02.</a:t>
            </a:r>
            <a:endParaRPr lang="zh-CN" altLang="en-US"/>
          </a:p>
        </p:txBody>
      </p:sp>
      <p:sp>
        <p:nvSpPr>
          <p:cNvPr id="18" name="文本占位符 17"/>
          <p:cNvSpPr>
            <a:spLocks noGrp="1"/>
          </p:cNvSpPr>
          <p:nvPr>
            <p:ph type="body" orient="vert" sz="quarter" idx="17"/>
          </p:nvPr>
        </p:nvSpPr>
        <p:spPr>
          <a:xfrm flipH="1">
            <a:off x="2533650" y="1561946"/>
            <a:ext cx="3562350" cy="710632"/>
          </a:xfrm>
        </p:spPr>
        <p:txBody>
          <a:bodyPr/>
          <a:lstStyle/>
          <a:p>
            <a:r>
              <a:rPr lang="en-US" altLang="zh-CN"/>
              <a:t>PART TWO</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p:cTn id="1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 calcmode="lin" valueType="num">
                                      <p:cBhvr>
                                        <p:cTn id="1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19" dur="500"/>
                                        <p:tgtEl>
                                          <p:spTgt spid="16">
                                            <p:txEl>
                                              <p:pRg st="0" end="0"/>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 calcmode="lin" valueType="num">
                                      <p:cBhvr>
                                        <p:cTn id="22"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6" grpId="0" build="p"/>
      <p:bldP spid="1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常见</a:t>
            </a:r>
            <a:r>
              <a:rPr lang="en-US" altLang="zh-CN"/>
              <a:t>AI</a:t>
            </a:r>
            <a:r>
              <a:rPr lang="zh-CN" altLang="en-US"/>
              <a:t>工具</a:t>
            </a:r>
          </a:p>
        </p:txBody>
      </p:sp>
      <p:grpSp>
        <p:nvGrpSpPr>
          <p:cNvPr id="8" name="组合 7"/>
          <p:cNvGrpSpPr/>
          <p:nvPr/>
        </p:nvGrpSpPr>
        <p:grpSpPr>
          <a:xfrm>
            <a:off x="1415150" y="1314904"/>
            <a:ext cx="2591460" cy="2591460"/>
            <a:chOff x="2093330" y="1981000"/>
            <a:chExt cx="2591460" cy="2591460"/>
          </a:xfrm>
        </p:grpSpPr>
        <p:sp>
          <p:nvSpPr>
            <p:cNvPr id="9" name="椭圆 8"/>
            <p:cNvSpPr/>
            <p:nvPr/>
          </p:nvSpPr>
          <p:spPr>
            <a:xfrm>
              <a:off x="2093330" y="1981000"/>
              <a:ext cx="2591460" cy="2591460"/>
            </a:xfrm>
            <a:prstGeom prst="ellipse">
              <a:avLst/>
            </a:prstGeom>
            <a:gradFill flip="none" rotWithShape="1">
              <a:gsLst>
                <a:gs pos="53000">
                  <a:schemeClr val="accent1">
                    <a:alpha val="0"/>
                  </a:schemeClr>
                </a:gs>
                <a:gs pos="100000">
                  <a:schemeClr val="accent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椭圆 9"/>
            <p:cNvSpPr/>
            <p:nvPr/>
          </p:nvSpPr>
          <p:spPr>
            <a:xfrm>
              <a:off x="2413759" y="2301429"/>
              <a:ext cx="1950603" cy="1950603"/>
            </a:xfrm>
            <a:prstGeom prst="ellipse">
              <a:avLst/>
            </a:prstGeom>
            <a:gradFill flip="none" rotWithShape="1">
              <a:gsLst>
                <a:gs pos="53000">
                  <a:schemeClr val="accent1">
                    <a:alpha val="0"/>
                  </a:schemeClr>
                </a:gs>
                <a:gs pos="100000">
                  <a:schemeClr val="accent1">
                    <a:alpha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椭圆 10"/>
            <p:cNvSpPr/>
            <p:nvPr/>
          </p:nvSpPr>
          <p:spPr>
            <a:xfrm>
              <a:off x="2701028" y="2588698"/>
              <a:ext cx="1376065" cy="1376065"/>
            </a:xfrm>
            <a:prstGeom prst="ellipse">
              <a:avLst/>
            </a:prstGeom>
            <a:gradFill flip="none" rotWithShape="1">
              <a:gsLst>
                <a:gs pos="0">
                  <a:schemeClr val="accent6">
                    <a:lumMod val="5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grpSp>
      <p:sp>
        <p:nvSpPr>
          <p:cNvPr id="12" name="矩形 11"/>
          <p:cNvSpPr/>
          <p:nvPr/>
        </p:nvSpPr>
        <p:spPr>
          <a:xfrm>
            <a:off x="2338721" y="2444442"/>
            <a:ext cx="710451" cy="436914"/>
          </a:xfrm>
          <a:prstGeom prst="rect">
            <a:avLst/>
          </a:prstGeom>
        </p:spPr>
        <p:txBody>
          <a:bodyPr wrap="none">
            <a:spAutoFit/>
          </a:bodyPr>
          <a:lstStyle/>
          <a:p>
            <a:pPr lvl="0" algn="ctr">
              <a:lnSpc>
                <a:spcPct val="120000"/>
              </a:lnSpc>
              <a:buSzPct val="25000"/>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豆包</a:t>
            </a:r>
          </a:p>
        </p:txBody>
      </p:sp>
      <p:sp>
        <p:nvSpPr>
          <p:cNvPr id="13" name="矩形 12"/>
          <p:cNvSpPr/>
          <p:nvPr/>
        </p:nvSpPr>
        <p:spPr>
          <a:xfrm>
            <a:off x="1277423" y="4107776"/>
            <a:ext cx="2833045" cy="2048831"/>
          </a:xfrm>
          <a:prstGeom prst="rect">
            <a:avLst/>
          </a:prstGeom>
        </p:spPr>
        <p:txBody>
          <a:bodyPr wrap="square">
            <a:spAutoFit/>
          </a:bodyPr>
          <a:lstStyle/>
          <a:p>
            <a:pPr lvl="0" algn="ctr">
              <a:lnSpc>
                <a:spcPct val="150000"/>
              </a:lnSpc>
            </a:pPr>
            <a:r>
              <a:rPr lang="zh-CN" altLang="en-US" sz="1200" dirty="0">
                <a:latin typeface="微软雅黑" panose="020B0503020204020204" pitchFamily="34" charset="-122"/>
                <a:ea typeface="微软雅黑" panose="020B0503020204020204" pitchFamily="34" charset="-122"/>
                <a:cs typeface="+mn-ea"/>
                <a:sym typeface="+mn-lt"/>
              </a:rPr>
              <a:t>豆包具备文案创作、</a:t>
            </a:r>
            <a:r>
              <a:rPr lang="en-US" altLang="zh-CN" sz="1200" dirty="0">
                <a:latin typeface="微软雅黑" panose="020B0503020204020204" pitchFamily="34" charset="-122"/>
                <a:ea typeface="微软雅黑" panose="020B0503020204020204" pitchFamily="34" charset="-122"/>
                <a:cs typeface="+mn-ea"/>
                <a:sym typeface="+mn-lt"/>
              </a:rPr>
              <a:t>PDF</a:t>
            </a:r>
            <a:r>
              <a:rPr lang="zh-CN" altLang="en-US" sz="1200" dirty="0">
                <a:latin typeface="微软雅黑" panose="020B0503020204020204" pitchFamily="34" charset="-122"/>
                <a:ea typeface="微软雅黑" panose="020B0503020204020204" pitchFamily="34" charset="-122"/>
                <a:cs typeface="+mn-ea"/>
                <a:sym typeface="+mn-lt"/>
              </a:rPr>
              <a:t>问答、长文本分析、学习辅助、图像生成、信息搜索与整合、</a:t>
            </a:r>
            <a:r>
              <a:rPr lang="en-US" altLang="zh-CN" sz="1200" dirty="0">
                <a:latin typeface="微软雅黑" panose="020B0503020204020204" pitchFamily="34" charset="-122"/>
                <a:ea typeface="微软雅黑" panose="020B0503020204020204" pitchFamily="34" charset="-122"/>
                <a:cs typeface="+mn-ea"/>
                <a:sym typeface="+mn-lt"/>
              </a:rPr>
              <a:t>AI</a:t>
            </a:r>
            <a:r>
              <a:rPr lang="zh-CN" altLang="en-US" sz="1200" dirty="0">
                <a:latin typeface="微软雅黑" panose="020B0503020204020204" pitchFamily="34" charset="-122"/>
                <a:ea typeface="微软雅黑" panose="020B0503020204020204" pitchFamily="34" charset="-122"/>
                <a:cs typeface="+mn-ea"/>
                <a:sym typeface="+mn-lt"/>
              </a:rPr>
              <a:t>智能体等能力，能够理解用户需求并提供个性化服务。</a:t>
            </a:r>
            <a:endParaRPr lang="en-US" altLang="zh-CN" sz="1200" dirty="0">
              <a:latin typeface="微软雅黑" panose="020B0503020204020204" pitchFamily="34" charset="-122"/>
              <a:ea typeface="微软雅黑" panose="020B0503020204020204" pitchFamily="34" charset="-122"/>
              <a:cs typeface="+mn-ea"/>
              <a:sym typeface="+mn-lt"/>
            </a:endParaRPr>
          </a:p>
          <a:p>
            <a:pPr lvl="0" algn="ctr">
              <a:lnSpc>
                <a:spcPct val="150000"/>
              </a:lnSpc>
            </a:pPr>
            <a:r>
              <a:rPr lang="zh-CN" altLang="en-US" sz="1400" b="1" dirty="0">
                <a:latin typeface="微软雅黑" panose="020B0503020204020204" pitchFamily="34" charset="-122"/>
                <a:ea typeface="微软雅黑" panose="020B0503020204020204" pitchFamily="34" charset="-122"/>
                <a:cs typeface="+mn-ea"/>
                <a:sym typeface="+mn-lt"/>
              </a:rPr>
              <a:t>产品功能：</a:t>
            </a:r>
            <a:r>
              <a:rPr lang="zh-CN" altLang="en-US" sz="1200" dirty="0">
                <a:latin typeface="微软雅黑" panose="020B0503020204020204" pitchFamily="34" charset="-122"/>
                <a:ea typeface="微软雅黑" panose="020B0503020204020204" pitchFamily="34" charset="-122"/>
                <a:cs typeface="+mn-ea"/>
                <a:sym typeface="+mn-lt"/>
              </a:rPr>
              <a:t>强大的对话能力、个性化互动、文案创作与优化、文档阅读与深度分析、文本到图片生成等。</a:t>
            </a:r>
          </a:p>
        </p:txBody>
      </p:sp>
      <p:grpSp>
        <p:nvGrpSpPr>
          <p:cNvPr id="15" name="组合 14"/>
          <p:cNvGrpSpPr/>
          <p:nvPr/>
        </p:nvGrpSpPr>
        <p:grpSpPr>
          <a:xfrm>
            <a:off x="4911777" y="1676854"/>
            <a:ext cx="2591460" cy="2591460"/>
            <a:chOff x="2093330" y="1981000"/>
            <a:chExt cx="2591460" cy="2591460"/>
          </a:xfrm>
        </p:grpSpPr>
        <p:sp>
          <p:nvSpPr>
            <p:cNvPr id="16" name="椭圆 15"/>
            <p:cNvSpPr/>
            <p:nvPr/>
          </p:nvSpPr>
          <p:spPr>
            <a:xfrm>
              <a:off x="2093330" y="1981000"/>
              <a:ext cx="2591460" cy="2591460"/>
            </a:xfrm>
            <a:prstGeom prst="ellipse">
              <a:avLst/>
            </a:prstGeom>
            <a:gradFill flip="none" rotWithShape="1">
              <a:gsLst>
                <a:gs pos="53000">
                  <a:schemeClr val="accent1">
                    <a:alpha val="0"/>
                  </a:schemeClr>
                </a:gs>
                <a:gs pos="100000">
                  <a:schemeClr val="accent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 name="椭圆 16"/>
            <p:cNvSpPr/>
            <p:nvPr/>
          </p:nvSpPr>
          <p:spPr>
            <a:xfrm>
              <a:off x="2413759" y="2301429"/>
              <a:ext cx="1950603" cy="1950603"/>
            </a:xfrm>
            <a:prstGeom prst="ellipse">
              <a:avLst/>
            </a:prstGeom>
            <a:gradFill flip="none" rotWithShape="1">
              <a:gsLst>
                <a:gs pos="53000">
                  <a:schemeClr val="accent1">
                    <a:alpha val="0"/>
                  </a:schemeClr>
                </a:gs>
                <a:gs pos="100000">
                  <a:schemeClr val="accent1">
                    <a:alpha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椭圆 17"/>
            <p:cNvSpPr/>
            <p:nvPr/>
          </p:nvSpPr>
          <p:spPr>
            <a:xfrm>
              <a:off x="2701028" y="2588698"/>
              <a:ext cx="1376065" cy="1376065"/>
            </a:xfrm>
            <a:prstGeom prst="ellipse">
              <a:avLst/>
            </a:prstGeom>
            <a:gradFill flip="none" rotWithShape="1">
              <a:gsLst>
                <a:gs pos="0">
                  <a:schemeClr val="accent6">
                    <a:lumMod val="5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grpSp>
      <p:sp>
        <p:nvSpPr>
          <p:cNvPr id="19" name="矩形 18"/>
          <p:cNvSpPr/>
          <p:nvPr/>
        </p:nvSpPr>
        <p:spPr>
          <a:xfrm>
            <a:off x="5464681" y="2806392"/>
            <a:ext cx="1489895" cy="436914"/>
          </a:xfrm>
          <a:prstGeom prst="rect">
            <a:avLst/>
          </a:prstGeom>
        </p:spPr>
        <p:txBody>
          <a:bodyPr wrap="none">
            <a:spAutoFit/>
          </a:bodyPr>
          <a:lstStyle/>
          <a:p>
            <a:pPr lvl="0" algn="ctr">
              <a:lnSpc>
                <a:spcPct val="120000"/>
              </a:lnSpc>
              <a:buSzPct val="25000"/>
              <a:defRPr/>
            </a:pPr>
            <a:r>
              <a:rPr lang="en-US" altLang="zh-CN" sz="2000" b="1" cap="all" dirty="0" err="1">
                <a:solidFill>
                  <a:schemeClr val="bg1"/>
                </a:solidFill>
                <a:latin typeface="微软雅黑" panose="020B0503020204020204" pitchFamily="34" charset="-122"/>
                <a:ea typeface="微软雅黑" panose="020B0503020204020204" pitchFamily="34" charset="-122"/>
                <a:cs typeface="+mn-ea"/>
                <a:sym typeface="+mn-lt"/>
              </a:rPr>
              <a:t>Deepseek</a:t>
            </a:r>
            <a:endPar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4524382" y="4202926"/>
            <a:ext cx="3372795" cy="2048831"/>
          </a:xfrm>
          <a:prstGeom prst="rect">
            <a:avLst/>
          </a:prstGeom>
        </p:spPr>
        <p:txBody>
          <a:bodyPr wrap="square">
            <a:spAutoFit/>
          </a:bodyPr>
          <a:lstStyle/>
          <a:p>
            <a:pPr lvl="0" algn="ctr">
              <a:lnSpc>
                <a:spcPct val="150000"/>
              </a:lnSpc>
            </a:pPr>
            <a:r>
              <a:rPr lang="zh-CN" altLang="en-US" sz="1200" dirty="0">
                <a:latin typeface="微软雅黑" panose="020B0503020204020204" pitchFamily="34" charset="-122"/>
                <a:ea typeface="微软雅黑" panose="020B0503020204020204" pitchFamily="34" charset="-122"/>
                <a:cs typeface="+mn-ea"/>
                <a:sym typeface="+mn-lt"/>
              </a:rPr>
              <a:t>专注于通用人工智能（</a:t>
            </a:r>
            <a:r>
              <a:rPr lang="en-US" altLang="zh-CN" sz="1200" dirty="0">
                <a:latin typeface="微软雅黑" panose="020B0503020204020204" pitchFamily="34" charset="-122"/>
                <a:ea typeface="微软雅黑" panose="020B0503020204020204" pitchFamily="34" charset="-122"/>
                <a:cs typeface="+mn-ea"/>
                <a:sym typeface="+mn-lt"/>
              </a:rPr>
              <a:t>AGI</a:t>
            </a:r>
            <a:r>
              <a:rPr lang="zh-CN" altLang="en-US" sz="1200" dirty="0">
                <a:latin typeface="微软雅黑" panose="020B0503020204020204" pitchFamily="34" charset="-122"/>
                <a:ea typeface="微软雅黑" panose="020B0503020204020204" pitchFamily="34" charset="-122"/>
                <a:cs typeface="+mn-ea"/>
                <a:sym typeface="+mn-lt"/>
              </a:rPr>
              <a:t>）底层模型与技术的研发，探索</a:t>
            </a:r>
            <a:r>
              <a:rPr lang="en-US" altLang="zh-CN" sz="1200" dirty="0">
                <a:latin typeface="微软雅黑" panose="020B0503020204020204" pitchFamily="34" charset="-122"/>
                <a:ea typeface="微软雅黑" panose="020B0503020204020204" pitchFamily="34" charset="-122"/>
                <a:cs typeface="+mn-ea"/>
                <a:sym typeface="+mn-lt"/>
              </a:rPr>
              <a:t>AGI</a:t>
            </a:r>
            <a:r>
              <a:rPr lang="zh-CN" altLang="en-US" sz="1200" dirty="0">
                <a:latin typeface="微软雅黑" panose="020B0503020204020204" pitchFamily="34" charset="-122"/>
                <a:ea typeface="微软雅黑" panose="020B0503020204020204" pitchFamily="34" charset="-122"/>
                <a:cs typeface="+mn-ea"/>
                <a:sym typeface="+mn-lt"/>
              </a:rPr>
              <a:t>的实现路径。</a:t>
            </a:r>
            <a:r>
              <a:rPr lang="en-US" altLang="zh-CN" sz="1200" dirty="0" err="1">
                <a:latin typeface="微软雅黑" panose="020B0503020204020204" pitchFamily="34" charset="-122"/>
                <a:ea typeface="微软雅黑" panose="020B0503020204020204" pitchFamily="34" charset="-122"/>
                <a:cs typeface="+mn-ea"/>
                <a:sym typeface="+mn-lt"/>
              </a:rPr>
              <a:t>DeepSeek</a:t>
            </a:r>
            <a:r>
              <a:rPr lang="zh-CN" altLang="en-US" sz="1200" dirty="0">
                <a:latin typeface="微软雅黑" panose="020B0503020204020204" pitchFamily="34" charset="-122"/>
                <a:ea typeface="微软雅黑" panose="020B0503020204020204" pitchFamily="34" charset="-122"/>
                <a:cs typeface="+mn-ea"/>
                <a:sym typeface="+mn-lt"/>
              </a:rPr>
              <a:t>推出了多个开源大语言模型，如</a:t>
            </a:r>
            <a:r>
              <a:rPr lang="en-US" altLang="zh-CN" sz="1200" dirty="0">
                <a:latin typeface="微软雅黑" panose="020B0503020204020204" pitchFamily="34" charset="-122"/>
                <a:ea typeface="微软雅黑" panose="020B0503020204020204" pitchFamily="34" charset="-122"/>
                <a:cs typeface="+mn-ea"/>
                <a:sym typeface="+mn-lt"/>
              </a:rPr>
              <a:t>DeepSeek-V3</a:t>
            </a:r>
            <a:r>
              <a:rPr lang="zh-CN" altLang="en-US" sz="1200" dirty="0">
                <a:latin typeface="微软雅黑" panose="020B0503020204020204" pitchFamily="34" charset="-122"/>
                <a:ea typeface="微软雅黑" panose="020B0503020204020204" pitchFamily="34" charset="-122"/>
                <a:cs typeface="+mn-ea"/>
                <a:sym typeface="+mn-lt"/>
              </a:rPr>
              <a:t>和</a:t>
            </a:r>
            <a:r>
              <a:rPr lang="en-US" altLang="zh-CN" sz="1200" dirty="0">
                <a:latin typeface="微软雅黑" panose="020B0503020204020204" pitchFamily="34" charset="-122"/>
                <a:ea typeface="微软雅黑" panose="020B0503020204020204" pitchFamily="34" charset="-122"/>
                <a:cs typeface="+mn-ea"/>
                <a:sym typeface="+mn-lt"/>
              </a:rPr>
              <a:t>DeepSeek-R1</a:t>
            </a:r>
            <a:r>
              <a:rPr lang="zh-CN" altLang="en-US" sz="1200" dirty="0">
                <a:latin typeface="微软雅黑" panose="020B0503020204020204" pitchFamily="34" charset="-122"/>
                <a:ea typeface="微软雅黑" panose="020B0503020204020204" pitchFamily="34" charset="-122"/>
                <a:cs typeface="+mn-ea"/>
                <a:sym typeface="+mn-lt"/>
              </a:rPr>
              <a:t>，分别对标</a:t>
            </a:r>
            <a:r>
              <a:rPr lang="en-US" altLang="zh-CN" sz="1200" dirty="0">
                <a:latin typeface="微软雅黑" panose="020B0503020204020204" pitchFamily="34" charset="-122"/>
                <a:ea typeface="微软雅黑" panose="020B0503020204020204" pitchFamily="34" charset="-122"/>
                <a:cs typeface="+mn-ea"/>
                <a:sym typeface="+mn-lt"/>
              </a:rPr>
              <a:t>GPT-4o</a:t>
            </a:r>
            <a:r>
              <a:rPr lang="zh-CN" altLang="en-US" sz="1200" dirty="0">
                <a:latin typeface="微软雅黑" panose="020B0503020204020204" pitchFamily="34" charset="-122"/>
                <a:ea typeface="微软雅黑" panose="020B0503020204020204" pitchFamily="34" charset="-122"/>
                <a:cs typeface="+mn-ea"/>
                <a:sym typeface="+mn-lt"/>
              </a:rPr>
              <a:t>和</a:t>
            </a:r>
            <a:r>
              <a:rPr lang="en-US" altLang="zh-CN" sz="1200" dirty="0">
                <a:latin typeface="微软雅黑" panose="020B0503020204020204" pitchFamily="34" charset="-122"/>
                <a:ea typeface="微软雅黑" panose="020B0503020204020204" pitchFamily="34" charset="-122"/>
                <a:cs typeface="+mn-ea"/>
                <a:sym typeface="+mn-lt"/>
              </a:rPr>
              <a:t>OpenAI</a:t>
            </a:r>
            <a:r>
              <a:rPr lang="zh-CN" altLang="en-US" sz="1200" dirty="0">
                <a:latin typeface="微软雅黑" panose="020B0503020204020204" pitchFamily="34" charset="-122"/>
                <a:ea typeface="微软雅黑" panose="020B0503020204020204" pitchFamily="34" charset="-122"/>
                <a:cs typeface="+mn-ea"/>
                <a:sym typeface="+mn-lt"/>
              </a:rPr>
              <a:t>的</a:t>
            </a:r>
            <a:r>
              <a:rPr lang="en-US" altLang="zh-CN" sz="1200" dirty="0">
                <a:latin typeface="微软雅黑" panose="020B0503020204020204" pitchFamily="34" charset="-122"/>
                <a:ea typeface="微软雅黑" panose="020B0503020204020204" pitchFamily="34" charset="-122"/>
                <a:cs typeface="+mn-ea"/>
                <a:sym typeface="+mn-lt"/>
              </a:rPr>
              <a:t>o1</a:t>
            </a:r>
            <a:r>
              <a:rPr lang="zh-CN" altLang="en-US" sz="1200" dirty="0">
                <a:latin typeface="微软雅黑" panose="020B0503020204020204" pitchFamily="34" charset="-122"/>
                <a:ea typeface="微软雅黑" panose="020B0503020204020204" pitchFamily="34" charset="-122"/>
                <a:cs typeface="+mn-ea"/>
                <a:sym typeface="+mn-lt"/>
              </a:rPr>
              <a:t>模型。</a:t>
            </a:r>
            <a:endParaRPr lang="en-US" altLang="zh-CN" sz="1200" dirty="0">
              <a:latin typeface="微软雅黑" panose="020B0503020204020204" pitchFamily="34" charset="-122"/>
              <a:ea typeface="微软雅黑" panose="020B0503020204020204" pitchFamily="34" charset="-122"/>
              <a:cs typeface="+mn-ea"/>
              <a:sym typeface="+mn-lt"/>
            </a:endParaRPr>
          </a:p>
          <a:p>
            <a:pPr lvl="0" algn="ctr">
              <a:lnSpc>
                <a:spcPct val="150000"/>
              </a:lnSpc>
            </a:pPr>
            <a:r>
              <a:rPr lang="zh-CN" altLang="en-US" sz="1400" b="1" dirty="0">
                <a:latin typeface="微软雅黑" panose="020B0503020204020204" pitchFamily="34" charset="-122"/>
                <a:ea typeface="微软雅黑" panose="020B0503020204020204" pitchFamily="34" charset="-122"/>
                <a:cs typeface="+mn-ea"/>
                <a:sym typeface="+mn-lt"/>
              </a:rPr>
              <a:t>产品功能：</a:t>
            </a:r>
            <a:r>
              <a:rPr lang="zh-CN" altLang="en-US" sz="1200" dirty="0">
                <a:latin typeface="微软雅黑" panose="020B0503020204020204" pitchFamily="34" charset="-122"/>
                <a:ea typeface="微软雅黑" panose="020B0503020204020204" pitchFamily="34" charset="-122"/>
                <a:cs typeface="+mn-ea"/>
                <a:sym typeface="+mn-lt"/>
              </a:rPr>
              <a:t>智能问答与对话、文本创作、可视化图表生成、深度思考与复杂问题解决等。</a:t>
            </a:r>
          </a:p>
        </p:txBody>
      </p:sp>
      <p:grpSp>
        <p:nvGrpSpPr>
          <p:cNvPr id="27" name="组合 26"/>
          <p:cNvGrpSpPr/>
          <p:nvPr/>
        </p:nvGrpSpPr>
        <p:grpSpPr>
          <a:xfrm>
            <a:off x="8408404" y="1314904"/>
            <a:ext cx="2591460" cy="2591460"/>
            <a:chOff x="2093330" y="1981000"/>
            <a:chExt cx="2591460" cy="2591460"/>
          </a:xfrm>
        </p:grpSpPr>
        <p:sp>
          <p:nvSpPr>
            <p:cNvPr id="28" name="椭圆 27"/>
            <p:cNvSpPr/>
            <p:nvPr/>
          </p:nvSpPr>
          <p:spPr>
            <a:xfrm>
              <a:off x="2093330" y="1981000"/>
              <a:ext cx="2591460" cy="2591460"/>
            </a:xfrm>
            <a:prstGeom prst="ellipse">
              <a:avLst/>
            </a:prstGeom>
            <a:gradFill flip="none" rotWithShape="1">
              <a:gsLst>
                <a:gs pos="53000">
                  <a:schemeClr val="accent1">
                    <a:alpha val="0"/>
                  </a:schemeClr>
                </a:gs>
                <a:gs pos="100000">
                  <a:schemeClr val="accent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9" name="椭圆 28"/>
            <p:cNvSpPr/>
            <p:nvPr/>
          </p:nvSpPr>
          <p:spPr>
            <a:xfrm>
              <a:off x="2413759" y="2301429"/>
              <a:ext cx="1950603" cy="1950603"/>
            </a:xfrm>
            <a:prstGeom prst="ellipse">
              <a:avLst/>
            </a:prstGeom>
            <a:gradFill flip="none" rotWithShape="1">
              <a:gsLst>
                <a:gs pos="53000">
                  <a:schemeClr val="accent1">
                    <a:alpha val="0"/>
                  </a:schemeClr>
                </a:gs>
                <a:gs pos="100000">
                  <a:schemeClr val="accent1">
                    <a:alpha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0" name="椭圆 29"/>
            <p:cNvSpPr/>
            <p:nvPr/>
          </p:nvSpPr>
          <p:spPr>
            <a:xfrm>
              <a:off x="2701028" y="2588698"/>
              <a:ext cx="1376065" cy="1376065"/>
            </a:xfrm>
            <a:prstGeom prst="ellipse">
              <a:avLst/>
            </a:prstGeom>
            <a:gradFill flip="none" rotWithShape="1">
              <a:gsLst>
                <a:gs pos="0">
                  <a:schemeClr val="accent6">
                    <a:lumMod val="5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grpSp>
      <p:sp>
        <p:nvSpPr>
          <p:cNvPr id="31" name="矩形 30"/>
          <p:cNvSpPr/>
          <p:nvPr/>
        </p:nvSpPr>
        <p:spPr>
          <a:xfrm>
            <a:off x="9331975" y="2444442"/>
            <a:ext cx="710451" cy="436914"/>
          </a:xfrm>
          <a:prstGeom prst="rect">
            <a:avLst/>
          </a:prstGeom>
        </p:spPr>
        <p:txBody>
          <a:bodyPr wrap="none">
            <a:spAutoFit/>
          </a:bodyPr>
          <a:lstStyle/>
          <a:p>
            <a:pPr lvl="0" algn="ctr">
              <a:lnSpc>
                <a:spcPct val="120000"/>
              </a:lnSpc>
              <a:buSzPct val="25000"/>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mn-lt"/>
              </a:rPr>
              <a:t>扣子</a:t>
            </a:r>
          </a:p>
        </p:txBody>
      </p:sp>
      <p:sp>
        <p:nvSpPr>
          <p:cNvPr id="32" name="矩形 31"/>
          <p:cNvSpPr/>
          <p:nvPr/>
        </p:nvSpPr>
        <p:spPr>
          <a:xfrm>
            <a:off x="8698486" y="4107775"/>
            <a:ext cx="2591461" cy="2048831"/>
          </a:xfrm>
          <a:prstGeom prst="rect">
            <a:avLst/>
          </a:prstGeom>
        </p:spPr>
        <p:txBody>
          <a:bodyPr wrap="square">
            <a:spAutoFit/>
          </a:bodyPr>
          <a:lstStyle/>
          <a:p>
            <a:pPr lvl="0" algn="ctr">
              <a:lnSpc>
                <a:spcPct val="150000"/>
              </a:lnSpc>
            </a:pPr>
            <a:r>
              <a:rPr lang="zh-CN" altLang="en-US" sz="1200" dirty="0">
                <a:latin typeface="微软雅黑" panose="020B0503020204020204" pitchFamily="34" charset="-122"/>
                <a:ea typeface="微软雅黑" panose="020B0503020204020204" pitchFamily="34" charset="-122"/>
                <a:cs typeface="+mn-ea"/>
                <a:sym typeface="+mn-lt"/>
              </a:rPr>
              <a:t>扣子空间（</a:t>
            </a:r>
            <a:r>
              <a:rPr lang="en-US" altLang="zh-CN" sz="1200" dirty="0" err="1">
                <a:latin typeface="微软雅黑" panose="020B0503020204020204" pitchFamily="34" charset="-122"/>
                <a:ea typeface="微软雅黑" panose="020B0503020204020204" pitchFamily="34" charset="-122"/>
                <a:cs typeface="+mn-ea"/>
                <a:sym typeface="+mn-lt"/>
              </a:rPr>
              <a:t>Coze</a:t>
            </a:r>
            <a:r>
              <a:rPr lang="en-US" altLang="zh-CN" sz="1200" dirty="0">
                <a:latin typeface="微软雅黑" panose="020B0503020204020204" pitchFamily="34" charset="-122"/>
                <a:ea typeface="微软雅黑" panose="020B0503020204020204" pitchFamily="34" charset="-122"/>
                <a:cs typeface="+mn-ea"/>
                <a:sym typeface="+mn-lt"/>
              </a:rPr>
              <a:t> Space</a:t>
            </a:r>
            <a:r>
              <a:rPr lang="zh-CN" altLang="en-US" sz="1200" dirty="0">
                <a:latin typeface="微软雅黑" panose="020B0503020204020204" pitchFamily="34" charset="-122"/>
                <a:ea typeface="微软雅黑" panose="020B0503020204020204" pitchFamily="34" charset="-122"/>
                <a:cs typeface="+mn-ea"/>
                <a:sym typeface="+mn-lt"/>
              </a:rPr>
              <a:t>）是字节跳动推出的通用型 </a:t>
            </a:r>
            <a:r>
              <a:rPr lang="en-US" altLang="zh-CN" sz="1200" dirty="0">
                <a:latin typeface="微软雅黑" panose="020B0503020204020204" pitchFamily="34" charset="-122"/>
                <a:ea typeface="微软雅黑" panose="020B0503020204020204" pitchFamily="34" charset="-122"/>
                <a:cs typeface="+mn-ea"/>
                <a:sym typeface="+mn-lt"/>
              </a:rPr>
              <a:t>AI Agent</a:t>
            </a:r>
            <a:r>
              <a:rPr lang="zh-CN" altLang="en-US" sz="1200" dirty="0">
                <a:latin typeface="微软雅黑" panose="020B0503020204020204" pitchFamily="34" charset="-122"/>
                <a:ea typeface="微软雅黑" panose="020B0503020204020204" pitchFamily="34" charset="-122"/>
                <a:cs typeface="+mn-ea"/>
                <a:sym typeface="+mn-lt"/>
              </a:rPr>
              <a:t>，多功能</a:t>
            </a:r>
            <a:r>
              <a:rPr lang="en-US" altLang="zh-CN" sz="1200" dirty="0">
                <a:latin typeface="微软雅黑" panose="020B0503020204020204" pitchFamily="34" charset="-122"/>
                <a:ea typeface="微软雅黑" panose="020B0503020204020204" pitchFamily="34" charset="-122"/>
                <a:cs typeface="+mn-ea"/>
                <a:sym typeface="+mn-lt"/>
              </a:rPr>
              <a:t>AI</a:t>
            </a:r>
            <a:r>
              <a:rPr lang="zh-CN" altLang="en-US" sz="1200" dirty="0">
                <a:latin typeface="微软雅黑" panose="020B0503020204020204" pitchFamily="34" charset="-122"/>
                <a:ea typeface="微软雅黑" panose="020B0503020204020204" pitchFamily="34" charset="-122"/>
                <a:cs typeface="+mn-ea"/>
                <a:sym typeface="+mn-lt"/>
              </a:rPr>
              <a:t>办公助手通过智能化工具提升用户的工作效率和创造力。</a:t>
            </a:r>
            <a:endParaRPr lang="en-US" altLang="zh-CN" sz="1200" dirty="0">
              <a:latin typeface="微软雅黑" panose="020B0503020204020204" pitchFamily="34" charset="-122"/>
              <a:ea typeface="微软雅黑" panose="020B0503020204020204" pitchFamily="34" charset="-122"/>
              <a:cs typeface="+mn-ea"/>
              <a:sym typeface="+mn-lt"/>
            </a:endParaRPr>
          </a:p>
          <a:p>
            <a:pPr lvl="0" algn="ctr">
              <a:lnSpc>
                <a:spcPct val="150000"/>
              </a:lnSpc>
            </a:pPr>
            <a:r>
              <a:rPr lang="zh-CN" altLang="en-US" sz="1400" b="1" dirty="0">
                <a:latin typeface="微软雅黑" panose="020B0503020204020204" pitchFamily="34" charset="-122"/>
                <a:ea typeface="微软雅黑" panose="020B0503020204020204" pitchFamily="34" charset="-122"/>
                <a:cs typeface="+mn-ea"/>
                <a:sym typeface="+mn-lt"/>
              </a:rPr>
              <a:t>产品功能：</a:t>
            </a:r>
            <a:r>
              <a:rPr lang="zh-CN" altLang="en-US" sz="1200" dirty="0">
                <a:latin typeface="微软雅黑" panose="020B0503020204020204" pitchFamily="34" charset="-122"/>
                <a:ea typeface="微软雅黑" panose="020B0503020204020204" pitchFamily="34" charset="-122"/>
                <a:cs typeface="+mn-ea"/>
                <a:sym typeface="+mn-lt"/>
              </a:rPr>
              <a:t>深度长文写作、生成网页设计、学习研究、</a:t>
            </a:r>
            <a:r>
              <a:rPr lang="en-US" altLang="zh-CN" sz="1200" dirty="0">
                <a:latin typeface="微软雅黑" panose="020B0503020204020204" pitchFamily="34" charset="-122"/>
                <a:ea typeface="微软雅黑" panose="020B0503020204020204" pitchFamily="34" charset="-122"/>
                <a:cs typeface="+mn-ea"/>
                <a:sym typeface="+mn-lt"/>
              </a:rPr>
              <a:t>PPT </a:t>
            </a:r>
            <a:r>
              <a:rPr lang="zh-CN" altLang="en-US" sz="1200" dirty="0">
                <a:latin typeface="微软雅黑" panose="020B0503020204020204" pitchFamily="34" charset="-122"/>
                <a:ea typeface="微软雅黑" panose="020B0503020204020204" pitchFamily="34" charset="-122"/>
                <a:cs typeface="+mn-ea"/>
                <a:sym typeface="+mn-lt"/>
              </a:rPr>
              <a:t>制作、</a:t>
            </a:r>
            <a:r>
              <a:rPr lang="en-US" altLang="zh-CN" sz="1200" dirty="0">
                <a:latin typeface="微软雅黑" panose="020B0503020204020204" pitchFamily="34" charset="-122"/>
                <a:ea typeface="微软雅黑" panose="020B0503020204020204" pitchFamily="34" charset="-122"/>
                <a:cs typeface="+mn-ea"/>
                <a:sym typeface="+mn-lt"/>
              </a:rPr>
              <a:t>AI Agent</a:t>
            </a:r>
            <a:r>
              <a:rPr lang="zh-CN" altLang="en-US" sz="1200" dirty="0">
                <a:latin typeface="微软雅黑" panose="020B0503020204020204" pitchFamily="34" charset="-122"/>
                <a:ea typeface="微软雅黑" panose="020B0503020204020204" pitchFamily="34" charset="-122"/>
                <a:cs typeface="+mn-ea"/>
                <a:sym typeface="+mn-lt"/>
              </a:rPr>
              <a:t>协作生产等。</a:t>
            </a:r>
          </a:p>
        </p:txBody>
      </p:sp>
      <p:sp>
        <p:nvSpPr>
          <p:cNvPr id="33" name="iṡļíḍe"/>
          <p:cNvSpPr txBox="1"/>
          <p:nvPr/>
        </p:nvSpPr>
        <p:spPr bwMode="auto">
          <a:xfrm>
            <a:off x="5025517" y="1137370"/>
            <a:ext cx="2367966" cy="458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30000"/>
              </a:lnSpc>
              <a:defRPr/>
            </a:pP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热门</a:t>
            </a: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AI</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工具推荐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barn(inVertical)">
                                      <p:cBhvr>
                                        <p:cTn id="14" dur="500"/>
                                        <p:tgtEl>
                                          <p:spTgt spid="12"/>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par>
                          <p:cTn id="18" fill="hold">
                            <p:stCondLst>
                              <p:cond delay="1000"/>
                            </p:stCondLst>
                            <p:childTnLst>
                              <p:par>
                                <p:cTn id="19" presetID="16" presetClass="entr" presetSubtype="21"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arn(inVertical)">
                                      <p:cBhvr>
                                        <p:cTn id="24" dur="500"/>
                                        <p:tgtEl>
                                          <p:spTgt spid="19"/>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arn(inVertical)">
                                      <p:cBhvr>
                                        <p:cTn id="27" dur="500"/>
                                        <p:tgtEl>
                                          <p:spTgt spid="20"/>
                                        </p:tgtEl>
                                      </p:cBhvr>
                                    </p:animEffect>
                                  </p:childTnLst>
                                </p:cTn>
                              </p:par>
                            </p:childTnLst>
                          </p:cTn>
                        </p:par>
                        <p:par>
                          <p:cTn id="28" fill="hold">
                            <p:stCondLst>
                              <p:cond delay="1500"/>
                            </p:stCondLst>
                            <p:childTnLst>
                              <p:par>
                                <p:cTn id="29" presetID="16" presetClass="entr" presetSubtype="21" fill="hold"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barn(inVertical)">
                                      <p:cBhvr>
                                        <p:cTn id="31" dur="500"/>
                                        <p:tgtEl>
                                          <p:spTgt spid="27"/>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arn(inVertical)">
                                      <p:cBhvr>
                                        <p:cTn id="34" dur="500"/>
                                        <p:tgtEl>
                                          <p:spTgt spid="31"/>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barn(inVertical)">
                                      <p:cBhvr>
                                        <p:cTn id="37" dur="500"/>
                                        <p:tgtEl>
                                          <p:spTgt spid="32"/>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barn(inVertical)">
                                      <p:cBhvr>
                                        <p:cTn id="4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2" grpId="0"/>
      <p:bldP spid="13" grpId="0"/>
      <p:bldP spid="19" grpId="0"/>
      <p:bldP spid="20" grpId="0"/>
      <p:bldP spid="31" grpId="0"/>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常见</a:t>
            </a:r>
            <a:r>
              <a:rPr lang="en-US" altLang="zh-CN"/>
              <a:t>AI</a:t>
            </a:r>
            <a:r>
              <a:rPr lang="zh-CN" altLang="en-US"/>
              <a:t>工具</a:t>
            </a:r>
          </a:p>
        </p:txBody>
      </p:sp>
      <p:sp>
        <p:nvSpPr>
          <p:cNvPr id="2" name="平行四边形 1"/>
          <p:cNvSpPr/>
          <p:nvPr/>
        </p:nvSpPr>
        <p:spPr>
          <a:xfrm>
            <a:off x="1123608" y="1955980"/>
            <a:ext cx="1907363" cy="57034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3" name="平行四边形 2"/>
          <p:cNvSpPr/>
          <p:nvPr/>
        </p:nvSpPr>
        <p:spPr>
          <a:xfrm>
            <a:off x="2097467" y="1817627"/>
            <a:ext cx="1080000" cy="54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 name="平行四边形 3"/>
          <p:cNvSpPr/>
          <p:nvPr/>
        </p:nvSpPr>
        <p:spPr>
          <a:xfrm>
            <a:off x="1517550" y="2629360"/>
            <a:ext cx="1080000" cy="79932"/>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 name="平行四边形 4"/>
          <p:cNvSpPr/>
          <p:nvPr/>
        </p:nvSpPr>
        <p:spPr>
          <a:xfrm>
            <a:off x="2637467" y="2629360"/>
            <a:ext cx="1080000" cy="36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 name="平行四边形 5"/>
          <p:cNvSpPr/>
          <p:nvPr/>
        </p:nvSpPr>
        <p:spPr>
          <a:xfrm>
            <a:off x="2637467" y="1938876"/>
            <a:ext cx="1080000" cy="36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63588" y="2030172"/>
            <a:ext cx="1780407" cy="436466"/>
          </a:xfrm>
          <a:prstGeom prst="rect">
            <a:avLst/>
          </a:prstGeom>
          <a:noFill/>
        </p:spPr>
        <p:txBody>
          <a:bodyPr wrap="square">
            <a:spAutoFit/>
          </a:bodyPr>
          <a:lstStyle>
            <a:defPPr>
              <a:defRPr lang="zh-CN"/>
            </a:defPPr>
          </a:lstStyle>
          <a:p>
            <a:pPr lvl="0" algn="ctr">
              <a:lnSpc>
                <a:spcPct val="120000"/>
              </a:lnSpc>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通义千问</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8" name="矩形 7"/>
          <p:cNvSpPr/>
          <p:nvPr/>
        </p:nvSpPr>
        <p:spPr>
          <a:xfrm>
            <a:off x="3679367" y="1680934"/>
            <a:ext cx="6588583" cy="1069716"/>
          </a:xfrm>
          <a:prstGeom prst="rect">
            <a:avLst/>
          </a:prstGeom>
        </p:spPr>
        <p:txBody>
          <a:bodyPr wrap="square">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基于强大的通义大模型，具备多模态交互能力，支持文本、图片、文档、音频和视频等多种输入方式。</a:t>
            </a:r>
            <a:endParaRPr lang="en-US" altLang="zh-CN" sz="1400" dirty="0">
              <a:latin typeface="微软雅黑" panose="020B0503020204020204" pitchFamily="34" charset="-122"/>
              <a:ea typeface="微软雅黑" panose="020B0503020204020204" pitchFamily="34" charset="-122"/>
              <a:cs typeface="+mn-ea"/>
              <a:sym typeface="+mn-lt"/>
            </a:endParaRPr>
          </a:p>
          <a:p>
            <a:pPr lvl="0">
              <a:lnSpc>
                <a:spcPct val="150000"/>
              </a:lnSpc>
            </a:pPr>
            <a:r>
              <a:rPr lang="zh-CN" altLang="en-US" sz="1600" b="1" dirty="0">
                <a:latin typeface="微软雅黑" panose="020B0503020204020204" pitchFamily="34" charset="-122"/>
                <a:ea typeface="微软雅黑" panose="020B0503020204020204" pitchFamily="34" charset="-122"/>
                <a:cs typeface="+mn-ea"/>
                <a:sym typeface="+mn-lt"/>
              </a:rPr>
              <a:t>产品功能：</a:t>
            </a:r>
            <a:r>
              <a:rPr lang="zh-CN" altLang="en-US" sz="1400" dirty="0">
                <a:latin typeface="微软雅黑" panose="020B0503020204020204" pitchFamily="34" charset="-122"/>
                <a:ea typeface="微软雅黑" panose="020B0503020204020204" pitchFamily="34" charset="-122"/>
                <a:cs typeface="+mn-ea"/>
                <a:sym typeface="+mn-lt"/>
              </a:rPr>
              <a:t>多模态交互、长文本处理、智能写作、实时翻译、音视频处理等。</a:t>
            </a:r>
          </a:p>
        </p:txBody>
      </p:sp>
      <p:sp>
        <p:nvSpPr>
          <p:cNvPr id="9" name="平行四边形 8"/>
          <p:cNvSpPr/>
          <p:nvPr/>
        </p:nvSpPr>
        <p:spPr>
          <a:xfrm>
            <a:off x="2097467" y="3416838"/>
            <a:ext cx="1907363" cy="57034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0" name="平行四边形 9"/>
          <p:cNvSpPr/>
          <p:nvPr/>
        </p:nvSpPr>
        <p:spPr>
          <a:xfrm>
            <a:off x="3071326" y="3278485"/>
            <a:ext cx="1080000" cy="54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 name="平行四边形 10"/>
          <p:cNvSpPr/>
          <p:nvPr/>
        </p:nvSpPr>
        <p:spPr>
          <a:xfrm>
            <a:off x="2491409" y="4090218"/>
            <a:ext cx="1080000" cy="79932"/>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 name="平行四边形 11"/>
          <p:cNvSpPr/>
          <p:nvPr/>
        </p:nvSpPr>
        <p:spPr>
          <a:xfrm>
            <a:off x="3611326" y="4090218"/>
            <a:ext cx="1080000" cy="36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 name="平行四边形 12"/>
          <p:cNvSpPr/>
          <p:nvPr/>
        </p:nvSpPr>
        <p:spPr>
          <a:xfrm>
            <a:off x="3611326" y="3399734"/>
            <a:ext cx="1080000" cy="36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077289" y="3479272"/>
            <a:ext cx="1796211" cy="436914"/>
          </a:xfrm>
          <a:prstGeom prst="rect">
            <a:avLst/>
          </a:prstGeom>
          <a:noFill/>
        </p:spPr>
        <p:txBody>
          <a:bodyPr wrap="square">
            <a:spAutoFit/>
          </a:bodyPr>
          <a:lstStyle>
            <a:defPPr>
              <a:defRPr lang="zh-CN"/>
            </a:defPPr>
          </a:lstStyle>
          <a:p>
            <a:pPr lvl="0" algn="ctr">
              <a:lnSpc>
                <a:spcPct val="120000"/>
              </a:lnSpc>
              <a:defRPr/>
            </a:pP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Kimi PPT</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6" name="矩形 15"/>
          <p:cNvSpPr/>
          <p:nvPr/>
        </p:nvSpPr>
        <p:spPr>
          <a:xfrm>
            <a:off x="4892880" y="3001288"/>
            <a:ext cx="6588583" cy="1392882"/>
          </a:xfrm>
          <a:prstGeom prst="rect">
            <a:avLst/>
          </a:prstGeom>
        </p:spPr>
        <p:txBody>
          <a:bodyPr wrap="square">
            <a:spAutoFit/>
          </a:bodyPr>
          <a:lstStyle/>
          <a:p>
            <a:pPr lvl="0">
              <a:lnSpc>
                <a:spcPct val="150000"/>
              </a:lnSpc>
            </a:pPr>
            <a:r>
              <a:rPr lang="en-US" altLang="zh-CN" sz="1400" dirty="0">
                <a:latin typeface="微软雅黑" panose="020B0503020204020204" pitchFamily="34" charset="-122"/>
                <a:ea typeface="微软雅黑" panose="020B0503020204020204" pitchFamily="34" charset="-122"/>
                <a:cs typeface="+mn-ea"/>
                <a:sym typeface="+mn-lt"/>
              </a:rPr>
              <a:t>Kimi PPT</a:t>
            </a:r>
            <a:r>
              <a:rPr lang="zh-CN" altLang="en-US" sz="1400" dirty="0">
                <a:latin typeface="微软雅黑" panose="020B0503020204020204" pitchFamily="34" charset="-122"/>
                <a:ea typeface="微软雅黑" panose="020B0503020204020204" pitchFamily="34" charset="-122"/>
                <a:cs typeface="+mn-ea"/>
                <a:sym typeface="+mn-lt"/>
              </a:rPr>
              <a:t>助手，能帮助用户用</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一键生成</a:t>
            </a:r>
            <a:r>
              <a:rPr lang="en-US" altLang="zh-CN" sz="1400" dirty="0">
                <a:latin typeface="微软雅黑" panose="020B0503020204020204" pitchFamily="34" charset="-122"/>
                <a:ea typeface="微软雅黑" panose="020B0503020204020204" pitchFamily="34" charset="-122"/>
                <a:cs typeface="+mn-ea"/>
                <a:sym typeface="+mn-lt"/>
              </a:rPr>
              <a:t>PPT</a:t>
            </a:r>
            <a:r>
              <a:rPr lang="zh-CN" altLang="en-US" sz="1400" dirty="0">
                <a:latin typeface="微软雅黑" panose="020B0503020204020204" pitchFamily="34" charset="-122"/>
                <a:ea typeface="微软雅黑" panose="020B0503020204020204" pitchFamily="34" charset="-122"/>
                <a:cs typeface="+mn-ea"/>
                <a:sym typeface="+mn-lt"/>
              </a:rPr>
              <a:t>演示文稿。用户只需输入主题或详细文本内容，</a:t>
            </a:r>
            <a:r>
              <a:rPr lang="en-US" altLang="zh-CN" sz="1400" dirty="0">
                <a:latin typeface="微软雅黑" panose="020B0503020204020204" pitchFamily="34" charset="-122"/>
                <a:ea typeface="微软雅黑" panose="020B0503020204020204" pitchFamily="34" charset="-122"/>
                <a:cs typeface="+mn-ea"/>
                <a:sym typeface="+mn-lt"/>
              </a:rPr>
              <a:t>Kimi</a:t>
            </a:r>
            <a:r>
              <a:rPr lang="zh-CN" altLang="en-US" sz="1400" dirty="0">
                <a:latin typeface="微软雅黑" panose="020B0503020204020204" pitchFamily="34" charset="-122"/>
                <a:ea typeface="微软雅黑" panose="020B0503020204020204" pitchFamily="34" charset="-122"/>
                <a:cs typeface="+mn-ea"/>
                <a:sym typeface="+mn-lt"/>
              </a:rPr>
              <a:t>能根据这些信息自动生成</a:t>
            </a:r>
            <a:r>
              <a:rPr lang="en-US" altLang="zh-CN" sz="1400" dirty="0">
                <a:latin typeface="微软雅黑" panose="020B0503020204020204" pitchFamily="34" charset="-122"/>
                <a:ea typeface="微软雅黑" panose="020B0503020204020204" pitchFamily="34" charset="-122"/>
                <a:cs typeface="+mn-ea"/>
                <a:sym typeface="+mn-lt"/>
              </a:rPr>
              <a:t>PPT</a:t>
            </a:r>
            <a:r>
              <a:rPr lang="zh-CN" altLang="en-US" sz="1400" dirty="0">
                <a:latin typeface="微软雅黑" panose="020B0503020204020204" pitchFamily="34" charset="-122"/>
                <a:ea typeface="微软雅黑" panose="020B0503020204020204" pitchFamily="34" charset="-122"/>
                <a:cs typeface="+mn-ea"/>
                <a:sym typeface="+mn-lt"/>
              </a:rPr>
              <a:t>的框架和内容。用户可以根据实际需求进行调整和修改。</a:t>
            </a:r>
            <a:endParaRPr lang="en-US" altLang="zh-CN" sz="1400" dirty="0">
              <a:latin typeface="微软雅黑" panose="020B0503020204020204" pitchFamily="34" charset="-122"/>
              <a:ea typeface="微软雅黑" panose="020B0503020204020204" pitchFamily="34" charset="-122"/>
              <a:cs typeface="+mn-ea"/>
              <a:sym typeface="+mn-lt"/>
            </a:endParaRPr>
          </a:p>
          <a:p>
            <a:pPr lvl="0">
              <a:lnSpc>
                <a:spcPct val="150000"/>
              </a:lnSpc>
            </a:pPr>
            <a:r>
              <a:rPr lang="zh-CN" altLang="en-US" sz="1600" b="1" dirty="0">
                <a:latin typeface="微软雅黑" panose="020B0503020204020204" pitchFamily="34" charset="-122"/>
                <a:ea typeface="微软雅黑" panose="020B0503020204020204" pitchFamily="34" charset="-122"/>
                <a:cs typeface="+mn-ea"/>
                <a:sym typeface="+mn-lt"/>
              </a:rPr>
              <a:t>产品功能：</a:t>
            </a:r>
            <a:r>
              <a:rPr lang="zh-CN" altLang="en-US" sz="1400" dirty="0">
                <a:latin typeface="微软雅黑" panose="020B0503020204020204" pitchFamily="34" charset="-122"/>
                <a:ea typeface="微软雅黑" panose="020B0503020204020204" pitchFamily="34" charset="-122"/>
                <a:cs typeface="+mn-ea"/>
                <a:sym typeface="+mn-lt"/>
              </a:rPr>
              <a:t>一键生成</a:t>
            </a:r>
            <a:r>
              <a:rPr lang="en-US" altLang="zh-CN" sz="1400" dirty="0">
                <a:latin typeface="微软雅黑" panose="020B0503020204020204" pitchFamily="34" charset="-122"/>
                <a:ea typeface="微软雅黑" panose="020B0503020204020204" pitchFamily="34" charset="-122"/>
                <a:cs typeface="+mn-ea"/>
                <a:sym typeface="+mn-lt"/>
              </a:rPr>
              <a:t>PPT</a:t>
            </a:r>
            <a:r>
              <a:rPr lang="zh-CN" altLang="en-US" sz="1400" dirty="0">
                <a:latin typeface="微软雅黑" panose="020B0503020204020204" pitchFamily="34" charset="-122"/>
                <a:ea typeface="微软雅黑" panose="020B0503020204020204" pitchFamily="34" charset="-122"/>
                <a:cs typeface="+mn-ea"/>
                <a:sym typeface="+mn-lt"/>
              </a:rPr>
              <a:t>、在线编辑与修改、内容优化与润色、多文件生成等。</a:t>
            </a:r>
          </a:p>
        </p:txBody>
      </p:sp>
      <p:sp>
        <p:nvSpPr>
          <p:cNvPr id="24" name="平行四边形 23"/>
          <p:cNvSpPr/>
          <p:nvPr/>
        </p:nvSpPr>
        <p:spPr>
          <a:xfrm>
            <a:off x="1123608" y="5011879"/>
            <a:ext cx="1907363" cy="570343"/>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25" name="平行四边形 24"/>
          <p:cNvSpPr/>
          <p:nvPr/>
        </p:nvSpPr>
        <p:spPr>
          <a:xfrm>
            <a:off x="2097467" y="4873526"/>
            <a:ext cx="1080000" cy="54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6" name="平行四边形 25"/>
          <p:cNvSpPr/>
          <p:nvPr/>
        </p:nvSpPr>
        <p:spPr>
          <a:xfrm>
            <a:off x="1517550" y="5685259"/>
            <a:ext cx="1080000" cy="79932"/>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7" name="平行四边形 26"/>
          <p:cNvSpPr/>
          <p:nvPr/>
        </p:nvSpPr>
        <p:spPr>
          <a:xfrm>
            <a:off x="2637467" y="5685259"/>
            <a:ext cx="1080000" cy="36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8" name="平行四边形 27"/>
          <p:cNvSpPr/>
          <p:nvPr/>
        </p:nvSpPr>
        <p:spPr>
          <a:xfrm>
            <a:off x="2637467" y="4994775"/>
            <a:ext cx="1080000" cy="36000"/>
          </a:xfrm>
          <a:prstGeom prst="parallelogram">
            <a:avLst>
              <a:gd name="adj" fmla="val 106139"/>
            </a:avLst>
          </a:prstGeom>
          <a:gradFill>
            <a:gsLst>
              <a:gs pos="100000">
                <a:schemeClr val="accent1">
                  <a:alpha val="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1123608" y="5115128"/>
            <a:ext cx="1780407" cy="436466"/>
          </a:xfrm>
          <a:prstGeom prst="rect">
            <a:avLst/>
          </a:prstGeom>
          <a:noFill/>
        </p:spPr>
        <p:txBody>
          <a:bodyPr wrap="square">
            <a:spAutoFit/>
          </a:bodyPr>
          <a:lstStyle>
            <a:defPPr>
              <a:defRPr lang="zh-CN"/>
            </a:defPPr>
          </a:lstStyle>
          <a:p>
            <a:pPr lvl="0" algn="ctr">
              <a:lnSpc>
                <a:spcPct val="120000"/>
              </a:lnSpc>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即梦</a:t>
            </a:r>
            <a:r>
              <a:rPr lang="en-US" altLang="zh-CN" sz="2000" b="1" dirty="0">
                <a:solidFill>
                  <a:schemeClr val="bg1"/>
                </a:solidFill>
                <a:latin typeface="微软雅黑" panose="020B0503020204020204" pitchFamily="34" charset="-122"/>
                <a:ea typeface="微软雅黑" panose="020B0503020204020204" pitchFamily="34" charset="-122"/>
                <a:cs typeface="+mn-ea"/>
                <a:sym typeface="+mn-lt"/>
              </a:rPr>
              <a:t>AI</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0" name="矩形 29"/>
          <p:cNvSpPr/>
          <p:nvPr/>
        </p:nvSpPr>
        <p:spPr>
          <a:xfrm>
            <a:off x="3813210" y="4736456"/>
            <a:ext cx="7255182" cy="1392882"/>
          </a:xfrm>
          <a:prstGeom prst="rect">
            <a:avLst/>
          </a:prstGeom>
        </p:spPr>
        <p:txBody>
          <a:bodyPr wrap="square">
            <a:spAutoFit/>
          </a:bodyPr>
          <a:lstStyle/>
          <a:p>
            <a:pPr lvl="0">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即梦</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，支持</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视频生成和</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图片生成。用户可通过自然语言或图片输入生成高质量的图像和视频。即梦</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提供</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绘画、智能画布、视频生成以及故事创作等多种功能，降低创作门槛，激发用户创意。</a:t>
            </a:r>
            <a:endParaRPr lang="en-US" altLang="zh-CN" sz="1400" dirty="0">
              <a:latin typeface="微软雅黑" panose="020B0503020204020204" pitchFamily="34" charset="-122"/>
              <a:ea typeface="微软雅黑" panose="020B0503020204020204" pitchFamily="34" charset="-122"/>
              <a:cs typeface="+mn-ea"/>
              <a:sym typeface="+mn-lt"/>
            </a:endParaRPr>
          </a:p>
          <a:p>
            <a:pPr lvl="0">
              <a:lnSpc>
                <a:spcPct val="150000"/>
              </a:lnSpc>
            </a:pPr>
            <a:r>
              <a:rPr lang="zh-CN" altLang="en-US" sz="1600" b="1" dirty="0">
                <a:latin typeface="微软雅黑" panose="020B0503020204020204" pitchFamily="34" charset="-122"/>
                <a:ea typeface="微软雅黑" panose="020B0503020204020204" pitchFamily="34" charset="-122"/>
                <a:cs typeface="+mn-ea"/>
                <a:sym typeface="+mn-lt"/>
              </a:rPr>
              <a:t>产品功能：</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图片创作、</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视频创作、</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图片编辑、</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数字人等。</a:t>
            </a:r>
          </a:p>
        </p:txBody>
      </p:sp>
      <p:sp>
        <p:nvSpPr>
          <p:cNvPr id="31" name="iṡļíḍe"/>
          <p:cNvSpPr txBox="1"/>
          <p:nvPr/>
        </p:nvSpPr>
        <p:spPr bwMode="auto">
          <a:xfrm>
            <a:off x="1123608" y="1194264"/>
            <a:ext cx="2367966" cy="458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热门</a:t>
            </a: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AI</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工具推荐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arn(inVertical)">
                                      <p:cBhvr>
                                        <p:cTn id="20" dur="500"/>
                                        <p:tgtEl>
                                          <p:spTgt spid="5"/>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arn(inVertical)">
                                      <p:cBhvr>
                                        <p:cTn id="23" dur="500"/>
                                        <p:tgtEl>
                                          <p:spTgt spid="6"/>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arn(inVertical)">
                                      <p:cBhvr>
                                        <p:cTn id="38" dur="500"/>
                                        <p:tgtEl>
                                          <p:spTgt spid="11"/>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arn(inVertical)">
                                      <p:cBhvr>
                                        <p:cTn id="41" dur="500"/>
                                        <p:tgtEl>
                                          <p:spTgt spid="12"/>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arn(inVertical)">
                                      <p:cBhvr>
                                        <p:cTn id="44" dur="500"/>
                                        <p:tgtEl>
                                          <p:spTgt spid="13"/>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barn(inVertical)">
                                      <p:cBhvr>
                                        <p:cTn id="47" dur="500"/>
                                        <p:tgtEl>
                                          <p:spTgt spid="15"/>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arn(inVertical)">
                                      <p:cBhvr>
                                        <p:cTn id="50" dur="500"/>
                                        <p:tgtEl>
                                          <p:spTgt spid="16"/>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barn(inVertical)">
                                      <p:cBhvr>
                                        <p:cTn id="53" dur="500"/>
                                        <p:tgtEl>
                                          <p:spTgt spid="24"/>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barn(inVertical)">
                                      <p:cBhvr>
                                        <p:cTn id="56" dur="500"/>
                                        <p:tgtEl>
                                          <p:spTgt spid="25"/>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barn(inVertical)">
                                      <p:cBhvr>
                                        <p:cTn id="59" dur="500"/>
                                        <p:tgtEl>
                                          <p:spTgt spid="26"/>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barn(inVertical)">
                                      <p:cBhvr>
                                        <p:cTn id="62" dur="500"/>
                                        <p:tgtEl>
                                          <p:spTgt spid="27"/>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barn(inVertical)">
                                      <p:cBhvr>
                                        <p:cTn id="65" dur="500"/>
                                        <p:tgtEl>
                                          <p:spTgt spid="2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barn(inVertical)">
                                      <p:cBhvr>
                                        <p:cTn id="68" dur="500"/>
                                        <p:tgtEl>
                                          <p:spTgt spid="29"/>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barn(inVertical)">
                                      <p:cBhvr>
                                        <p:cTn id="71" dur="500"/>
                                        <p:tgtEl>
                                          <p:spTgt spid="30"/>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barn(inVertical)">
                                      <p:cBhvr>
                                        <p:cTn id="7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animBg="1"/>
      <p:bldP spid="4" grpId="0" animBg="1"/>
      <p:bldP spid="5" grpId="0" animBg="1"/>
      <p:bldP spid="6" grpId="0" animBg="1"/>
      <p:bldP spid="7" grpId="0"/>
      <p:bldP spid="8" grpId="0"/>
      <p:bldP spid="9" grpId="0" animBg="1"/>
      <p:bldP spid="10" grpId="0" animBg="1"/>
      <p:bldP spid="11" grpId="0" animBg="1"/>
      <p:bldP spid="12" grpId="0" animBg="1"/>
      <p:bldP spid="13" grpId="0" animBg="1"/>
      <p:bldP spid="15" grpId="0"/>
      <p:bldP spid="16" grpId="0"/>
      <p:bldP spid="24" grpId="0" animBg="1"/>
      <p:bldP spid="25" grpId="0" animBg="1"/>
      <p:bldP spid="26" grpId="0" animBg="1"/>
      <p:bldP spid="27" grpId="0" animBg="1"/>
      <p:bldP spid="28" grpId="0" animBg="1"/>
      <p:bldP spid="29" grpId="0"/>
      <p:bldP spid="30"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常见</a:t>
            </a:r>
            <a:r>
              <a:rPr lang="en-US" altLang="zh-CN"/>
              <a:t>AI</a:t>
            </a:r>
            <a:r>
              <a:rPr lang="zh-CN" altLang="en-US"/>
              <a:t>工具</a:t>
            </a:r>
          </a:p>
        </p:txBody>
      </p:sp>
      <p:cxnSp>
        <p:nvCxnSpPr>
          <p:cNvPr id="2" name="直接连接符 1"/>
          <p:cNvCxnSpPr/>
          <p:nvPr/>
        </p:nvCxnSpPr>
        <p:spPr>
          <a:xfrm flipV="1">
            <a:off x="1618693" y="1802572"/>
            <a:ext cx="1203641" cy="5793"/>
          </a:xfrm>
          <a:prstGeom prst="line">
            <a:avLst/>
          </a:prstGeom>
          <a:ln w="63500" cap="rnd">
            <a:gradFill flip="none" rotWithShape="1">
              <a:gsLst>
                <a:gs pos="26000">
                  <a:schemeClr val="accent1">
                    <a:alpha val="0"/>
                  </a:schemeClr>
                </a:gs>
                <a:gs pos="100000">
                  <a:srgbClr val="FFFFFF"/>
                </a:gs>
                <a:gs pos="60000">
                  <a:schemeClr val="accent1"/>
                </a:gs>
              </a:gsLst>
              <a:lin ang="10800000" scaled="1"/>
            </a:gra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479472" y="1225048"/>
            <a:ext cx="2092964" cy="436466"/>
          </a:xfrm>
          <a:prstGeom prst="rect">
            <a:avLst/>
          </a:prstGeom>
          <a:noFill/>
        </p:spPr>
        <p:txBody>
          <a:bodyPr wrap="square">
            <a:spAutoFit/>
          </a:bodyPr>
          <a:lstStyle/>
          <a:p>
            <a:pPr lvl="0">
              <a:lnSpc>
                <a:spcPct val="120000"/>
              </a:lnSpc>
              <a:defRPr/>
            </a:pPr>
            <a:r>
              <a:rPr lang="en-US" altLang="zh-CN" sz="2000" b="1" cap="all" dirty="0">
                <a:solidFill>
                  <a:schemeClr val="accent1"/>
                </a:solidFill>
                <a:latin typeface="微软雅黑" panose="020B0503020204020204" pitchFamily="34" charset="-122"/>
                <a:ea typeface="微软雅黑" panose="020B0503020204020204" pitchFamily="34" charset="-122"/>
                <a:cs typeface="+mn-ea"/>
                <a:sym typeface="思源宋体 CN Heavy" panose="02020900000000000000" pitchFamily="18" charset="-122"/>
              </a:rPr>
              <a:t>Trae </a:t>
            </a:r>
            <a:endParaRPr kumimoji="0" lang="zh-CN" altLang="en-US" sz="2000" b="1" i="0" u="none" strike="noStrike" kern="1200" cap="all"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4" name="文本框 3"/>
          <p:cNvSpPr txBox="1"/>
          <p:nvPr/>
        </p:nvSpPr>
        <p:spPr>
          <a:xfrm>
            <a:off x="1485602" y="1981379"/>
            <a:ext cx="5639098" cy="1397690"/>
          </a:xfrm>
          <a:prstGeom prst="rect">
            <a:avLst/>
          </a:prstGeom>
          <a:noFill/>
        </p:spPr>
        <p:txBody>
          <a:bodyPr wrap="square">
            <a:spAutoFit/>
          </a:bodyPr>
          <a:lstStyle/>
          <a:p>
            <a:pPr lvl="0">
              <a:lnSpc>
                <a:spcPct val="150000"/>
              </a:lnSpc>
              <a:defRPr/>
            </a:pP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是字节跳动推出的一款 </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AI </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原生集成开发环境（</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IDE</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）工具，主要用途是通过人工智能技术辅助开发者更高效地完成编程开发工作。</a:t>
            </a:r>
            <a:endPar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a:p>
            <a:pPr lvl="0">
              <a:lnSpc>
                <a:spcPct val="150000"/>
              </a:lnSpc>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产品功能：</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Builder </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模式、代码自动补全、代码编辑、多模态交互、注释生成等。</a:t>
            </a:r>
          </a:p>
        </p:txBody>
      </p:sp>
      <p:cxnSp>
        <p:nvCxnSpPr>
          <p:cNvPr id="5" name="直接连接符 4"/>
          <p:cNvCxnSpPr/>
          <p:nvPr/>
        </p:nvCxnSpPr>
        <p:spPr>
          <a:xfrm flipV="1">
            <a:off x="1618693" y="4134425"/>
            <a:ext cx="1203641" cy="5793"/>
          </a:xfrm>
          <a:prstGeom prst="line">
            <a:avLst/>
          </a:prstGeom>
          <a:ln w="63500" cap="rnd">
            <a:gradFill flip="none" rotWithShape="1">
              <a:gsLst>
                <a:gs pos="26000">
                  <a:schemeClr val="accent1">
                    <a:alpha val="0"/>
                  </a:schemeClr>
                </a:gs>
                <a:gs pos="100000">
                  <a:srgbClr val="FFFFFF"/>
                </a:gs>
                <a:gs pos="60000">
                  <a:schemeClr val="accent1"/>
                </a:gs>
              </a:gsLst>
              <a:lin ang="10800000" scaled="1"/>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479472" y="3556901"/>
            <a:ext cx="2092964" cy="436466"/>
          </a:xfrm>
          <a:prstGeom prst="rect">
            <a:avLst/>
          </a:prstGeom>
          <a:noFill/>
        </p:spPr>
        <p:txBody>
          <a:bodyPr wrap="square">
            <a:spAutoFit/>
          </a:bodyPr>
          <a:lstStyle/>
          <a:p>
            <a:pPr lvl="0">
              <a:lnSpc>
                <a:spcPct val="120000"/>
              </a:lnSpc>
              <a:defRPr/>
            </a:pPr>
            <a:r>
              <a:rPr lang="en-US" altLang="zh-CN" sz="2000" b="1" cap="all" dirty="0">
                <a:solidFill>
                  <a:schemeClr val="accent1"/>
                </a:solidFill>
                <a:latin typeface="微软雅黑" panose="020B0503020204020204" pitchFamily="34" charset="-122"/>
                <a:ea typeface="微软雅黑" panose="020B0503020204020204" pitchFamily="34" charset="-122"/>
                <a:cs typeface="+mn-ea"/>
                <a:sym typeface="思源宋体 CN Heavy" panose="02020900000000000000" pitchFamily="18" charset="-122"/>
              </a:rPr>
              <a:t>Cursor</a:t>
            </a:r>
            <a:endParaRPr kumimoji="0" lang="zh-CN" altLang="en-US" sz="2000" b="1" i="0" u="none" strike="noStrike" kern="1200" cap="all"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7" name="文本框 6"/>
          <p:cNvSpPr txBox="1"/>
          <p:nvPr/>
        </p:nvSpPr>
        <p:spPr>
          <a:xfrm>
            <a:off x="1485602" y="4313232"/>
            <a:ext cx="5639098" cy="1720856"/>
          </a:xfrm>
          <a:prstGeom prst="rect">
            <a:avLst/>
          </a:prstGeom>
          <a:noFill/>
        </p:spPr>
        <p:txBody>
          <a:bodyPr wrap="square">
            <a:spAutoFit/>
          </a:bodyPr>
          <a:lstStyle/>
          <a:p>
            <a:pPr lvl="0">
              <a:lnSpc>
                <a:spcPct val="150000"/>
              </a:lnSpc>
              <a:defRPr/>
            </a:pP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是</a:t>
            </a:r>
            <a:r>
              <a:rPr lang="en-US" altLang="zh-CN" sz="1400" dirty="0" err="1">
                <a:latin typeface="微软雅黑" panose="020B0503020204020204" pitchFamily="34" charset="-122"/>
                <a:ea typeface="微软雅黑" panose="020B0503020204020204" pitchFamily="34" charset="-122"/>
                <a:cs typeface="+mn-ea"/>
                <a:sym typeface="思源宋体 CN Heavy" panose="02020900000000000000" pitchFamily="18" charset="-122"/>
              </a:rPr>
              <a:t>Anysphere</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公司推出的</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AI</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代码编辑器，基于</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GPT3.5</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GPT4.0</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模型，支持</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Python</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Java</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C#</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JavaScript</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等多语言，通过快捷键操作，实现代码自动生成、编辑、讨论等功能，显著提升开发效率。</a:t>
            </a:r>
            <a:endPar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a:p>
            <a:pPr lvl="0">
              <a:lnSpc>
                <a:spcPct val="150000"/>
              </a:lnSpc>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产品功能：</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代码生成、智能补全、</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Bug</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检测与修复、代码解释、代码优化建议、多语言支持等。</a:t>
            </a:r>
          </a:p>
        </p:txBody>
      </p:sp>
      <p:sp>
        <p:nvSpPr>
          <p:cNvPr id="8" name="iṡļíḍe"/>
          <p:cNvSpPr txBox="1"/>
          <p:nvPr/>
        </p:nvSpPr>
        <p:spPr bwMode="auto">
          <a:xfrm>
            <a:off x="799758" y="1802572"/>
            <a:ext cx="508264" cy="348624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热门</a:t>
            </a: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AI</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工具推荐</a:t>
            </a:r>
          </a:p>
        </p:txBody>
      </p:sp>
      <p:pic>
        <p:nvPicPr>
          <p:cNvPr id="10" name="图片 9"/>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376072" y="1383186"/>
            <a:ext cx="4157116" cy="448421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outHorizontal)">
                                      <p:cBhvr>
                                        <p:cTn id="12" dur="500"/>
                                        <p:tgtEl>
                                          <p:spTgt spid="10"/>
                                        </p:tgtEl>
                                      </p:cBhvr>
                                    </p:animEffect>
                                  </p:childTnLst>
                                </p:cTn>
                              </p:par>
                              <p:par>
                                <p:cTn id="13" presetID="6" presetClass="entr" presetSubtype="16"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ircle(in)">
                                      <p:cBhvr>
                                        <p:cTn id="15" dur="2000"/>
                                        <p:tgtEl>
                                          <p:spTgt spid="2"/>
                                        </p:tgtEl>
                                      </p:cBhvr>
                                    </p:animEffect>
                                  </p:childTnLst>
                                </p:cTn>
                              </p:par>
                              <p:par>
                                <p:cTn id="16" presetID="6" presetClass="entr" presetSubtype="16"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2000"/>
                                        <p:tgtEl>
                                          <p:spTgt spid="3"/>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ircle(in)">
                                      <p:cBhvr>
                                        <p:cTn id="21" dur="2000"/>
                                        <p:tgtEl>
                                          <p:spTgt spid="4"/>
                                        </p:tgtEl>
                                      </p:cBhvr>
                                    </p:animEffect>
                                  </p:childTnLst>
                                </p:cTn>
                              </p:par>
                              <p:par>
                                <p:cTn id="22" presetID="6"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2000"/>
                                        <p:tgtEl>
                                          <p:spTgt spid="5"/>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ircle(in)">
                                      <p:cBhvr>
                                        <p:cTn id="27" dur="2000"/>
                                        <p:tgtEl>
                                          <p:spTgt spid="6"/>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circle(in)">
                                      <p:cBhvr>
                                        <p:cTn id="30" dur="2000"/>
                                        <p:tgtEl>
                                          <p:spTgt spid="7"/>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arn(inVertical)">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3" grpId="0"/>
      <p:bldP spid="4" grpId="0"/>
      <p:bldP spid="6"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orient="vert" sz="quarter" idx="15"/>
          </p:nvPr>
        </p:nvSpPr>
        <p:spPr>
          <a:xfrm flipH="1">
            <a:off x="658812" y="2715060"/>
            <a:ext cx="6732587" cy="1189712"/>
          </a:xfrm>
        </p:spPr>
        <p:txBody>
          <a:bodyPr/>
          <a:lstStyle/>
          <a:p>
            <a:r>
              <a:rPr lang="zh-CN" altLang="en-US"/>
              <a:t>如何与</a:t>
            </a:r>
            <a:r>
              <a:rPr lang="en-US" altLang="zh-CN"/>
              <a:t>AI</a:t>
            </a:r>
            <a:r>
              <a:rPr lang="zh-CN" altLang="en-US"/>
              <a:t>对话</a:t>
            </a:r>
          </a:p>
        </p:txBody>
      </p:sp>
      <p:sp>
        <p:nvSpPr>
          <p:cNvPr id="11" name="文本占位符 10"/>
          <p:cNvSpPr>
            <a:spLocks noGrp="1"/>
          </p:cNvSpPr>
          <p:nvPr>
            <p:ph type="body" orient="vert" sz="quarter" idx="16"/>
          </p:nvPr>
        </p:nvSpPr>
        <p:spPr>
          <a:xfrm flipH="1">
            <a:off x="658811" y="4162381"/>
            <a:ext cx="6372035" cy="856186"/>
          </a:xfrm>
        </p:spPr>
        <p:txBody>
          <a:bodyPr/>
          <a:lstStyle/>
          <a:p>
            <a:r>
              <a:rPr lang="zh-CN" altLang="en-US"/>
              <a:t>智慧浪潮席卷时代，</a:t>
            </a:r>
            <a:r>
              <a:rPr lang="en-US" altLang="zh-CN"/>
              <a:t>AI</a:t>
            </a:r>
            <a:r>
              <a:rPr lang="zh-CN" altLang="en-US"/>
              <a:t>驱动创新变革。精准高效赋能千行万业，让科技更有温度，让未来触手可及。携手人工智能，共创智能新纪元，点亮无限可能！</a:t>
            </a:r>
          </a:p>
        </p:txBody>
      </p:sp>
      <p:sp>
        <p:nvSpPr>
          <p:cNvPr id="16" name="文本占位符 15"/>
          <p:cNvSpPr>
            <a:spLocks noGrp="1"/>
          </p:cNvSpPr>
          <p:nvPr>
            <p:ph type="body" sz="quarter" idx="13"/>
          </p:nvPr>
        </p:nvSpPr>
        <p:spPr>
          <a:xfrm>
            <a:off x="658813" y="1267739"/>
            <a:ext cx="2287587" cy="1189712"/>
          </a:xfrm>
        </p:spPr>
        <p:txBody>
          <a:bodyPr/>
          <a:lstStyle/>
          <a:p>
            <a:r>
              <a:rPr lang="en-US" altLang="zh-CN"/>
              <a:t>03.</a:t>
            </a:r>
            <a:endParaRPr lang="zh-CN" altLang="en-US"/>
          </a:p>
        </p:txBody>
      </p:sp>
      <p:sp>
        <p:nvSpPr>
          <p:cNvPr id="18" name="文本占位符 17"/>
          <p:cNvSpPr>
            <a:spLocks noGrp="1"/>
          </p:cNvSpPr>
          <p:nvPr>
            <p:ph type="body" orient="vert" sz="quarter" idx="17"/>
          </p:nvPr>
        </p:nvSpPr>
        <p:spPr>
          <a:xfrm flipH="1">
            <a:off x="2533650" y="1561946"/>
            <a:ext cx="3562350" cy="710632"/>
          </a:xfrm>
        </p:spPr>
        <p:txBody>
          <a:bodyPr/>
          <a:lstStyle/>
          <a:p>
            <a:r>
              <a:rPr lang="en-US" altLang="zh-CN"/>
              <a:t>PART THREE</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p:cTn id="1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 calcmode="lin" valueType="num">
                                      <p:cBhvr>
                                        <p:cTn id="1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19" dur="500"/>
                                        <p:tgtEl>
                                          <p:spTgt spid="16">
                                            <p:txEl>
                                              <p:pRg st="0" end="0"/>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 calcmode="lin" valueType="num">
                                      <p:cBhvr>
                                        <p:cTn id="22"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6" grpId="0" build="p"/>
      <p:bldP spid="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pic>
        <p:nvPicPr>
          <p:cNvPr id="2" name="图片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658813" y="1307517"/>
            <a:ext cx="6046696" cy="4782305"/>
          </a:xfrm>
          <a:prstGeom prst="rect">
            <a:avLst/>
          </a:prstGeom>
        </p:spPr>
      </p:pic>
      <p:sp>
        <p:nvSpPr>
          <p:cNvPr id="3" name="椭圆 2"/>
          <p:cNvSpPr/>
          <p:nvPr/>
        </p:nvSpPr>
        <p:spPr>
          <a:xfrm>
            <a:off x="2747877" y="3022059"/>
            <a:ext cx="1855282" cy="1855282"/>
          </a:xfrm>
          <a:prstGeom prst="ellipse">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ontserrat ExtraBold" panose="00000900000000000000" charset="0"/>
            </a:endParaRPr>
          </a:p>
        </p:txBody>
      </p:sp>
      <p:sp>
        <p:nvSpPr>
          <p:cNvPr id="4" name="矩形: 圆角 3"/>
          <p:cNvSpPr/>
          <p:nvPr/>
        </p:nvSpPr>
        <p:spPr>
          <a:xfrm flipH="1">
            <a:off x="4082545" y="3282536"/>
            <a:ext cx="7082797" cy="1310846"/>
          </a:xfrm>
          <a:prstGeom prst="roundRect">
            <a:avLst>
              <a:gd name="adj" fmla="val 50000"/>
            </a:avLst>
          </a:prstGeom>
          <a:gradFill>
            <a:gsLst>
              <a:gs pos="0">
                <a:schemeClr val="accent6">
                  <a:lumMod val="50000"/>
                </a:schemeClr>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ontserrat ExtraBold" panose="00000900000000000000" charset="0"/>
            </a:endParaRPr>
          </a:p>
        </p:txBody>
      </p:sp>
      <p:sp>
        <p:nvSpPr>
          <p:cNvPr id="5" name="圆: 空心 4"/>
          <p:cNvSpPr/>
          <p:nvPr/>
        </p:nvSpPr>
        <p:spPr>
          <a:xfrm>
            <a:off x="10955011" y="1307517"/>
            <a:ext cx="496866" cy="496866"/>
          </a:xfrm>
          <a:prstGeom prst="donut">
            <a:avLst>
              <a:gd name="adj" fmla="val 21318"/>
            </a:avLst>
          </a:prstGeom>
          <a:gradFill>
            <a:gsLst>
              <a:gs pos="0">
                <a:schemeClr val="accent1"/>
              </a:gs>
              <a:gs pos="100000">
                <a:schemeClr val="accent6">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ontserrat ExtraBold" panose="00000900000000000000" charset="0"/>
            </a:endParaRPr>
          </a:p>
        </p:txBody>
      </p:sp>
      <p:sp>
        <p:nvSpPr>
          <p:cNvPr id="6" name="矩形: 圆角 5"/>
          <p:cNvSpPr/>
          <p:nvPr/>
        </p:nvSpPr>
        <p:spPr>
          <a:xfrm flipH="1">
            <a:off x="1740658" y="5203308"/>
            <a:ext cx="3833813" cy="511963"/>
          </a:xfrm>
          <a:prstGeom prst="roundRect">
            <a:avLst>
              <a:gd name="adj" fmla="val 50000"/>
            </a:avLst>
          </a:prstGeom>
          <a:gradFill>
            <a:gsLst>
              <a:gs pos="0">
                <a:schemeClr val="accent1"/>
              </a:gs>
              <a:gs pos="100000">
                <a:schemeClr val="accent6">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400" dirty="0">
              <a:solidFill>
                <a:schemeClr val="bg1"/>
              </a:solidFill>
              <a:latin typeface="微软雅黑" panose="020B0503020204020204" pitchFamily="34" charset="-122"/>
              <a:ea typeface="微软雅黑" panose="020B0503020204020204" pitchFamily="34" charset="-122"/>
              <a:cs typeface="Montserrat ExtraBold" panose="00000900000000000000" charset="0"/>
            </a:endParaRPr>
          </a:p>
        </p:txBody>
      </p:sp>
      <p:sp>
        <p:nvSpPr>
          <p:cNvPr id="10" name="椭圆 9"/>
          <p:cNvSpPr/>
          <p:nvPr/>
        </p:nvSpPr>
        <p:spPr>
          <a:xfrm>
            <a:off x="4335289" y="3530930"/>
            <a:ext cx="814058" cy="81405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cs typeface="Montserrat ExtraBold" panose="00000900000000000000" charset="0"/>
            </a:endParaRPr>
          </a:p>
        </p:txBody>
      </p:sp>
      <p:sp>
        <p:nvSpPr>
          <p:cNvPr id="11" name="矩形 10"/>
          <p:cNvSpPr/>
          <p:nvPr/>
        </p:nvSpPr>
        <p:spPr>
          <a:xfrm>
            <a:off x="1931159" y="5227600"/>
            <a:ext cx="3517900" cy="349077"/>
          </a:xfrm>
          <a:prstGeom prst="rect">
            <a:avLst/>
          </a:prstGeom>
        </p:spPr>
        <p:txBody>
          <a:bodyPr wrap="square" lIns="68580" tIns="34290" rIns="68580" bIns="34290">
            <a:noAutofit/>
          </a:bodyPr>
          <a:lstStyle/>
          <a:p>
            <a:pPr lvl="0" algn="ctr">
              <a:lnSpc>
                <a:spcPct val="120000"/>
              </a:lnSpc>
              <a:defRPr/>
            </a:pPr>
            <a:r>
              <a:rPr lang="en-US" altLang="zh-CN" sz="2400" b="1" dirty="0">
                <a:solidFill>
                  <a:schemeClr val="bg1"/>
                </a:solidFill>
                <a:latin typeface="微软雅黑" panose="020B0503020204020204" pitchFamily="34" charset="-122"/>
                <a:ea typeface="微软雅黑" panose="020B0503020204020204" pitchFamily="34" charset="-122"/>
                <a:cs typeface="+mn-ea"/>
                <a:sym typeface="+mn-lt"/>
              </a:rPr>
              <a:t>1.</a:t>
            </a:r>
            <a:r>
              <a:rPr lang="zh-CN" altLang="en-US" sz="2400" b="1" dirty="0">
                <a:solidFill>
                  <a:schemeClr val="bg1"/>
                </a:solidFill>
                <a:latin typeface="微软雅黑" panose="020B0503020204020204" pitchFamily="34" charset="-122"/>
                <a:ea typeface="微软雅黑" panose="020B0503020204020204" pitchFamily="34" charset="-122"/>
                <a:cs typeface="+mn-ea"/>
                <a:sym typeface="+mn-lt"/>
              </a:rPr>
              <a:t>提示词的定义</a:t>
            </a:r>
          </a:p>
        </p:txBody>
      </p:sp>
      <p:sp>
        <p:nvSpPr>
          <p:cNvPr id="12" name="矩形 11"/>
          <p:cNvSpPr/>
          <p:nvPr/>
        </p:nvSpPr>
        <p:spPr>
          <a:xfrm>
            <a:off x="6813089" y="1284811"/>
            <a:ext cx="4141922" cy="1855281"/>
          </a:xfrm>
          <a:prstGeom prst="rect">
            <a:avLst/>
          </a:prstGeom>
        </p:spPr>
        <p:txBody>
          <a:bodyPr wrap="square" lIns="68580" tIns="34290" rIns="68580" bIns="34290">
            <a:noAutofit/>
          </a:bodyPr>
          <a:lstStyle/>
          <a:p>
            <a:pPr lvl="0">
              <a:lnSpc>
                <a:spcPct val="150000"/>
              </a:lnSpc>
            </a:pPr>
            <a:r>
              <a:rPr lang="zh-CN" altLang="en-US" sz="1200" dirty="0">
                <a:latin typeface="微软雅黑" panose="020B0503020204020204" pitchFamily="34" charset="-122"/>
                <a:ea typeface="微软雅黑" panose="020B0503020204020204" pitchFamily="34" charset="-122"/>
                <a:cs typeface="+mn-ea"/>
                <a:sym typeface="+mn-lt"/>
              </a:rPr>
              <a:t>想要</a:t>
            </a:r>
            <a:r>
              <a:rPr lang="en-US" altLang="zh-CN" sz="1200" dirty="0">
                <a:latin typeface="微软雅黑" panose="020B0503020204020204" pitchFamily="34" charset="-122"/>
                <a:ea typeface="微软雅黑" panose="020B0503020204020204" pitchFamily="34" charset="-122"/>
                <a:cs typeface="+mn-ea"/>
                <a:sym typeface="+mn-lt"/>
              </a:rPr>
              <a:t>AI</a:t>
            </a:r>
            <a:r>
              <a:rPr lang="zh-CN" altLang="en-US" sz="1200" dirty="0">
                <a:latin typeface="微软雅黑" panose="020B0503020204020204" pitchFamily="34" charset="-122"/>
                <a:ea typeface="微软雅黑" panose="020B0503020204020204" pitchFamily="34" charset="-122"/>
                <a:cs typeface="+mn-ea"/>
                <a:sym typeface="+mn-lt"/>
              </a:rPr>
              <a:t>成为你得力的工作伙伴，首先要学会如何和它“沟通”，而其中的关键，就是提示词。 </a:t>
            </a:r>
          </a:p>
          <a:p>
            <a:pPr lvl="0">
              <a:lnSpc>
                <a:spcPct val="150000"/>
              </a:lnSpc>
            </a:pPr>
            <a:r>
              <a:rPr lang="zh-CN" altLang="en-US" sz="1200" dirty="0">
                <a:latin typeface="微软雅黑" panose="020B0503020204020204" pitchFamily="34" charset="-122"/>
                <a:ea typeface="微软雅黑" panose="020B0503020204020204" pitchFamily="34" charset="-122"/>
                <a:cs typeface="+mn-ea"/>
                <a:sym typeface="+mn-lt"/>
              </a:rPr>
              <a:t>提示词是指在与人工智能助手、聊天机器人或任何需要用户输入才能生成响应的系统交互时，由用户提供的初始文本或指令。目前主流的大模型，例如</a:t>
            </a:r>
            <a:r>
              <a:rPr lang="en-US" altLang="zh-CN" sz="1200" dirty="0">
                <a:latin typeface="微软雅黑" panose="020B0503020204020204" pitchFamily="34" charset="-122"/>
                <a:ea typeface="微软雅黑" panose="020B0503020204020204" pitchFamily="34" charset="-122"/>
                <a:cs typeface="+mn-ea"/>
                <a:sym typeface="+mn-lt"/>
              </a:rPr>
              <a:t>ChatGPT</a:t>
            </a:r>
            <a:r>
              <a:rPr lang="zh-CN" altLang="en-US" sz="1200" dirty="0">
                <a:latin typeface="微软雅黑" panose="020B0503020204020204" pitchFamily="34" charset="-122"/>
                <a:ea typeface="微软雅黑" panose="020B0503020204020204" pitchFamily="34" charset="-122"/>
                <a:cs typeface="+mn-ea"/>
                <a:sym typeface="+mn-lt"/>
              </a:rPr>
              <a:t>、文言一心、</a:t>
            </a:r>
            <a:r>
              <a:rPr lang="en-US" altLang="zh-CN" sz="1200" dirty="0">
                <a:latin typeface="微软雅黑" panose="020B0503020204020204" pitchFamily="34" charset="-122"/>
                <a:ea typeface="微软雅黑" panose="020B0503020204020204" pitchFamily="34" charset="-122"/>
                <a:cs typeface="+mn-ea"/>
                <a:sym typeface="+mn-lt"/>
              </a:rPr>
              <a:t>Kimi</a:t>
            </a:r>
            <a:r>
              <a:rPr lang="zh-CN" altLang="en-US" sz="1200" dirty="0">
                <a:latin typeface="微软雅黑" panose="020B0503020204020204" pitchFamily="34" charset="-122"/>
                <a:ea typeface="微软雅黑" panose="020B0503020204020204" pitchFamily="34" charset="-122"/>
                <a:cs typeface="+mn-ea"/>
                <a:sym typeface="+mn-lt"/>
              </a:rPr>
              <a:t>等，都是基于深度学习技术，通过海量数据的训练，学习和掌握语言的规律和模式的。</a:t>
            </a:r>
          </a:p>
        </p:txBody>
      </p:sp>
      <p:sp>
        <p:nvSpPr>
          <p:cNvPr id="13" name="iconfont-11432-4397104"/>
          <p:cNvSpPr>
            <a:spLocks noChangeAspect="1"/>
          </p:cNvSpPr>
          <p:nvPr/>
        </p:nvSpPr>
        <p:spPr>
          <a:xfrm>
            <a:off x="4577852" y="3777855"/>
            <a:ext cx="328931" cy="354299"/>
          </a:xfrm>
          <a:custGeom>
            <a:avLst/>
            <a:gdLst>
              <a:gd name="connsiteX0" fmla="*/ 195226 w 495208"/>
              <a:gd name="connsiteY0" fmla="*/ 381028 h 533400"/>
              <a:gd name="connsiteX1" fmla="*/ 385691 w 495208"/>
              <a:gd name="connsiteY1" fmla="*/ 381028 h 533400"/>
              <a:gd name="connsiteX2" fmla="*/ 409499 w 495208"/>
              <a:gd name="connsiteY2" fmla="*/ 404836 h 533400"/>
              <a:gd name="connsiteX3" fmla="*/ 385691 w 495208"/>
              <a:gd name="connsiteY3" fmla="*/ 428644 h 533400"/>
              <a:gd name="connsiteX4" fmla="*/ 195226 w 495208"/>
              <a:gd name="connsiteY4" fmla="*/ 428644 h 533400"/>
              <a:gd name="connsiteX5" fmla="*/ 171418 w 495208"/>
              <a:gd name="connsiteY5" fmla="*/ 404836 h 533400"/>
              <a:gd name="connsiteX6" fmla="*/ 195226 w 495208"/>
              <a:gd name="connsiteY6" fmla="*/ 381028 h 533400"/>
              <a:gd name="connsiteX7" fmla="*/ 195226 w 495208"/>
              <a:gd name="connsiteY7" fmla="*/ 242842 h 533400"/>
              <a:gd name="connsiteX8" fmla="*/ 385691 w 495208"/>
              <a:gd name="connsiteY8" fmla="*/ 242842 h 533400"/>
              <a:gd name="connsiteX9" fmla="*/ 409499 w 495208"/>
              <a:gd name="connsiteY9" fmla="*/ 266650 h 533400"/>
              <a:gd name="connsiteX10" fmla="*/ 385691 w 495208"/>
              <a:gd name="connsiteY10" fmla="*/ 290458 h 533400"/>
              <a:gd name="connsiteX11" fmla="*/ 195226 w 495208"/>
              <a:gd name="connsiteY11" fmla="*/ 290458 h 533400"/>
              <a:gd name="connsiteX12" fmla="*/ 171418 w 495208"/>
              <a:gd name="connsiteY12" fmla="*/ 266650 h 533400"/>
              <a:gd name="connsiteX13" fmla="*/ 195226 w 495208"/>
              <a:gd name="connsiteY13" fmla="*/ 242842 h 533400"/>
              <a:gd name="connsiteX14" fmla="*/ 195226 w 495208"/>
              <a:gd name="connsiteY14" fmla="*/ 104756 h 533400"/>
              <a:gd name="connsiteX15" fmla="*/ 385691 w 495208"/>
              <a:gd name="connsiteY15" fmla="*/ 104756 h 533400"/>
              <a:gd name="connsiteX16" fmla="*/ 409499 w 495208"/>
              <a:gd name="connsiteY16" fmla="*/ 128564 h 533400"/>
              <a:gd name="connsiteX17" fmla="*/ 385691 w 495208"/>
              <a:gd name="connsiteY17" fmla="*/ 152372 h 533400"/>
              <a:gd name="connsiteX18" fmla="*/ 195226 w 495208"/>
              <a:gd name="connsiteY18" fmla="*/ 152372 h 533400"/>
              <a:gd name="connsiteX19" fmla="*/ 171418 w 495208"/>
              <a:gd name="connsiteY19" fmla="*/ 128564 h 533400"/>
              <a:gd name="connsiteX20" fmla="*/ 195226 w 495208"/>
              <a:gd name="connsiteY20" fmla="*/ 104756 h 533400"/>
              <a:gd name="connsiteX21" fmla="*/ 71424 w 495208"/>
              <a:gd name="connsiteY21" fmla="*/ 47625 h 533400"/>
              <a:gd name="connsiteX22" fmla="*/ 47616 w 495208"/>
              <a:gd name="connsiteY22" fmla="*/ 71438 h 533400"/>
              <a:gd name="connsiteX23" fmla="*/ 47616 w 495208"/>
              <a:gd name="connsiteY23" fmla="*/ 461962 h 533400"/>
              <a:gd name="connsiteX24" fmla="*/ 71424 w 495208"/>
              <a:gd name="connsiteY24" fmla="*/ 485775 h 533400"/>
              <a:gd name="connsiteX25" fmla="*/ 423784 w 495208"/>
              <a:gd name="connsiteY25" fmla="*/ 485775 h 533400"/>
              <a:gd name="connsiteX26" fmla="*/ 447592 w 495208"/>
              <a:gd name="connsiteY26" fmla="*/ 461962 h 533400"/>
              <a:gd name="connsiteX27" fmla="*/ 447592 w 495208"/>
              <a:gd name="connsiteY27" fmla="*/ 71438 h 533400"/>
              <a:gd name="connsiteX28" fmla="*/ 423784 w 495208"/>
              <a:gd name="connsiteY28" fmla="*/ 47625 h 533400"/>
              <a:gd name="connsiteX29" fmla="*/ 41664 w 495208"/>
              <a:gd name="connsiteY29" fmla="*/ 0 h 533400"/>
              <a:gd name="connsiteX30" fmla="*/ 453544 w 495208"/>
              <a:gd name="connsiteY30" fmla="*/ 0 h 533400"/>
              <a:gd name="connsiteX31" fmla="*/ 495208 w 495208"/>
              <a:gd name="connsiteY31" fmla="*/ 41672 h 533400"/>
              <a:gd name="connsiteX32" fmla="*/ 495208 w 495208"/>
              <a:gd name="connsiteY32" fmla="*/ 491728 h 533400"/>
              <a:gd name="connsiteX33" fmla="*/ 453544 w 495208"/>
              <a:gd name="connsiteY33" fmla="*/ 533400 h 533400"/>
              <a:gd name="connsiteX34" fmla="*/ 41664 w 495208"/>
              <a:gd name="connsiteY34" fmla="*/ 533400 h 533400"/>
              <a:gd name="connsiteX35" fmla="*/ 0 w 495208"/>
              <a:gd name="connsiteY35" fmla="*/ 491728 h 533400"/>
              <a:gd name="connsiteX36" fmla="*/ 0 w 495208"/>
              <a:gd name="connsiteY36" fmla="*/ 41672 h 533400"/>
              <a:gd name="connsiteX37" fmla="*/ 41664 w 495208"/>
              <a:gd name="connsiteY37"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5208" h="533400">
                <a:moveTo>
                  <a:pt x="195226" y="381028"/>
                </a:moveTo>
                <a:lnTo>
                  <a:pt x="385691" y="381028"/>
                </a:lnTo>
                <a:cubicBezTo>
                  <a:pt x="398833" y="381028"/>
                  <a:pt x="409499" y="391694"/>
                  <a:pt x="409499" y="404836"/>
                </a:cubicBezTo>
                <a:cubicBezTo>
                  <a:pt x="409499" y="417978"/>
                  <a:pt x="398833" y="428644"/>
                  <a:pt x="385691" y="428644"/>
                </a:cubicBezTo>
                <a:lnTo>
                  <a:pt x="195226" y="428644"/>
                </a:lnTo>
                <a:cubicBezTo>
                  <a:pt x="182084" y="428644"/>
                  <a:pt x="171418" y="417978"/>
                  <a:pt x="171418" y="404836"/>
                </a:cubicBezTo>
                <a:cubicBezTo>
                  <a:pt x="171418" y="391694"/>
                  <a:pt x="182084" y="381028"/>
                  <a:pt x="195226" y="381028"/>
                </a:cubicBezTo>
                <a:close/>
                <a:moveTo>
                  <a:pt x="195226" y="242842"/>
                </a:moveTo>
                <a:lnTo>
                  <a:pt x="385691" y="242842"/>
                </a:lnTo>
                <a:cubicBezTo>
                  <a:pt x="398833" y="242842"/>
                  <a:pt x="409499" y="253508"/>
                  <a:pt x="409499" y="266650"/>
                </a:cubicBezTo>
                <a:cubicBezTo>
                  <a:pt x="409499" y="279792"/>
                  <a:pt x="398833" y="290458"/>
                  <a:pt x="385691" y="290458"/>
                </a:cubicBezTo>
                <a:lnTo>
                  <a:pt x="195226" y="290458"/>
                </a:lnTo>
                <a:cubicBezTo>
                  <a:pt x="182084" y="290458"/>
                  <a:pt x="171418" y="279792"/>
                  <a:pt x="171418" y="266650"/>
                </a:cubicBezTo>
                <a:cubicBezTo>
                  <a:pt x="171418" y="253508"/>
                  <a:pt x="182084" y="242842"/>
                  <a:pt x="195226" y="242842"/>
                </a:cubicBezTo>
                <a:close/>
                <a:moveTo>
                  <a:pt x="195226" y="104756"/>
                </a:moveTo>
                <a:lnTo>
                  <a:pt x="385691" y="104756"/>
                </a:lnTo>
                <a:cubicBezTo>
                  <a:pt x="398833" y="104756"/>
                  <a:pt x="409499" y="115422"/>
                  <a:pt x="409499" y="128564"/>
                </a:cubicBezTo>
                <a:cubicBezTo>
                  <a:pt x="409499" y="141706"/>
                  <a:pt x="398833" y="152372"/>
                  <a:pt x="385691" y="152372"/>
                </a:cubicBezTo>
                <a:lnTo>
                  <a:pt x="195226" y="152372"/>
                </a:lnTo>
                <a:cubicBezTo>
                  <a:pt x="182084" y="152372"/>
                  <a:pt x="171418" y="141706"/>
                  <a:pt x="171418" y="128564"/>
                </a:cubicBezTo>
                <a:cubicBezTo>
                  <a:pt x="171418" y="115422"/>
                  <a:pt x="182084" y="104756"/>
                  <a:pt x="195226" y="104756"/>
                </a:cubicBezTo>
                <a:close/>
                <a:moveTo>
                  <a:pt x="71424" y="47625"/>
                </a:moveTo>
                <a:cubicBezTo>
                  <a:pt x="58282" y="47625"/>
                  <a:pt x="47616" y="58293"/>
                  <a:pt x="47616" y="71438"/>
                </a:cubicBezTo>
                <a:lnTo>
                  <a:pt x="47616" y="461962"/>
                </a:lnTo>
                <a:cubicBezTo>
                  <a:pt x="47616" y="475107"/>
                  <a:pt x="58282" y="485775"/>
                  <a:pt x="71424" y="485775"/>
                </a:cubicBezTo>
                <a:lnTo>
                  <a:pt x="423784" y="485775"/>
                </a:lnTo>
                <a:cubicBezTo>
                  <a:pt x="436926" y="485775"/>
                  <a:pt x="447592" y="475107"/>
                  <a:pt x="447592" y="461962"/>
                </a:cubicBezTo>
                <a:lnTo>
                  <a:pt x="447592" y="71438"/>
                </a:lnTo>
                <a:cubicBezTo>
                  <a:pt x="447592" y="58293"/>
                  <a:pt x="436926" y="47625"/>
                  <a:pt x="423784" y="47625"/>
                </a:cubicBezTo>
                <a:close/>
                <a:moveTo>
                  <a:pt x="41664" y="0"/>
                </a:moveTo>
                <a:lnTo>
                  <a:pt x="453544" y="0"/>
                </a:lnTo>
                <a:cubicBezTo>
                  <a:pt x="476543" y="0"/>
                  <a:pt x="495208" y="18669"/>
                  <a:pt x="495208" y="41672"/>
                </a:cubicBezTo>
                <a:lnTo>
                  <a:pt x="495208" y="491728"/>
                </a:lnTo>
                <a:cubicBezTo>
                  <a:pt x="495208" y="514731"/>
                  <a:pt x="476543" y="533400"/>
                  <a:pt x="453544" y="533400"/>
                </a:cubicBezTo>
                <a:lnTo>
                  <a:pt x="41664" y="533400"/>
                </a:lnTo>
                <a:cubicBezTo>
                  <a:pt x="18666" y="533400"/>
                  <a:pt x="0" y="514731"/>
                  <a:pt x="0" y="491728"/>
                </a:cubicBezTo>
                <a:lnTo>
                  <a:pt x="0" y="41672"/>
                </a:lnTo>
                <a:cubicBezTo>
                  <a:pt x="0" y="18669"/>
                  <a:pt x="18666" y="0"/>
                  <a:pt x="4166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5" name="矩形 14"/>
          <p:cNvSpPr/>
          <p:nvPr/>
        </p:nvSpPr>
        <p:spPr>
          <a:xfrm>
            <a:off x="5449059" y="3608063"/>
            <a:ext cx="5314667" cy="683274"/>
          </a:xfrm>
          <a:prstGeom prst="rect">
            <a:avLst/>
          </a:prstGeom>
        </p:spPr>
        <p:txBody>
          <a:bodyPr wrap="square" lIns="68580" tIns="34290" rIns="68580" bIns="34290">
            <a:noAutofit/>
          </a:bodyPr>
          <a:lstStyle/>
          <a:p>
            <a:pPr lvl="0">
              <a:lnSpc>
                <a:spcPct val="150000"/>
              </a:lnSpc>
            </a:pPr>
            <a:r>
              <a:rPr lang="zh-CN" altLang="en-US" sz="1200" dirty="0">
                <a:solidFill>
                  <a:schemeClr val="bg1"/>
                </a:solidFill>
                <a:latin typeface="微软雅黑" panose="020B0503020204020204" pitchFamily="34" charset="-122"/>
                <a:ea typeface="微软雅黑" panose="020B0503020204020204" pitchFamily="34" charset="-122"/>
                <a:cs typeface="+mn-ea"/>
                <a:sym typeface="+mn-lt"/>
              </a:rPr>
              <a:t>提示词工程是通过设计清晰、明确、具体的指令，引导大模型理解你的需求，并在其知识库中找到最合适的路径，最终生成你想要的结果。</a:t>
            </a:r>
          </a:p>
        </p:txBody>
      </p:sp>
      <p:sp>
        <p:nvSpPr>
          <p:cNvPr id="16" name="矩形 15"/>
          <p:cNvSpPr/>
          <p:nvPr/>
        </p:nvSpPr>
        <p:spPr>
          <a:xfrm>
            <a:off x="6813088" y="4727863"/>
            <a:ext cx="4638789" cy="1310845"/>
          </a:xfrm>
          <a:prstGeom prst="rect">
            <a:avLst/>
          </a:prstGeom>
        </p:spPr>
        <p:txBody>
          <a:bodyPr wrap="square" lIns="68580" tIns="34290" rIns="68580" bIns="34290">
            <a:noAutofit/>
          </a:bodyPr>
          <a:lstStyle/>
          <a:p>
            <a:pPr lvl="0">
              <a:lnSpc>
                <a:spcPct val="150000"/>
              </a:lnSpc>
            </a:pPr>
            <a:r>
              <a:rPr lang="zh-CN" altLang="en-US" sz="1200" dirty="0">
                <a:latin typeface="微软雅黑" panose="020B0503020204020204" pitchFamily="34" charset="-122"/>
                <a:ea typeface="微软雅黑" panose="020B0503020204020204" pitchFamily="34" charset="-122"/>
                <a:cs typeface="+mn-ea"/>
                <a:sym typeface="+mn-lt"/>
              </a:rPr>
              <a:t>⼀个精心设计的提示词可以有效地引导大模型的注意力，使其关注我们想要解决的问题，并调用相关的知识和信息进行处理。而模糊、宽泛或错误的提示词，则可能导致大模型“迷失方向”，无法准确理解我们的意图，最终生成不符合预期结果的输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arn(inVertical)">
                                      <p:cBhvr>
                                        <p:cTn id="26" dur="500"/>
                                        <p:tgtEl>
                                          <p:spTgt spid="3"/>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arn(inVertical)">
                                      <p:cBhvr>
                                        <p:cTn id="29" dur="500"/>
                                        <p:tgtEl>
                                          <p:spTgt spid="4"/>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inVertical)">
                                      <p:cBhvr>
                                        <p:cTn id="32" dur="500"/>
                                        <p:tgtEl>
                                          <p:spTgt spid="5"/>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arn(inVertical)">
                                      <p:cBhvr>
                                        <p:cTn id="35" dur="500"/>
                                        <p:tgtEl>
                                          <p:spTgt spid="6"/>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arn(inVertical)">
                                      <p:cBhvr>
                                        <p:cTn id="38" dur="500"/>
                                        <p:tgtEl>
                                          <p:spTgt spid="10"/>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inVertical)">
                                      <p:cBhvr>
                                        <p:cTn id="41" dur="500"/>
                                        <p:tgtEl>
                                          <p:spTgt spid="15"/>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arn(inVertical)">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3" grpId="0" animBg="1"/>
      <p:bldP spid="4" grpId="0" animBg="1"/>
      <p:bldP spid="5" grpId="0" animBg="1"/>
      <p:bldP spid="6" grpId="0" animBg="1"/>
      <p:bldP spid="10" grpId="0" animBg="1"/>
      <p:bldP spid="11" grpId="0"/>
      <p:bldP spid="12" grpId="0"/>
      <p:bldP spid="13" grpId="0" animBg="1"/>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grpSp>
        <p:nvGrpSpPr>
          <p:cNvPr id="6" name="组合 5"/>
          <p:cNvGrpSpPr/>
          <p:nvPr/>
        </p:nvGrpSpPr>
        <p:grpSpPr>
          <a:xfrm>
            <a:off x="840830" y="1716012"/>
            <a:ext cx="10510342" cy="3540434"/>
            <a:chOff x="2496231" y="1396314"/>
            <a:chExt cx="7103493" cy="2599683"/>
          </a:xfrm>
        </p:grpSpPr>
        <p:grpSp>
          <p:nvGrpSpPr>
            <p:cNvPr id="7" name="组合 6"/>
            <p:cNvGrpSpPr/>
            <p:nvPr/>
          </p:nvGrpSpPr>
          <p:grpSpPr>
            <a:xfrm>
              <a:off x="7734556" y="1396314"/>
              <a:ext cx="1865168" cy="2599683"/>
              <a:chOff x="7734556" y="1396314"/>
              <a:chExt cx="1865168" cy="2599683"/>
            </a:xfrm>
          </p:grpSpPr>
          <p:cxnSp>
            <p:nvCxnSpPr>
              <p:cNvPr id="15" name="直接连接符 14"/>
              <p:cNvCxnSpPr/>
              <p:nvPr/>
            </p:nvCxnSpPr>
            <p:spPr>
              <a:xfrm flipH="1">
                <a:off x="7734556" y="3064108"/>
                <a:ext cx="1865168" cy="931889"/>
              </a:xfrm>
              <a:prstGeom prst="line">
                <a:avLst/>
              </a:prstGeom>
              <a:ln w="12700">
                <a:gradFill>
                  <a:gsLst>
                    <a:gs pos="10000">
                      <a:schemeClr val="accent6">
                        <a:alpha val="60000"/>
                      </a:schemeClr>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072563" y="2353351"/>
                <a:ext cx="480860" cy="533356"/>
              </a:xfrm>
              <a:prstGeom prst="line">
                <a:avLst/>
              </a:prstGeom>
              <a:ln w="12700">
                <a:gradFill>
                  <a:gsLst>
                    <a:gs pos="10000">
                      <a:schemeClr val="accent6">
                        <a:alpha val="60000"/>
                      </a:schemeClr>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8722798" y="1833261"/>
                <a:ext cx="437378" cy="699703"/>
              </a:xfrm>
              <a:prstGeom prst="line">
                <a:avLst/>
              </a:prstGeom>
              <a:ln w="12700">
                <a:gradFill>
                  <a:gsLst>
                    <a:gs pos="10000">
                      <a:schemeClr val="accent6"/>
                    </a:gs>
                    <a:gs pos="0">
                      <a:schemeClr val="bg1"/>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508865" y="3409291"/>
                <a:ext cx="849020" cy="293353"/>
              </a:xfrm>
              <a:prstGeom prst="line">
                <a:avLst/>
              </a:prstGeom>
              <a:ln w="12700">
                <a:gradFill>
                  <a:gsLst>
                    <a:gs pos="10000">
                      <a:schemeClr val="accent6">
                        <a:alpha val="60000"/>
                      </a:schemeClr>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327381" y="1396314"/>
                <a:ext cx="248208" cy="765947"/>
              </a:xfrm>
              <a:prstGeom prst="line">
                <a:avLst/>
              </a:prstGeom>
              <a:ln w="12700">
                <a:gradFill>
                  <a:gsLst>
                    <a:gs pos="10000">
                      <a:schemeClr val="accent6"/>
                    </a:gs>
                    <a:gs pos="0">
                      <a:schemeClr val="bg1"/>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flipH="1">
              <a:off x="2496231" y="1396314"/>
              <a:ext cx="1865168" cy="2599683"/>
              <a:chOff x="7734556" y="1396314"/>
              <a:chExt cx="1865168" cy="2599683"/>
            </a:xfrm>
          </p:grpSpPr>
          <p:cxnSp>
            <p:nvCxnSpPr>
              <p:cNvPr id="9" name="直接连接符 8"/>
              <p:cNvCxnSpPr/>
              <p:nvPr/>
            </p:nvCxnSpPr>
            <p:spPr>
              <a:xfrm flipH="1">
                <a:off x="7734556" y="3064108"/>
                <a:ext cx="1865168" cy="931889"/>
              </a:xfrm>
              <a:prstGeom prst="line">
                <a:avLst/>
              </a:prstGeom>
              <a:ln w="12700">
                <a:gradFill>
                  <a:gsLst>
                    <a:gs pos="10000">
                      <a:schemeClr val="accent6">
                        <a:alpha val="60000"/>
                      </a:schemeClr>
                    </a:gs>
                    <a:gs pos="0">
                      <a:schemeClr val="bg1"/>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9072563" y="2353351"/>
                <a:ext cx="480860" cy="533356"/>
              </a:xfrm>
              <a:prstGeom prst="line">
                <a:avLst/>
              </a:prstGeom>
              <a:ln w="12700">
                <a:gradFill>
                  <a:gsLst>
                    <a:gs pos="10000">
                      <a:schemeClr val="accent6">
                        <a:alpha val="60000"/>
                      </a:schemeClr>
                    </a:gs>
                    <a:gs pos="0">
                      <a:schemeClr val="bg1"/>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8722798" y="1833261"/>
                <a:ext cx="437378" cy="699703"/>
              </a:xfrm>
              <a:prstGeom prst="line">
                <a:avLst/>
              </a:prstGeom>
              <a:ln w="12700">
                <a:gradFill>
                  <a:gsLst>
                    <a:gs pos="10000">
                      <a:schemeClr val="accent6"/>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8508865" y="3409291"/>
                <a:ext cx="849020" cy="293353"/>
              </a:xfrm>
              <a:prstGeom prst="line">
                <a:avLst/>
              </a:prstGeom>
              <a:ln w="12700">
                <a:gradFill>
                  <a:gsLst>
                    <a:gs pos="10000">
                      <a:schemeClr val="accent6">
                        <a:alpha val="60000"/>
                      </a:schemeClr>
                    </a:gs>
                    <a:gs pos="0">
                      <a:schemeClr val="bg1"/>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8327381" y="1396314"/>
                <a:ext cx="248208" cy="765947"/>
              </a:xfrm>
              <a:prstGeom prst="line">
                <a:avLst/>
              </a:prstGeom>
              <a:ln w="12700">
                <a:gradFill>
                  <a:gsLst>
                    <a:gs pos="10000">
                      <a:schemeClr val="accent6"/>
                    </a:gs>
                    <a:gs pos="100000">
                      <a:schemeClr val="accent6">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31" name="文本框 30"/>
          <p:cNvSpPr txBox="1"/>
          <p:nvPr/>
        </p:nvSpPr>
        <p:spPr>
          <a:xfrm>
            <a:off x="2202667" y="1601554"/>
            <a:ext cx="8021100" cy="3083921"/>
          </a:xfrm>
          <a:prstGeom prst="rect">
            <a:avLst/>
          </a:prstGeom>
        </p:spPr>
        <p:txBody>
          <a:bodyPr vert="horz" lIns="91440" tIns="45720" rIns="91440" bIns="45720" rtlCol="0" anchor="ctr">
            <a:noAutofit/>
          </a:bodyPr>
          <a:lstStyle>
            <a:lvl1pPr indent="0">
              <a:lnSpc>
                <a:spcPct val="90000"/>
              </a:lnSpc>
              <a:spcBef>
                <a:spcPct val="0"/>
              </a:spcBef>
              <a:buFont typeface="Arial" panose="020B0604020202020204" pitchFamily="34" charset="0"/>
              <a:buNone/>
              <a:defRPr lang="zh-CN" altLang="en-US" sz="7200" b="0" spc="0" baseline="0" smtClean="0">
                <a:solidFill>
                  <a:schemeClr val="bg1"/>
                </a:solidFill>
                <a:effectLst/>
                <a:latin typeface="+mj-ea"/>
                <a:ea typeface="+mj-ea"/>
              </a:defRPr>
            </a:lvl1pPr>
            <a:lvl2pPr marL="685800" indent="-228600">
              <a:lnSpc>
                <a:spcPct val="90000"/>
              </a:lnSpc>
              <a:spcBef>
                <a:spcPts val="500"/>
              </a:spcBef>
              <a:buFont typeface="Arial" panose="020B0604020202020204" pitchFamily="34" charset="0"/>
              <a:buNone/>
              <a:defRPr sz="2400">
                <a:latin typeface="思源黑体 CN Normal" panose="020B0400000000000000" pitchFamily="34" charset="-122"/>
              </a:defRPr>
            </a:lvl2pPr>
            <a:lvl3pPr marL="1143000" indent="-228600">
              <a:lnSpc>
                <a:spcPct val="90000"/>
              </a:lnSpc>
              <a:spcBef>
                <a:spcPts val="500"/>
              </a:spcBef>
              <a:buFont typeface="Arial" panose="020B0604020202020204" pitchFamily="34" charset="0"/>
              <a:buChar char="•"/>
              <a:defRPr sz="2000">
                <a:latin typeface="思源黑体 CN Normal" panose="020B0400000000000000" pitchFamily="34" charset="-122"/>
              </a:defRPr>
            </a:lvl3pPr>
            <a:lvl4pPr marL="1600200" indent="-228600">
              <a:lnSpc>
                <a:spcPct val="90000"/>
              </a:lnSpc>
              <a:spcBef>
                <a:spcPts val="500"/>
              </a:spcBef>
              <a:buFont typeface="Arial" panose="020B0604020202020204" pitchFamily="34" charset="0"/>
              <a:buChar char="•"/>
              <a:defRPr>
                <a:latin typeface="思源黑体 CN Normal" panose="020B0400000000000000" pitchFamily="34" charset="-122"/>
              </a:defRPr>
            </a:lvl4pPr>
            <a:lvl5pPr marL="2057400" indent="-228600">
              <a:lnSpc>
                <a:spcPct val="90000"/>
              </a:lnSpc>
              <a:spcBef>
                <a:spcPts val="500"/>
              </a:spcBef>
              <a:buFont typeface="Arial" panose="020B0604020202020204" pitchFamily="34" charset="0"/>
              <a:buChar char="•"/>
              <a:defRPr>
                <a:latin typeface="思源黑体 CN Normal" panose="020B0400000000000000"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50000"/>
              </a:lnSpc>
            </a:pPr>
            <a:r>
              <a:rPr lang="zh-CN" altLang="en-US" sz="6000" b="1" dirty="0">
                <a:solidFill>
                  <a:schemeClr val="accent1"/>
                </a:solidFill>
                <a:latin typeface="微软雅黑" panose="020B0503020204020204" pitchFamily="34" charset="-122"/>
                <a:ea typeface="微软雅黑" panose="020B0503020204020204" pitchFamily="34" charset="-122"/>
              </a:rPr>
              <a:t>互动：</a:t>
            </a:r>
          </a:p>
          <a:p>
            <a:pPr algn="ctr">
              <a:lnSpc>
                <a:spcPct val="150000"/>
              </a:lnSpc>
            </a:pPr>
            <a:r>
              <a:rPr lang="zh-CN" altLang="en-US" sz="4400" dirty="0">
                <a:solidFill>
                  <a:schemeClr val="accent1"/>
                </a:solidFill>
                <a:latin typeface="微软雅黑" panose="020B0503020204020204" pitchFamily="34" charset="-122"/>
                <a:ea typeface="微软雅黑" panose="020B0503020204020204" pitchFamily="34" charset="-122"/>
              </a:rPr>
              <a:t>你想让</a:t>
            </a:r>
            <a:r>
              <a:rPr lang="en-US" altLang="zh-CN" sz="4400" dirty="0">
                <a:solidFill>
                  <a:schemeClr val="accent1"/>
                </a:solidFill>
                <a:latin typeface="微软雅黑" panose="020B0503020204020204" pitchFamily="34" charset="-122"/>
                <a:ea typeface="微软雅黑" panose="020B0503020204020204" pitchFamily="34" charset="-122"/>
              </a:rPr>
              <a:t>AI</a:t>
            </a:r>
            <a:r>
              <a:rPr lang="zh-CN" altLang="en-US" sz="4400" dirty="0">
                <a:solidFill>
                  <a:schemeClr val="accent1"/>
                </a:solidFill>
                <a:latin typeface="微软雅黑" panose="020B0503020204020204" pitchFamily="34" charset="-122"/>
                <a:ea typeface="微软雅黑" panose="020B0503020204020204" pitchFamily="34" charset="-122"/>
              </a:rPr>
              <a:t>给你出一个去北京的旅游方案，你会怎么去问它？</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down)">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grpSp>
        <p:nvGrpSpPr>
          <p:cNvPr id="6" name="组合 5"/>
          <p:cNvGrpSpPr>
            <a:grpSpLocks noChangeAspect="1"/>
          </p:cNvGrpSpPr>
          <p:nvPr/>
        </p:nvGrpSpPr>
        <p:grpSpPr>
          <a:xfrm>
            <a:off x="735013" y="2133600"/>
            <a:ext cx="2067367" cy="2066111"/>
            <a:chOff x="4866833" y="2617945"/>
            <a:chExt cx="2458344" cy="2456851"/>
          </a:xfrm>
        </p:grpSpPr>
        <p:sp>
          <p:nvSpPr>
            <p:cNvPr id="2" name="iṡ1iḍè"/>
            <p:cNvSpPr/>
            <p:nvPr>
              <p:custDataLst>
                <p:tags r:id="rId10"/>
              </p:custDataLst>
            </p:nvPr>
          </p:nvSpPr>
          <p:spPr>
            <a:xfrm>
              <a:off x="4866833" y="2617945"/>
              <a:ext cx="2458344" cy="2456851"/>
            </a:xfrm>
            <a:prstGeom prst="arc">
              <a:avLst>
                <a:gd name="adj1" fmla="val 8004656"/>
                <a:gd name="adj2" fmla="val 21427805"/>
              </a:avLst>
            </a:prstGeom>
            <a:noFill/>
            <a:ln w="9525">
              <a:gradFill flip="none" rotWithShape="1">
                <a:gsLst>
                  <a:gs pos="0">
                    <a:schemeClr val="accent1"/>
                  </a:gs>
                  <a:gs pos="68200">
                    <a:schemeClr val="accent1">
                      <a:alpha val="0"/>
                    </a:schemeClr>
                  </a:gs>
                  <a:gs pos="100000">
                    <a:schemeClr val="accent1">
                      <a:alpha val="70000"/>
                    </a:schemeClr>
                  </a:gs>
                </a:gsLst>
                <a:lin ang="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3" name="ïṩľiḓè"/>
            <p:cNvSpPr/>
            <p:nvPr>
              <p:custDataLst>
                <p:tags r:id="rId11"/>
              </p:custDataLst>
            </p:nvPr>
          </p:nvSpPr>
          <p:spPr>
            <a:xfrm flipH="1">
              <a:off x="5022372" y="2772069"/>
              <a:ext cx="2147259" cy="2148596"/>
            </a:xfrm>
            <a:prstGeom prst="arc">
              <a:avLst>
                <a:gd name="adj1" fmla="val 3872299"/>
                <a:gd name="adj2" fmla="val 0"/>
              </a:avLst>
            </a:prstGeom>
            <a:noFill/>
            <a:ln w="25400">
              <a:gradFill flip="none" rotWithShape="1">
                <a:gsLst>
                  <a:gs pos="0">
                    <a:schemeClr val="accent1">
                      <a:alpha val="0"/>
                    </a:schemeClr>
                  </a:gs>
                  <a:gs pos="100000">
                    <a:schemeClr val="accent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4" name="ïśľiḍé"/>
            <p:cNvSpPr/>
            <p:nvPr>
              <p:custDataLst>
                <p:tags r:id="rId12"/>
              </p:custDataLst>
            </p:nvPr>
          </p:nvSpPr>
          <p:spPr>
            <a:xfrm flipH="1" flipV="1">
              <a:off x="5119291" y="2888421"/>
              <a:ext cx="1935191" cy="1935191"/>
            </a:xfrm>
            <a:prstGeom prst="ellipse">
              <a:avLst/>
            </a:prstGeom>
            <a:gradFill flip="none" rotWithShape="1">
              <a:gsLst>
                <a:gs pos="29000">
                  <a:schemeClr val="accent1">
                    <a:alpha val="50000"/>
                  </a:schemeClr>
                </a:gs>
                <a:gs pos="10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85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grpSp>
      <p:grpSp>
        <p:nvGrpSpPr>
          <p:cNvPr id="7" name="组合 6"/>
          <p:cNvGrpSpPr>
            <a:grpSpLocks noChangeAspect="1"/>
          </p:cNvGrpSpPr>
          <p:nvPr/>
        </p:nvGrpSpPr>
        <p:grpSpPr>
          <a:xfrm>
            <a:off x="3611563" y="2838446"/>
            <a:ext cx="2067367" cy="2066111"/>
            <a:chOff x="4866833" y="2617945"/>
            <a:chExt cx="2458344" cy="2456851"/>
          </a:xfrm>
        </p:grpSpPr>
        <p:sp>
          <p:nvSpPr>
            <p:cNvPr id="8" name="iṡ1iḍè"/>
            <p:cNvSpPr/>
            <p:nvPr>
              <p:custDataLst>
                <p:tags r:id="rId7"/>
              </p:custDataLst>
            </p:nvPr>
          </p:nvSpPr>
          <p:spPr>
            <a:xfrm>
              <a:off x="4866833" y="2617945"/>
              <a:ext cx="2458344" cy="2456851"/>
            </a:xfrm>
            <a:prstGeom prst="arc">
              <a:avLst>
                <a:gd name="adj1" fmla="val 8004656"/>
                <a:gd name="adj2" fmla="val 21427805"/>
              </a:avLst>
            </a:prstGeom>
            <a:noFill/>
            <a:ln w="9525">
              <a:gradFill flip="none" rotWithShape="1">
                <a:gsLst>
                  <a:gs pos="0">
                    <a:schemeClr val="accent1"/>
                  </a:gs>
                  <a:gs pos="68200">
                    <a:schemeClr val="accent1">
                      <a:alpha val="0"/>
                    </a:schemeClr>
                  </a:gs>
                  <a:gs pos="100000">
                    <a:schemeClr val="accent1">
                      <a:alpha val="70000"/>
                    </a:schemeClr>
                  </a:gs>
                </a:gsLst>
                <a:lin ang="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9" name="ïṩľiḓè"/>
            <p:cNvSpPr/>
            <p:nvPr>
              <p:custDataLst>
                <p:tags r:id="rId8"/>
              </p:custDataLst>
            </p:nvPr>
          </p:nvSpPr>
          <p:spPr>
            <a:xfrm flipH="1">
              <a:off x="5022372" y="2772069"/>
              <a:ext cx="2147259" cy="2148596"/>
            </a:xfrm>
            <a:prstGeom prst="arc">
              <a:avLst>
                <a:gd name="adj1" fmla="val 3872299"/>
                <a:gd name="adj2" fmla="val 0"/>
              </a:avLst>
            </a:prstGeom>
            <a:noFill/>
            <a:ln w="25400">
              <a:gradFill flip="none" rotWithShape="1">
                <a:gsLst>
                  <a:gs pos="0">
                    <a:schemeClr val="accent1">
                      <a:alpha val="0"/>
                    </a:schemeClr>
                  </a:gs>
                  <a:gs pos="100000">
                    <a:schemeClr val="accent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0" name="ïśľiḍé"/>
            <p:cNvSpPr/>
            <p:nvPr>
              <p:custDataLst>
                <p:tags r:id="rId9"/>
              </p:custDataLst>
            </p:nvPr>
          </p:nvSpPr>
          <p:spPr>
            <a:xfrm flipH="1" flipV="1">
              <a:off x="5119291" y="2888421"/>
              <a:ext cx="1935191" cy="1935191"/>
            </a:xfrm>
            <a:prstGeom prst="ellipse">
              <a:avLst/>
            </a:prstGeom>
            <a:gradFill flip="none" rotWithShape="1">
              <a:gsLst>
                <a:gs pos="29000">
                  <a:schemeClr val="accent1">
                    <a:alpha val="50000"/>
                  </a:schemeClr>
                </a:gs>
                <a:gs pos="10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85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grpSp>
      <p:grpSp>
        <p:nvGrpSpPr>
          <p:cNvPr id="11" name="组合 10"/>
          <p:cNvGrpSpPr>
            <a:grpSpLocks noChangeAspect="1"/>
          </p:cNvGrpSpPr>
          <p:nvPr/>
        </p:nvGrpSpPr>
        <p:grpSpPr>
          <a:xfrm>
            <a:off x="6488113" y="2133596"/>
            <a:ext cx="2067367" cy="2066111"/>
            <a:chOff x="4866833" y="2617945"/>
            <a:chExt cx="2458344" cy="2456851"/>
          </a:xfrm>
        </p:grpSpPr>
        <p:sp>
          <p:nvSpPr>
            <p:cNvPr id="12" name="iṡ1iḍè"/>
            <p:cNvSpPr/>
            <p:nvPr>
              <p:custDataLst>
                <p:tags r:id="rId4"/>
              </p:custDataLst>
            </p:nvPr>
          </p:nvSpPr>
          <p:spPr>
            <a:xfrm>
              <a:off x="4866833" y="2617945"/>
              <a:ext cx="2458344" cy="2456851"/>
            </a:xfrm>
            <a:prstGeom prst="arc">
              <a:avLst>
                <a:gd name="adj1" fmla="val 8004656"/>
                <a:gd name="adj2" fmla="val 21427805"/>
              </a:avLst>
            </a:prstGeom>
            <a:noFill/>
            <a:ln w="9525">
              <a:gradFill flip="none" rotWithShape="1">
                <a:gsLst>
                  <a:gs pos="0">
                    <a:schemeClr val="accent1"/>
                  </a:gs>
                  <a:gs pos="68200">
                    <a:schemeClr val="accent1">
                      <a:alpha val="0"/>
                    </a:schemeClr>
                  </a:gs>
                  <a:gs pos="100000">
                    <a:schemeClr val="accent1">
                      <a:alpha val="70000"/>
                    </a:schemeClr>
                  </a:gs>
                </a:gsLst>
                <a:lin ang="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3" name="ïṩľiḓè"/>
            <p:cNvSpPr/>
            <p:nvPr>
              <p:custDataLst>
                <p:tags r:id="rId5"/>
              </p:custDataLst>
            </p:nvPr>
          </p:nvSpPr>
          <p:spPr>
            <a:xfrm flipH="1">
              <a:off x="5022372" y="2772069"/>
              <a:ext cx="2147259" cy="2148596"/>
            </a:xfrm>
            <a:prstGeom prst="arc">
              <a:avLst>
                <a:gd name="adj1" fmla="val 3872299"/>
                <a:gd name="adj2" fmla="val 0"/>
              </a:avLst>
            </a:prstGeom>
            <a:noFill/>
            <a:ln w="25400">
              <a:gradFill flip="none" rotWithShape="1">
                <a:gsLst>
                  <a:gs pos="0">
                    <a:schemeClr val="accent1">
                      <a:alpha val="0"/>
                    </a:schemeClr>
                  </a:gs>
                  <a:gs pos="100000">
                    <a:schemeClr val="accent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5" name="ïśľiḍé"/>
            <p:cNvSpPr/>
            <p:nvPr>
              <p:custDataLst>
                <p:tags r:id="rId6"/>
              </p:custDataLst>
            </p:nvPr>
          </p:nvSpPr>
          <p:spPr>
            <a:xfrm flipH="1" flipV="1">
              <a:off x="5119291" y="2888421"/>
              <a:ext cx="1935191" cy="1935191"/>
            </a:xfrm>
            <a:prstGeom prst="ellipse">
              <a:avLst/>
            </a:prstGeom>
            <a:gradFill flip="none" rotWithShape="1">
              <a:gsLst>
                <a:gs pos="29000">
                  <a:schemeClr val="accent1">
                    <a:alpha val="50000"/>
                  </a:schemeClr>
                </a:gs>
                <a:gs pos="10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85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grpSp>
      <p:grpSp>
        <p:nvGrpSpPr>
          <p:cNvPr id="16" name="组合 15"/>
          <p:cNvGrpSpPr>
            <a:grpSpLocks noChangeAspect="1"/>
          </p:cNvGrpSpPr>
          <p:nvPr/>
        </p:nvGrpSpPr>
        <p:grpSpPr>
          <a:xfrm>
            <a:off x="9364663" y="2838442"/>
            <a:ext cx="2067367" cy="2066111"/>
            <a:chOff x="4866833" y="2617945"/>
            <a:chExt cx="2458344" cy="2456851"/>
          </a:xfrm>
        </p:grpSpPr>
        <p:sp>
          <p:nvSpPr>
            <p:cNvPr id="17" name="iṡ1iḍè"/>
            <p:cNvSpPr/>
            <p:nvPr>
              <p:custDataLst>
                <p:tags r:id="rId1"/>
              </p:custDataLst>
            </p:nvPr>
          </p:nvSpPr>
          <p:spPr>
            <a:xfrm>
              <a:off x="4866833" y="2617945"/>
              <a:ext cx="2458344" cy="2456851"/>
            </a:xfrm>
            <a:prstGeom prst="arc">
              <a:avLst>
                <a:gd name="adj1" fmla="val 8004656"/>
                <a:gd name="adj2" fmla="val 21427805"/>
              </a:avLst>
            </a:prstGeom>
            <a:noFill/>
            <a:ln w="9525">
              <a:gradFill flip="none" rotWithShape="1">
                <a:gsLst>
                  <a:gs pos="0">
                    <a:schemeClr val="accent1"/>
                  </a:gs>
                  <a:gs pos="68200">
                    <a:schemeClr val="accent1">
                      <a:alpha val="0"/>
                    </a:schemeClr>
                  </a:gs>
                  <a:gs pos="100000">
                    <a:schemeClr val="accent1">
                      <a:alpha val="70000"/>
                    </a:schemeClr>
                  </a:gs>
                </a:gsLst>
                <a:lin ang="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8" name="ïṩľiḓè"/>
            <p:cNvSpPr/>
            <p:nvPr>
              <p:custDataLst>
                <p:tags r:id="rId2"/>
              </p:custDataLst>
            </p:nvPr>
          </p:nvSpPr>
          <p:spPr>
            <a:xfrm flipH="1">
              <a:off x="5022372" y="2772069"/>
              <a:ext cx="2147259" cy="2148596"/>
            </a:xfrm>
            <a:prstGeom prst="arc">
              <a:avLst>
                <a:gd name="adj1" fmla="val 3872299"/>
                <a:gd name="adj2" fmla="val 0"/>
              </a:avLst>
            </a:prstGeom>
            <a:noFill/>
            <a:ln w="25400">
              <a:gradFill flip="none" rotWithShape="1">
                <a:gsLst>
                  <a:gs pos="0">
                    <a:schemeClr val="accent1">
                      <a:alpha val="0"/>
                    </a:schemeClr>
                  </a:gs>
                  <a:gs pos="100000">
                    <a:schemeClr val="accent1"/>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9" name="ïśľiḍé"/>
            <p:cNvSpPr/>
            <p:nvPr>
              <p:custDataLst>
                <p:tags r:id="rId3"/>
              </p:custDataLst>
            </p:nvPr>
          </p:nvSpPr>
          <p:spPr>
            <a:xfrm flipH="1" flipV="1">
              <a:off x="5119291" y="2888421"/>
              <a:ext cx="1935191" cy="1935191"/>
            </a:xfrm>
            <a:prstGeom prst="ellipse">
              <a:avLst/>
            </a:prstGeom>
            <a:gradFill flip="none" rotWithShape="1">
              <a:gsLst>
                <a:gs pos="29000">
                  <a:schemeClr val="accent1">
                    <a:alpha val="50000"/>
                  </a:schemeClr>
                </a:gs>
                <a:gs pos="10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85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grpSp>
      <p:sp>
        <p:nvSpPr>
          <p:cNvPr id="20" name="文本框 19"/>
          <p:cNvSpPr txBox="1"/>
          <p:nvPr/>
        </p:nvSpPr>
        <p:spPr>
          <a:xfrm>
            <a:off x="1244810" y="2956526"/>
            <a:ext cx="1022140" cy="436914"/>
          </a:xfrm>
          <a:prstGeom prst="rect">
            <a:avLst/>
          </a:prstGeom>
          <a:noFill/>
        </p:spPr>
        <p:txBody>
          <a:bodyPr wrap="square">
            <a:spAutoFit/>
          </a:bodyPr>
          <a:lstStyle/>
          <a:p>
            <a:pPr lvl="0" algn="ctr">
              <a:lnSpc>
                <a:spcPct val="12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思源宋体 CN Heavy" panose="02020900000000000000" pitchFamily="18" charset="-122"/>
              </a:rPr>
              <a:t>角色</a:t>
            </a:r>
          </a:p>
        </p:txBody>
      </p:sp>
      <p:sp>
        <p:nvSpPr>
          <p:cNvPr id="22" name="箭头: V 形 21"/>
          <p:cNvSpPr/>
          <p:nvPr/>
        </p:nvSpPr>
        <p:spPr>
          <a:xfrm rot="623405">
            <a:off x="3004105" y="3355630"/>
            <a:ext cx="297820" cy="436914"/>
          </a:xfrm>
          <a:prstGeom prst="chevron">
            <a:avLst/>
          </a:prstGeom>
          <a:gradFill>
            <a:gsLst>
              <a:gs pos="29000">
                <a:schemeClr val="accent1">
                  <a:alpha val="50000"/>
                </a:schemeClr>
              </a:gs>
              <a:gs pos="100000">
                <a:schemeClr val="accent1"/>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3" name="箭头: V 形 22"/>
          <p:cNvSpPr/>
          <p:nvPr/>
        </p:nvSpPr>
        <p:spPr>
          <a:xfrm rot="20604229">
            <a:off x="5945350" y="3516976"/>
            <a:ext cx="297820" cy="436914"/>
          </a:xfrm>
          <a:prstGeom prst="chevron">
            <a:avLst/>
          </a:prstGeom>
          <a:gradFill>
            <a:gsLst>
              <a:gs pos="29000">
                <a:schemeClr val="accent1">
                  <a:alpha val="50000"/>
                </a:schemeClr>
              </a:gs>
              <a:gs pos="100000">
                <a:schemeClr val="accent1"/>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4" name="箭头: V 形 23"/>
          <p:cNvSpPr/>
          <p:nvPr/>
        </p:nvSpPr>
        <p:spPr>
          <a:xfrm rot="623405">
            <a:off x="8821335" y="3355630"/>
            <a:ext cx="297820" cy="436914"/>
          </a:xfrm>
          <a:prstGeom prst="chevron">
            <a:avLst/>
          </a:prstGeom>
          <a:gradFill>
            <a:gsLst>
              <a:gs pos="29000">
                <a:schemeClr val="accent1">
                  <a:alpha val="50000"/>
                </a:schemeClr>
              </a:gs>
              <a:gs pos="100000">
                <a:schemeClr val="accent1"/>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4135953" y="3661376"/>
            <a:ext cx="1022140" cy="436914"/>
          </a:xfrm>
          <a:prstGeom prst="rect">
            <a:avLst/>
          </a:prstGeom>
          <a:noFill/>
        </p:spPr>
        <p:txBody>
          <a:bodyPr wrap="square">
            <a:spAutoFit/>
          </a:bodyPr>
          <a:lstStyle/>
          <a:p>
            <a:pPr lvl="0" algn="ctr">
              <a:lnSpc>
                <a:spcPct val="12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思源宋体 CN Heavy" panose="02020900000000000000" pitchFamily="18" charset="-122"/>
              </a:rPr>
              <a:t>背景</a:t>
            </a:r>
          </a:p>
        </p:txBody>
      </p:sp>
      <p:sp>
        <p:nvSpPr>
          <p:cNvPr id="26" name="文本框 25"/>
          <p:cNvSpPr txBox="1"/>
          <p:nvPr/>
        </p:nvSpPr>
        <p:spPr>
          <a:xfrm>
            <a:off x="6981403" y="2956526"/>
            <a:ext cx="1022140" cy="436914"/>
          </a:xfrm>
          <a:prstGeom prst="rect">
            <a:avLst/>
          </a:prstGeom>
          <a:noFill/>
        </p:spPr>
        <p:txBody>
          <a:bodyPr wrap="square">
            <a:spAutoFit/>
          </a:bodyPr>
          <a:lstStyle/>
          <a:p>
            <a:pPr lvl="0" algn="ctr">
              <a:lnSpc>
                <a:spcPct val="12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思源宋体 CN Heavy" panose="02020900000000000000" pitchFamily="18" charset="-122"/>
              </a:rPr>
              <a:t>任务</a:t>
            </a:r>
          </a:p>
        </p:txBody>
      </p:sp>
      <p:sp>
        <p:nvSpPr>
          <p:cNvPr id="27" name="文本框 26"/>
          <p:cNvSpPr txBox="1"/>
          <p:nvPr/>
        </p:nvSpPr>
        <p:spPr>
          <a:xfrm>
            <a:off x="9872546" y="3661376"/>
            <a:ext cx="1022140" cy="436914"/>
          </a:xfrm>
          <a:prstGeom prst="rect">
            <a:avLst/>
          </a:prstGeom>
          <a:noFill/>
        </p:spPr>
        <p:txBody>
          <a:bodyPr wrap="square">
            <a:spAutoFit/>
          </a:bodyPr>
          <a:lstStyle/>
          <a:p>
            <a:pPr lvl="0" algn="ctr">
              <a:lnSpc>
                <a:spcPct val="120000"/>
              </a:lnSpc>
              <a:defRPr/>
            </a:pPr>
            <a:r>
              <a:rPr lang="zh-CN" altLang="en-US" sz="2000" b="1" cap="all" dirty="0">
                <a:solidFill>
                  <a:schemeClr val="bg1"/>
                </a:solidFill>
                <a:latin typeface="微软雅黑" panose="020B0503020204020204" pitchFamily="34" charset="-122"/>
                <a:ea typeface="微软雅黑" panose="020B0503020204020204" pitchFamily="34" charset="-122"/>
                <a:cs typeface="+mn-ea"/>
                <a:sym typeface="思源宋体 CN Heavy" panose="02020900000000000000" pitchFamily="18" charset="-122"/>
              </a:rPr>
              <a:t>要求</a:t>
            </a:r>
          </a:p>
        </p:txBody>
      </p:sp>
      <p:sp>
        <p:nvSpPr>
          <p:cNvPr id="28" name="矩形 27"/>
          <p:cNvSpPr/>
          <p:nvPr/>
        </p:nvSpPr>
        <p:spPr>
          <a:xfrm>
            <a:off x="896947" y="4167940"/>
            <a:ext cx="1774625" cy="705193"/>
          </a:xfrm>
          <a:prstGeom prst="rect">
            <a:avLst/>
          </a:prstGeom>
        </p:spPr>
        <p:txBody>
          <a:bodyPr wrap="square">
            <a:spAutoFit/>
          </a:bodyPr>
          <a:lstStyle/>
          <a:p>
            <a:pPr lvl="0" algn="ctr">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赋予</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一个身份，强调擅长的能力</a:t>
            </a:r>
          </a:p>
        </p:txBody>
      </p:sp>
      <p:sp>
        <p:nvSpPr>
          <p:cNvPr id="29" name="矩形 28"/>
          <p:cNvSpPr/>
          <p:nvPr/>
        </p:nvSpPr>
        <p:spPr>
          <a:xfrm>
            <a:off x="3778069" y="4872790"/>
            <a:ext cx="1774625" cy="705193"/>
          </a:xfrm>
          <a:prstGeom prst="rect">
            <a:avLst/>
          </a:prstGeom>
        </p:spPr>
        <p:txBody>
          <a:bodyPr wrap="square">
            <a:spAutoFit/>
          </a:bodyPr>
          <a:lstStyle/>
          <a:p>
            <a:pPr lvl="0" algn="ctr">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提供背景信息和具体细节</a:t>
            </a:r>
          </a:p>
        </p:txBody>
      </p:sp>
      <p:sp>
        <p:nvSpPr>
          <p:cNvPr id="30" name="矩形 29"/>
          <p:cNvSpPr/>
          <p:nvPr/>
        </p:nvSpPr>
        <p:spPr>
          <a:xfrm>
            <a:off x="6619506" y="4167940"/>
            <a:ext cx="1774625" cy="705193"/>
          </a:xfrm>
          <a:prstGeom prst="rect">
            <a:avLst/>
          </a:prstGeom>
        </p:spPr>
        <p:txBody>
          <a:bodyPr wrap="square">
            <a:spAutoFit/>
          </a:bodyPr>
          <a:lstStyle/>
          <a:p>
            <a:pPr lvl="0" algn="ctr">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向</a:t>
            </a:r>
            <a:r>
              <a:rPr lang="en-US" altLang="zh-CN" sz="1400" dirty="0">
                <a:latin typeface="微软雅黑" panose="020B0503020204020204" pitchFamily="34" charset="-122"/>
                <a:ea typeface="微软雅黑" panose="020B0503020204020204" pitchFamily="34" charset="-122"/>
                <a:cs typeface="+mn-ea"/>
                <a:sym typeface="+mn-lt"/>
              </a:rPr>
              <a:t>AI</a:t>
            </a:r>
            <a:r>
              <a:rPr lang="zh-CN" altLang="en-US" sz="1400" dirty="0">
                <a:latin typeface="微软雅黑" panose="020B0503020204020204" pitchFamily="34" charset="-122"/>
                <a:ea typeface="微软雅黑" panose="020B0503020204020204" pitchFamily="34" charset="-122"/>
                <a:cs typeface="+mn-ea"/>
                <a:sym typeface="+mn-lt"/>
              </a:rPr>
              <a:t>明确，你希望它执行的具体动作</a:t>
            </a:r>
          </a:p>
        </p:txBody>
      </p:sp>
      <p:sp>
        <p:nvSpPr>
          <p:cNvPr id="31" name="矩形 30"/>
          <p:cNvSpPr/>
          <p:nvPr/>
        </p:nvSpPr>
        <p:spPr>
          <a:xfrm>
            <a:off x="9518094" y="4872790"/>
            <a:ext cx="1814310" cy="705193"/>
          </a:xfrm>
          <a:prstGeom prst="rect">
            <a:avLst/>
          </a:prstGeom>
        </p:spPr>
        <p:txBody>
          <a:bodyPr wrap="square">
            <a:spAutoFit/>
          </a:bodyPr>
          <a:lstStyle/>
          <a:p>
            <a:pPr lvl="0" algn="ctr">
              <a:lnSpc>
                <a:spcPct val="150000"/>
              </a:lnSpc>
            </a:pPr>
            <a:r>
              <a:rPr lang="zh-CN" altLang="en-US" sz="1400" dirty="0">
                <a:latin typeface="微软雅黑" panose="020B0503020204020204" pitchFamily="34" charset="-122"/>
                <a:ea typeface="微软雅黑" panose="020B0503020204020204" pitchFamily="34" charset="-122"/>
                <a:cs typeface="+mn-ea"/>
                <a:sym typeface="+mn-lt"/>
              </a:rPr>
              <a:t>给出具体的要求，如字数、格式、风格等</a:t>
            </a:r>
          </a:p>
        </p:txBody>
      </p:sp>
      <p:sp>
        <p:nvSpPr>
          <p:cNvPr id="32" name="iṡļíḍe"/>
          <p:cNvSpPr txBox="1"/>
          <p:nvPr/>
        </p:nvSpPr>
        <p:spPr bwMode="auto">
          <a:xfrm>
            <a:off x="4605247" y="1536727"/>
            <a:ext cx="2978026" cy="458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30000"/>
              </a:lnSpc>
              <a:defRPr/>
            </a:pP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2.</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提示词万能结构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dissolve">
                                      <p:cBhvr>
                                        <p:cTn id="15" dur="500"/>
                                        <p:tgtEl>
                                          <p:spTgt spid="2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dissolve">
                                      <p:cBhvr>
                                        <p:cTn id="18" dur="500"/>
                                        <p:tgtEl>
                                          <p:spTgt spid="2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dissolve">
                                      <p:cBhvr>
                                        <p:cTn id="21" dur="500"/>
                                        <p:tgtEl>
                                          <p:spTgt spid="2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dissolve">
                                      <p:cBhvr>
                                        <p:cTn id="24" dur="500"/>
                                        <p:tgtEl>
                                          <p:spTgt spid="28"/>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dissolve">
                                      <p:cBhvr>
                                        <p:cTn id="30" dur="500"/>
                                        <p:tgtEl>
                                          <p:spTgt spid="3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dissolve">
                                      <p:cBhvr>
                                        <p:cTn id="33" dur="500"/>
                                        <p:tgtEl>
                                          <p:spTgt spid="3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dissolve">
                                      <p:cBhvr>
                                        <p:cTn id="36" dur="500"/>
                                        <p:tgtEl>
                                          <p:spTgt spid="32"/>
                                        </p:tgtEl>
                                      </p:cBhvr>
                                    </p:animEffect>
                                  </p:childTnLst>
                                </p:cTn>
                              </p:par>
                              <p:par>
                                <p:cTn id="37" presetID="9"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par>
                                <p:cTn id="40" presetID="9" presetClass="entr" presetSubtype="0"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dissolve">
                                      <p:cBhvr>
                                        <p:cTn id="42" dur="500"/>
                                        <p:tgtEl>
                                          <p:spTgt spid="7"/>
                                        </p:tgtEl>
                                      </p:cBhvr>
                                    </p:animEffect>
                                  </p:childTnLst>
                                </p:cTn>
                              </p:par>
                              <p:par>
                                <p:cTn id="43" presetID="9"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dissolve">
                                      <p:cBhvr>
                                        <p:cTn id="45" dur="500"/>
                                        <p:tgtEl>
                                          <p:spTgt spid="11"/>
                                        </p:tgtEl>
                                      </p:cBhvr>
                                    </p:animEffect>
                                  </p:childTnLst>
                                </p:cTn>
                              </p:par>
                              <p:par>
                                <p:cTn id="46" presetID="9"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dissolve">
                                      <p:cBhvr>
                                        <p:cTn id="48" dur="500"/>
                                        <p:tgtEl>
                                          <p:spTgt spid="1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dissolve">
                                      <p:cBhvr>
                                        <p:cTn id="51" dur="500"/>
                                        <p:tgtEl>
                                          <p:spTgt spid="22"/>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dissolve">
                                      <p:cBhvr>
                                        <p:cTn id="54" dur="500"/>
                                        <p:tgtEl>
                                          <p:spTgt spid="23"/>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dissolve">
                                      <p:cBhvr>
                                        <p:cTn id="5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0" grpId="0"/>
      <p:bldP spid="22" grpId="0" animBg="1"/>
      <p:bldP spid="23" grpId="0" animBg="1"/>
      <p:bldP spid="24" grpId="0" animBg="1"/>
      <p:bldP spid="25" grpId="0"/>
      <p:bldP spid="26" grpId="0"/>
      <p:bldP spid="27" grpId="0"/>
      <p:bldP spid="28" grpId="0"/>
      <p:bldP spid="29" grpId="0"/>
      <p:bldP spid="30" grpId="0"/>
      <p:bldP spid="31"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sp>
        <p:nvSpPr>
          <p:cNvPr id="2" name="ïšľiďè"/>
          <p:cNvSpPr/>
          <p:nvPr>
            <p:custDataLst>
              <p:tags r:id="rId1"/>
            </p:custDataLst>
          </p:nvPr>
        </p:nvSpPr>
        <p:spPr>
          <a:xfrm>
            <a:off x="1597450" y="2146297"/>
            <a:ext cx="3786312" cy="451168"/>
          </a:xfrm>
          <a:prstGeom prst="parallelogram">
            <a:avLst>
              <a:gd name="adj" fmla="val 396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3" name="iṩliḑé"/>
          <p:cNvSpPr txBox="1"/>
          <p:nvPr>
            <p:custDataLst>
              <p:tags r:id="rId2"/>
            </p:custDataLst>
          </p:nvPr>
        </p:nvSpPr>
        <p:spPr>
          <a:xfrm>
            <a:off x="1683013" y="2175268"/>
            <a:ext cx="3571391" cy="436914"/>
          </a:xfrm>
          <a:prstGeom prst="rect">
            <a:avLst/>
          </a:prstGeom>
          <a:noFill/>
        </p:spPr>
        <p:txBody>
          <a:bodyPr wrap="square" rtlCol="0">
            <a:spAutoFit/>
          </a:bodyPr>
          <a:lstStyle>
            <a:defPPr>
              <a:defRPr lang="zh-CN"/>
            </a:defPPr>
            <a:lvl1pPr marR="0" lvl="0" indent="0" algn="ctr" fontAlgn="auto" hangingPunct="0">
              <a:lnSpc>
                <a:spcPct val="130000"/>
              </a:lnSpc>
              <a:spcBef>
                <a:spcPct val="0"/>
              </a:spcBef>
              <a:spcAft>
                <a:spcPct val="0"/>
              </a:spcAft>
              <a:buClrTx/>
              <a:buSzTx/>
              <a:buFontTx/>
              <a:buNone/>
              <a:tabLst>
                <a:tab pos="1617345" algn="l"/>
              </a:tabLst>
              <a:defRPr kumimoji="0" sz="1600" b="0" i="0" u="none" strike="noStrike" cap="none" spc="100" normalizeH="0" baseline="0">
                <a:ln>
                  <a:noFill/>
                </a:ln>
                <a:gradFill>
                  <a:gsLst>
                    <a:gs pos="100000">
                      <a:srgbClr val="BDF2FF"/>
                    </a:gs>
                    <a:gs pos="77000">
                      <a:srgbClr val="ADEDFD"/>
                    </a:gs>
                    <a:gs pos="44000">
                      <a:prstClr val="white"/>
                    </a:gs>
                  </a:gsLst>
                  <a:lin ang="5400000" scaled="1"/>
                </a:gradFill>
                <a:effectLst/>
                <a:uLnTx/>
                <a:uFillTx/>
                <a:latin typeface="思源黑体 CN Regular" panose="020B0500000000000000" pitchFamily="34" charset="-122"/>
                <a:ea typeface="思源黑体 CN Regular" panose="020B0500000000000000" pitchFamily="34" charset="-122"/>
              </a:defRPr>
            </a:lvl1pPr>
          </a:lstStyle>
          <a:p>
            <a:pPr lvl="0" hangingPunct="1">
              <a:lnSpc>
                <a:spcPct val="120000"/>
              </a:lnSpc>
              <a:defRPr/>
            </a:pPr>
            <a:r>
              <a:rPr lang="zh-CN" altLang="en-US" sz="2000" b="1" spc="0" dirty="0">
                <a:solidFill>
                  <a:schemeClr val="bg1"/>
                </a:solidFill>
                <a:latin typeface="微软雅黑" panose="020B0503020204020204" pitchFamily="34" charset="-122"/>
                <a:ea typeface="微软雅黑" panose="020B0503020204020204" pitchFamily="34" charset="-122"/>
                <a:cs typeface="+mn-ea"/>
                <a:sym typeface="+mn-lt"/>
              </a:rPr>
              <a:t>招聘场景</a:t>
            </a:r>
          </a:p>
        </p:txBody>
      </p:sp>
      <p:sp>
        <p:nvSpPr>
          <p:cNvPr id="4" name="ïs1îḍé"/>
          <p:cNvSpPr/>
          <p:nvPr>
            <p:custDataLst>
              <p:tags r:id="rId3"/>
            </p:custDataLst>
          </p:nvPr>
        </p:nvSpPr>
        <p:spPr>
          <a:xfrm>
            <a:off x="1878151" y="1721042"/>
            <a:ext cx="1076208" cy="176687"/>
          </a:xfrm>
          <a:prstGeom prst="parallelogram">
            <a:avLst/>
          </a:prstGeom>
          <a:gradFill>
            <a:gsLst>
              <a:gs pos="0">
                <a:schemeClr val="accent6">
                  <a:alpha val="0"/>
                </a:schemeClr>
              </a:gs>
              <a:gs pos="100000">
                <a:schemeClr val="accent6">
                  <a:alpha val="2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5" name="îṩḷíḓê"/>
          <p:cNvSpPr/>
          <p:nvPr>
            <p:custDataLst>
              <p:tags r:id="rId4"/>
            </p:custDataLst>
          </p:nvPr>
        </p:nvSpPr>
        <p:spPr>
          <a:xfrm>
            <a:off x="1445282" y="1658434"/>
            <a:ext cx="1186890" cy="119319"/>
          </a:xfrm>
          <a:prstGeom prst="parallelogram">
            <a:avLst/>
          </a:prstGeom>
          <a:gradFill>
            <a:gsLst>
              <a:gs pos="0">
                <a:schemeClr val="accent6">
                  <a:alpha val="0"/>
                </a:schemeClr>
              </a:gs>
              <a:gs pos="100000">
                <a:schemeClr val="accent6">
                  <a:alpha val="32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6" name="işḻíḓê"/>
          <p:cNvSpPr/>
          <p:nvPr>
            <p:custDataLst>
              <p:tags r:id="rId5"/>
            </p:custDataLst>
          </p:nvPr>
        </p:nvSpPr>
        <p:spPr>
          <a:xfrm>
            <a:off x="4640911" y="1907712"/>
            <a:ext cx="982439" cy="33212"/>
          </a:xfrm>
          <a:prstGeom prst="parallelogram">
            <a:avLst/>
          </a:prstGeom>
          <a:gradFill>
            <a:gsLst>
              <a:gs pos="0">
                <a:schemeClr val="accent6">
                  <a:alpha val="0"/>
                </a:schemeClr>
              </a:gs>
              <a:gs pos="100000">
                <a:schemeClr val="accent6"/>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7" name="文本框 6"/>
          <p:cNvSpPr txBox="1"/>
          <p:nvPr/>
        </p:nvSpPr>
        <p:spPr>
          <a:xfrm>
            <a:off x="1117390" y="2718464"/>
            <a:ext cx="4765250" cy="3152017"/>
          </a:xfrm>
          <a:prstGeom prst="rect">
            <a:avLst/>
          </a:prstGeom>
          <a:noFill/>
        </p:spPr>
        <p:txBody>
          <a:bodyPr wrap="square">
            <a:spAutoFit/>
          </a:bodyPr>
          <a:lstStyle/>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角色：</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你是一名经验丰富的人力资源招聘专家，擅长撰写清晰、有吸引力的职位描述。</a:t>
            </a:r>
          </a:p>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背景：</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我公司需要招聘一名“高级前端开发工程师”，主要技术栈要求是</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React</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TypeScript</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和</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Next.js</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。公司福利包括弹性工作制、年度旅游和培训基金。</a:t>
            </a:r>
          </a:p>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任务：</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请起草一份招聘职位描述（</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JD</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a:t>
            </a:r>
          </a:p>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要求：</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内容需包含公司简介、职位职责、任职要求和福利待遇四个部分。使用专业且具吸引力的语言，字数在</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400</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字左右。</a:t>
            </a:r>
          </a:p>
        </p:txBody>
      </p:sp>
      <p:sp>
        <p:nvSpPr>
          <p:cNvPr id="8" name="ïšľiďè"/>
          <p:cNvSpPr/>
          <p:nvPr>
            <p:custDataLst>
              <p:tags r:id="rId6"/>
            </p:custDataLst>
          </p:nvPr>
        </p:nvSpPr>
        <p:spPr>
          <a:xfrm>
            <a:off x="6907863" y="2146297"/>
            <a:ext cx="3786312" cy="451168"/>
          </a:xfrm>
          <a:prstGeom prst="parallelogram">
            <a:avLst>
              <a:gd name="adj" fmla="val 396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9" name="iṩliḑé"/>
          <p:cNvSpPr txBox="1"/>
          <p:nvPr>
            <p:custDataLst>
              <p:tags r:id="rId7"/>
            </p:custDataLst>
          </p:nvPr>
        </p:nvSpPr>
        <p:spPr>
          <a:xfrm>
            <a:off x="6993426" y="2175268"/>
            <a:ext cx="3571391" cy="436914"/>
          </a:xfrm>
          <a:prstGeom prst="rect">
            <a:avLst/>
          </a:prstGeom>
          <a:noFill/>
        </p:spPr>
        <p:txBody>
          <a:bodyPr wrap="square" rtlCol="0">
            <a:spAutoFit/>
          </a:bodyPr>
          <a:lstStyle>
            <a:defPPr>
              <a:defRPr lang="zh-CN"/>
            </a:defPPr>
            <a:lvl1pPr marR="0" lvl="0" indent="0" algn="ctr" fontAlgn="auto" hangingPunct="0">
              <a:lnSpc>
                <a:spcPct val="130000"/>
              </a:lnSpc>
              <a:spcBef>
                <a:spcPct val="0"/>
              </a:spcBef>
              <a:spcAft>
                <a:spcPct val="0"/>
              </a:spcAft>
              <a:buClrTx/>
              <a:buSzTx/>
              <a:buFontTx/>
              <a:buNone/>
              <a:tabLst>
                <a:tab pos="1617345" algn="l"/>
              </a:tabLst>
              <a:defRPr kumimoji="0" sz="1600" b="0" i="0" u="none" strike="noStrike" cap="none" spc="100" normalizeH="0" baseline="0">
                <a:ln>
                  <a:noFill/>
                </a:ln>
                <a:gradFill>
                  <a:gsLst>
                    <a:gs pos="100000">
                      <a:srgbClr val="BDF2FF"/>
                    </a:gs>
                    <a:gs pos="77000">
                      <a:srgbClr val="ADEDFD"/>
                    </a:gs>
                    <a:gs pos="44000">
                      <a:prstClr val="white"/>
                    </a:gs>
                  </a:gsLst>
                  <a:lin ang="5400000" scaled="1"/>
                </a:gradFill>
                <a:effectLst/>
                <a:uLnTx/>
                <a:uFillTx/>
                <a:latin typeface="思源黑体 CN Regular" panose="020B0500000000000000" pitchFamily="34" charset="-122"/>
                <a:ea typeface="思源黑体 CN Regular" panose="020B0500000000000000" pitchFamily="34" charset="-122"/>
              </a:defRPr>
            </a:lvl1pPr>
          </a:lstStyle>
          <a:p>
            <a:pPr lvl="0" hangingPunct="1">
              <a:lnSpc>
                <a:spcPct val="120000"/>
              </a:lnSpc>
              <a:defRPr/>
            </a:pPr>
            <a:r>
              <a:rPr lang="zh-CN" altLang="en-US" sz="2000" b="1" spc="0" dirty="0">
                <a:solidFill>
                  <a:schemeClr val="bg1"/>
                </a:solidFill>
                <a:latin typeface="微软雅黑" panose="020B0503020204020204" pitchFamily="34" charset="-122"/>
                <a:ea typeface="微软雅黑" panose="020B0503020204020204" pitchFamily="34" charset="-122"/>
                <a:cs typeface="+mn-ea"/>
                <a:sym typeface="+mn-lt"/>
              </a:rPr>
              <a:t>销售场景</a:t>
            </a:r>
          </a:p>
        </p:txBody>
      </p:sp>
      <p:sp>
        <p:nvSpPr>
          <p:cNvPr id="10" name="ïs1îḍé"/>
          <p:cNvSpPr/>
          <p:nvPr>
            <p:custDataLst>
              <p:tags r:id="rId8"/>
            </p:custDataLst>
          </p:nvPr>
        </p:nvSpPr>
        <p:spPr>
          <a:xfrm>
            <a:off x="7188564" y="1721042"/>
            <a:ext cx="1076208" cy="176687"/>
          </a:xfrm>
          <a:prstGeom prst="parallelogram">
            <a:avLst/>
          </a:prstGeom>
          <a:gradFill>
            <a:gsLst>
              <a:gs pos="0">
                <a:schemeClr val="accent6">
                  <a:alpha val="0"/>
                </a:schemeClr>
              </a:gs>
              <a:gs pos="100000">
                <a:schemeClr val="accent6">
                  <a:alpha val="2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1" name="îṩḷíḓê"/>
          <p:cNvSpPr/>
          <p:nvPr>
            <p:custDataLst>
              <p:tags r:id="rId9"/>
            </p:custDataLst>
          </p:nvPr>
        </p:nvSpPr>
        <p:spPr>
          <a:xfrm>
            <a:off x="6755695" y="1658434"/>
            <a:ext cx="1186890" cy="119319"/>
          </a:xfrm>
          <a:prstGeom prst="parallelogram">
            <a:avLst/>
          </a:prstGeom>
          <a:gradFill>
            <a:gsLst>
              <a:gs pos="0">
                <a:schemeClr val="accent6">
                  <a:alpha val="0"/>
                </a:schemeClr>
              </a:gs>
              <a:gs pos="100000">
                <a:schemeClr val="accent6">
                  <a:alpha val="32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2" name="işḻíḓê"/>
          <p:cNvSpPr/>
          <p:nvPr>
            <p:custDataLst>
              <p:tags r:id="rId10"/>
            </p:custDataLst>
          </p:nvPr>
        </p:nvSpPr>
        <p:spPr>
          <a:xfrm>
            <a:off x="9951324" y="1907712"/>
            <a:ext cx="982439" cy="33212"/>
          </a:xfrm>
          <a:prstGeom prst="parallelogram">
            <a:avLst/>
          </a:prstGeom>
          <a:gradFill>
            <a:gsLst>
              <a:gs pos="0">
                <a:schemeClr val="accent6">
                  <a:alpha val="0"/>
                </a:schemeClr>
              </a:gs>
              <a:gs pos="100000">
                <a:schemeClr val="accent6"/>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381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Arial" panose="020B0604020202020204" pitchFamily="34" charset="0"/>
            </a:endParaRPr>
          </a:p>
        </p:txBody>
      </p:sp>
      <p:sp>
        <p:nvSpPr>
          <p:cNvPr id="13" name="文本框 12"/>
          <p:cNvSpPr txBox="1"/>
          <p:nvPr/>
        </p:nvSpPr>
        <p:spPr>
          <a:xfrm>
            <a:off x="6418394" y="2626436"/>
            <a:ext cx="4765250" cy="3475182"/>
          </a:xfrm>
          <a:prstGeom prst="rect">
            <a:avLst/>
          </a:prstGeom>
          <a:noFill/>
        </p:spPr>
        <p:txBody>
          <a:bodyPr wrap="square">
            <a:spAutoFit/>
          </a:bodyPr>
          <a:lstStyle/>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角色：</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你是一名顶尖的</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B2B</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软件销售总监，擅长撰写个性化的客户跟进邮件。</a:t>
            </a:r>
          </a:p>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背景：</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一周前，我向“某科技有限公司”的王总监初步介绍了我公司的</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CRM</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软件产品。当时他表示有兴趣，但需要再考虑。我需要写一封跟进邮件，目的是预约一个</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15</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分钟的电话会议，深入解答他的疑问。</a:t>
            </a:r>
          </a:p>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任务：</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撰写这封跟进邮件。</a:t>
            </a:r>
          </a:p>
          <a:p>
            <a:pPr marL="285750" lvl="0" indent="-285750">
              <a:lnSpc>
                <a:spcPct val="150000"/>
              </a:lnSpc>
              <a:buFont typeface="Arial" panose="020B0604020202020204" pitchFamily="34" charset="0"/>
              <a:buChar char="•"/>
              <a:defRPr/>
            </a:pPr>
            <a:r>
              <a:rPr lang="zh-CN" altLang="en-US" sz="1600" b="1" dirty="0">
                <a:latin typeface="微软雅黑" panose="020B0503020204020204" pitchFamily="34" charset="-122"/>
                <a:ea typeface="微软雅黑" panose="020B0503020204020204" pitchFamily="34" charset="-122"/>
                <a:cs typeface="+mn-ea"/>
                <a:sym typeface="思源宋体 CN Heavy" panose="02020900000000000000" pitchFamily="18" charset="-122"/>
              </a:rPr>
              <a:t>要求：</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邮件语气要专业、友好且不失紧迫感。避免显得过于推销化。重点突出产品的核心价值和对他们公司的益处。字数在</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200</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字以内。</a:t>
            </a:r>
          </a:p>
        </p:txBody>
      </p:sp>
      <p:sp>
        <p:nvSpPr>
          <p:cNvPr id="15" name="iṡļíḍe"/>
          <p:cNvSpPr txBox="1"/>
          <p:nvPr/>
        </p:nvSpPr>
        <p:spPr bwMode="auto">
          <a:xfrm>
            <a:off x="4605247" y="1212877"/>
            <a:ext cx="2978026" cy="458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lnSpc>
                <a:spcPct val="130000"/>
              </a:lnSpc>
              <a:defRPr/>
            </a:pP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2.</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提示词万能结构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circle(in)">
                                      <p:cBhvr>
                                        <p:cTn id="36" dur="2000"/>
                                        <p:tgtEl>
                                          <p:spTgt spid="7"/>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p:cTn id="44" dur="500" fill="hold"/>
                                        <p:tgtEl>
                                          <p:spTgt spid="9"/>
                                        </p:tgtEl>
                                        <p:attrNameLst>
                                          <p:attrName>ppt_w</p:attrName>
                                        </p:attrNameLst>
                                      </p:cBhvr>
                                      <p:tavLst>
                                        <p:tav tm="0">
                                          <p:val>
                                            <p:fltVal val="0"/>
                                          </p:val>
                                        </p:tav>
                                        <p:tav tm="100000">
                                          <p:val>
                                            <p:strVal val="#ppt_w"/>
                                          </p:val>
                                        </p:tav>
                                      </p:tavLst>
                                    </p:anim>
                                    <p:anim calcmode="lin" valueType="num">
                                      <p:cBhvr>
                                        <p:cTn id="45" dur="500" fill="hold"/>
                                        <p:tgtEl>
                                          <p:spTgt spid="9"/>
                                        </p:tgtEl>
                                        <p:attrNameLst>
                                          <p:attrName>ppt_h</p:attrName>
                                        </p:attrNameLst>
                                      </p:cBhvr>
                                      <p:tavLst>
                                        <p:tav tm="0">
                                          <p:val>
                                            <p:fltVal val="0"/>
                                          </p:val>
                                        </p:tav>
                                        <p:tav tm="100000">
                                          <p:val>
                                            <p:strVal val="#ppt_h"/>
                                          </p:val>
                                        </p:tav>
                                      </p:tavLst>
                                    </p:anim>
                                    <p:animEffect transition="in" filter="fade">
                                      <p:cBhvr>
                                        <p:cTn id="46" dur="500"/>
                                        <p:tgtEl>
                                          <p:spTgt spid="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500" fill="hold"/>
                                        <p:tgtEl>
                                          <p:spTgt spid="10"/>
                                        </p:tgtEl>
                                        <p:attrNameLst>
                                          <p:attrName>ppt_w</p:attrName>
                                        </p:attrNameLst>
                                      </p:cBhvr>
                                      <p:tavLst>
                                        <p:tav tm="0">
                                          <p:val>
                                            <p:fltVal val="0"/>
                                          </p:val>
                                        </p:tav>
                                        <p:tav tm="100000">
                                          <p:val>
                                            <p:strVal val="#ppt_w"/>
                                          </p:val>
                                        </p:tav>
                                      </p:tavLst>
                                    </p:anim>
                                    <p:anim calcmode="lin" valueType="num">
                                      <p:cBhvr>
                                        <p:cTn id="50" dur="500" fill="hold"/>
                                        <p:tgtEl>
                                          <p:spTgt spid="10"/>
                                        </p:tgtEl>
                                        <p:attrNameLst>
                                          <p:attrName>ppt_h</p:attrName>
                                        </p:attrNameLst>
                                      </p:cBhvr>
                                      <p:tavLst>
                                        <p:tav tm="0">
                                          <p:val>
                                            <p:fltVal val="0"/>
                                          </p:val>
                                        </p:tav>
                                        <p:tav tm="100000">
                                          <p:val>
                                            <p:strVal val="#ppt_h"/>
                                          </p:val>
                                        </p:tav>
                                      </p:tavLst>
                                    </p:anim>
                                    <p:animEffect transition="in" filter="fade">
                                      <p:cBhvr>
                                        <p:cTn id="51" dur="500"/>
                                        <p:tgtEl>
                                          <p:spTgt spid="10"/>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p:cTn id="54" dur="500" fill="hold"/>
                                        <p:tgtEl>
                                          <p:spTgt spid="11"/>
                                        </p:tgtEl>
                                        <p:attrNameLst>
                                          <p:attrName>ppt_w</p:attrName>
                                        </p:attrNameLst>
                                      </p:cBhvr>
                                      <p:tavLst>
                                        <p:tav tm="0">
                                          <p:val>
                                            <p:fltVal val="0"/>
                                          </p:val>
                                        </p:tav>
                                        <p:tav tm="100000">
                                          <p:val>
                                            <p:strVal val="#ppt_w"/>
                                          </p:val>
                                        </p:tav>
                                      </p:tavLst>
                                    </p:anim>
                                    <p:anim calcmode="lin" valueType="num">
                                      <p:cBhvr>
                                        <p:cTn id="55" dur="500" fill="hold"/>
                                        <p:tgtEl>
                                          <p:spTgt spid="11"/>
                                        </p:tgtEl>
                                        <p:attrNameLst>
                                          <p:attrName>ppt_h</p:attrName>
                                        </p:attrNameLst>
                                      </p:cBhvr>
                                      <p:tavLst>
                                        <p:tav tm="0">
                                          <p:val>
                                            <p:fltVal val="0"/>
                                          </p:val>
                                        </p:tav>
                                        <p:tav tm="100000">
                                          <p:val>
                                            <p:strVal val="#ppt_h"/>
                                          </p:val>
                                        </p:tav>
                                      </p:tavLst>
                                    </p:anim>
                                    <p:animEffect transition="in" filter="fade">
                                      <p:cBhvr>
                                        <p:cTn id="56" dur="500"/>
                                        <p:tgtEl>
                                          <p:spTgt spid="1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circle(in)">
                                      <p:cBhvr>
                                        <p:cTn id="64" dur="2000"/>
                                        <p:tgtEl>
                                          <p:spTgt spid="13"/>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barn(inVertical)">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p:bldP spid="4" grpId="0" animBg="1"/>
      <p:bldP spid="5" grpId="0" animBg="1"/>
      <p:bldP spid="6" grpId="0" animBg="1"/>
      <p:bldP spid="7" grpId="0"/>
      <p:bldP spid="8" grpId="0" animBg="1"/>
      <p:bldP spid="9" grpId="0"/>
      <p:bldP spid="10" grpId="0" animBg="1"/>
      <p:bldP spid="11" grpId="0" animBg="1"/>
      <p:bldP spid="12" grpId="0" animBg="1"/>
      <p:bldP spid="13"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sp>
        <p:nvSpPr>
          <p:cNvPr id="47" name="椭圆 46"/>
          <p:cNvSpPr/>
          <p:nvPr/>
        </p:nvSpPr>
        <p:spPr>
          <a:xfrm>
            <a:off x="804545" y="1785620"/>
            <a:ext cx="2352675" cy="2352675"/>
          </a:xfrm>
          <a:prstGeom prst="ellipse">
            <a:avLst/>
          </a:prstGeom>
          <a:noFill/>
          <a:ln>
            <a:solidFill>
              <a:schemeClr val="accent1"/>
            </a:solidFill>
          </a:ln>
          <a:scene3d>
            <a:camera prst="orthographicFront">
              <a:rot lat="4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48" name="Freeform 1061"/>
          <p:cNvSpPr>
            <a:spLocks noEditPoints="1"/>
          </p:cNvSpPr>
          <p:nvPr/>
        </p:nvSpPr>
        <p:spPr bwMode="auto">
          <a:xfrm>
            <a:off x="3350260" y="2726055"/>
            <a:ext cx="196215" cy="211455"/>
          </a:xfrm>
          <a:custGeom>
            <a:avLst/>
            <a:gdLst>
              <a:gd name="T0" fmla="*/ 7 w 14"/>
              <a:gd name="T1" fmla="*/ 15 h 15"/>
              <a:gd name="T2" fmla="*/ 0 w 14"/>
              <a:gd name="T3" fmla="*/ 7 h 15"/>
              <a:gd name="T4" fmla="*/ 7 w 14"/>
              <a:gd name="T5" fmla="*/ 0 h 15"/>
              <a:gd name="T6" fmla="*/ 14 w 14"/>
              <a:gd name="T7" fmla="*/ 7 h 15"/>
              <a:gd name="T8" fmla="*/ 7 w 14"/>
              <a:gd name="T9" fmla="*/ 15 h 15"/>
              <a:gd name="T10" fmla="*/ 7 w 14"/>
              <a:gd name="T11" fmla="*/ 2 h 15"/>
              <a:gd name="T12" fmla="*/ 1 w 14"/>
              <a:gd name="T13" fmla="*/ 7 h 15"/>
              <a:gd name="T14" fmla="*/ 7 w 14"/>
              <a:gd name="T15" fmla="*/ 13 h 15"/>
              <a:gd name="T16" fmla="*/ 13 w 14"/>
              <a:gd name="T17" fmla="*/ 7 h 15"/>
              <a:gd name="T18" fmla="*/ 7 w 14"/>
              <a:gd name="T19"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5">
                <a:moveTo>
                  <a:pt x="7" y="15"/>
                </a:moveTo>
                <a:cubicBezTo>
                  <a:pt x="3" y="15"/>
                  <a:pt x="0" y="11"/>
                  <a:pt x="0" y="7"/>
                </a:cubicBezTo>
                <a:cubicBezTo>
                  <a:pt x="0" y="4"/>
                  <a:pt x="3" y="0"/>
                  <a:pt x="7" y="0"/>
                </a:cubicBezTo>
                <a:cubicBezTo>
                  <a:pt x="11" y="0"/>
                  <a:pt x="14" y="4"/>
                  <a:pt x="14" y="7"/>
                </a:cubicBezTo>
                <a:cubicBezTo>
                  <a:pt x="14" y="11"/>
                  <a:pt x="11" y="15"/>
                  <a:pt x="7" y="15"/>
                </a:cubicBezTo>
                <a:close/>
                <a:moveTo>
                  <a:pt x="7" y="2"/>
                </a:moveTo>
                <a:cubicBezTo>
                  <a:pt x="3" y="2"/>
                  <a:pt x="1" y="4"/>
                  <a:pt x="1" y="7"/>
                </a:cubicBezTo>
                <a:cubicBezTo>
                  <a:pt x="1" y="11"/>
                  <a:pt x="3" y="13"/>
                  <a:pt x="7" y="13"/>
                </a:cubicBezTo>
                <a:cubicBezTo>
                  <a:pt x="10" y="13"/>
                  <a:pt x="13" y="11"/>
                  <a:pt x="13" y="7"/>
                </a:cubicBezTo>
                <a:cubicBezTo>
                  <a:pt x="13" y="4"/>
                  <a:pt x="10" y="2"/>
                  <a:pt x="7" y="2"/>
                </a:cubicBezTo>
                <a:close/>
              </a:path>
            </a:pathLst>
          </a:custGeom>
          <a:solidFill>
            <a:schemeClr val="accent1"/>
          </a:solidFill>
          <a:ln>
            <a:solidFill>
              <a:schemeClr val="accent1"/>
            </a:solidFill>
          </a:ln>
        </p:spPr>
        <p:txBody>
          <a:bodyPr vert="horz" wrap="square" lIns="91440" tIns="45720" rIns="91440" bIns="45720" numCol="1" anchor="t" anchorCtr="0" compatLnSpc="1"/>
          <a:lstStyle/>
          <a:p>
            <a:pPr>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49" name="Oval 1062"/>
          <p:cNvSpPr>
            <a:spLocks noChangeArrowheads="1"/>
          </p:cNvSpPr>
          <p:nvPr/>
        </p:nvSpPr>
        <p:spPr bwMode="auto">
          <a:xfrm>
            <a:off x="3392805" y="2780665"/>
            <a:ext cx="96520" cy="99695"/>
          </a:xfrm>
          <a:prstGeom prst="ellipse">
            <a:avLst/>
          </a:prstGeom>
          <a:solidFill>
            <a:schemeClr val="accent1"/>
          </a:solidFill>
          <a:ln>
            <a:solidFill>
              <a:schemeClr val="accent1"/>
            </a:solidFill>
          </a:ln>
        </p:spPr>
        <p:txBody>
          <a:bodyPr vert="horz" wrap="square" lIns="91440" tIns="45720" rIns="91440" bIns="45720" numCol="1" anchor="t" anchorCtr="0" compatLnSpc="1"/>
          <a:lstStyle/>
          <a:p>
            <a:pPr>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50" name="Freeform 1063"/>
          <p:cNvSpPr/>
          <p:nvPr/>
        </p:nvSpPr>
        <p:spPr bwMode="auto">
          <a:xfrm>
            <a:off x="3434715" y="2457450"/>
            <a:ext cx="800100" cy="380365"/>
          </a:xfrm>
          <a:custGeom>
            <a:avLst/>
            <a:gdLst>
              <a:gd name="T0" fmla="*/ 4 w 265"/>
              <a:gd name="T1" fmla="*/ 126 h 126"/>
              <a:gd name="T2" fmla="*/ 0 w 265"/>
              <a:gd name="T3" fmla="*/ 121 h 126"/>
              <a:gd name="T4" fmla="*/ 65 w 265"/>
              <a:gd name="T5" fmla="*/ 60 h 126"/>
              <a:gd name="T6" fmla="*/ 205 w 265"/>
              <a:gd name="T7" fmla="*/ 60 h 126"/>
              <a:gd name="T8" fmla="*/ 265 w 265"/>
              <a:gd name="T9" fmla="*/ 0 h 126"/>
              <a:gd name="T10" fmla="*/ 265 w 265"/>
              <a:gd name="T11" fmla="*/ 4 h 126"/>
              <a:gd name="T12" fmla="*/ 209 w 265"/>
              <a:gd name="T13" fmla="*/ 65 h 126"/>
              <a:gd name="T14" fmla="*/ 65 w 265"/>
              <a:gd name="T15" fmla="*/ 65 h 126"/>
              <a:gd name="T16" fmla="*/ 4 w 265"/>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125">
                <a:moveTo>
                  <a:pt x="4" y="126"/>
                </a:moveTo>
                <a:lnTo>
                  <a:pt x="0" y="121"/>
                </a:lnTo>
                <a:lnTo>
                  <a:pt x="65" y="60"/>
                </a:lnTo>
                <a:lnTo>
                  <a:pt x="205" y="60"/>
                </a:lnTo>
                <a:lnTo>
                  <a:pt x="265" y="0"/>
                </a:lnTo>
                <a:lnTo>
                  <a:pt x="265" y="4"/>
                </a:lnTo>
                <a:lnTo>
                  <a:pt x="209" y="65"/>
                </a:lnTo>
                <a:lnTo>
                  <a:pt x="65" y="65"/>
                </a:lnTo>
                <a:lnTo>
                  <a:pt x="4" y="126"/>
                </a:lnTo>
                <a:close/>
              </a:path>
            </a:pathLst>
          </a:custGeom>
          <a:solidFill>
            <a:schemeClr val="accent1"/>
          </a:solidFill>
          <a:ln>
            <a:solidFill>
              <a:schemeClr val="accent1"/>
            </a:solidFill>
          </a:ln>
        </p:spPr>
        <p:txBody>
          <a:bodyPr vert="horz" wrap="square" lIns="91440" tIns="45720" rIns="91440" bIns="45720" numCol="1" anchor="t" anchorCtr="0" compatLnSpc="1"/>
          <a:lstStyle/>
          <a:p>
            <a:pPr>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51" name="矩形 50"/>
          <p:cNvSpPr/>
          <p:nvPr/>
        </p:nvSpPr>
        <p:spPr>
          <a:xfrm>
            <a:off x="4235450" y="1433829"/>
            <a:ext cx="7221538" cy="2160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3" name="椭圆 52"/>
          <p:cNvSpPr/>
          <p:nvPr/>
        </p:nvSpPr>
        <p:spPr>
          <a:xfrm>
            <a:off x="1160145" y="1958340"/>
            <a:ext cx="1641475" cy="1641475"/>
          </a:xfrm>
          <a:prstGeom prst="ellipse">
            <a:avLst/>
          </a:prstGeom>
          <a:solidFill>
            <a:schemeClr val="accent1"/>
          </a:solidFill>
          <a:ln>
            <a:solidFill>
              <a:schemeClr val="accent1"/>
            </a:solidFill>
          </a:ln>
          <a:scene3d>
            <a:camera prst="orthographicFront">
              <a:rot lat="4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54" name="组合 53"/>
          <p:cNvGrpSpPr/>
          <p:nvPr/>
        </p:nvGrpSpPr>
        <p:grpSpPr>
          <a:xfrm>
            <a:off x="2952750" y="2079625"/>
            <a:ext cx="129540" cy="837565"/>
            <a:chOff x="2061102" y="1110802"/>
            <a:chExt cx="89210" cy="576096"/>
          </a:xfrm>
        </p:grpSpPr>
        <p:cxnSp>
          <p:nvCxnSpPr>
            <p:cNvPr id="55" name="直接连接符 54"/>
            <p:cNvCxnSpPr/>
            <p:nvPr/>
          </p:nvCxnSpPr>
          <p:spPr>
            <a:xfrm flipH="1">
              <a:off x="2061102" y="125235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2150312" y="111080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flipH="1">
            <a:off x="978535" y="2079625"/>
            <a:ext cx="129540" cy="837565"/>
            <a:chOff x="2213502" y="1263202"/>
            <a:chExt cx="89210" cy="576096"/>
          </a:xfrm>
        </p:grpSpPr>
        <p:cxnSp>
          <p:nvCxnSpPr>
            <p:cNvPr id="58" name="直接连接符 57"/>
            <p:cNvCxnSpPr/>
            <p:nvPr/>
          </p:nvCxnSpPr>
          <p:spPr>
            <a:xfrm flipH="1">
              <a:off x="2213502" y="140475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2302712" y="126320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61" name="文本框 60"/>
          <p:cNvSpPr txBox="1"/>
          <p:nvPr/>
        </p:nvSpPr>
        <p:spPr>
          <a:xfrm>
            <a:off x="964187" y="2210435"/>
            <a:ext cx="2052320" cy="436466"/>
          </a:xfrm>
          <a:prstGeom prst="rect">
            <a:avLst/>
          </a:prstGeom>
          <a:noFill/>
        </p:spPr>
        <p:txBody>
          <a:bodyPr wrap="square" rtlCol="0">
            <a:spAutoFit/>
          </a:bodyPr>
          <a:lstStyle/>
          <a:p>
            <a:pPr lvl="0" algn="ctr">
              <a:lnSpc>
                <a:spcPct val="120000"/>
              </a:lnSpc>
              <a:defRPr/>
            </a:pPr>
            <a:r>
              <a:rPr lang="zh-CN" altLang="en-US" sz="2000" b="1" dirty="0">
                <a:latin typeface="微软雅黑" panose="020B0503020204020204" pitchFamily="34" charset="-122"/>
                <a:ea typeface="微软雅黑" panose="020B0503020204020204" pitchFamily="34" charset="-122"/>
                <a:cs typeface="+mn-ea"/>
                <a:sym typeface="+mn-lt"/>
              </a:rPr>
              <a:t>技术场景</a:t>
            </a:r>
          </a:p>
        </p:txBody>
      </p:sp>
      <p:sp>
        <p:nvSpPr>
          <p:cNvPr id="62" name="文本框 61"/>
          <p:cNvSpPr txBox="1"/>
          <p:nvPr/>
        </p:nvSpPr>
        <p:spPr>
          <a:xfrm>
            <a:off x="4782185" y="1620161"/>
            <a:ext cx="6674803" cy="1773947"/>
          </a:xfrm>
          <a:prstGeom prst="rect">
            <a:avLst/>
          </a:prstGeom>
          <a:noFill/>
        </p:spPr>
        <p:txBody>
          <a:bodyPr wrap="square" rtlCol="0">
            <a:spAutoFit/>
          </a:bodyPr>
          <a:lstStyle>
            <a:defPPr>
              <a:defRPr lang="zh-CN"/>
            </a:defPPr>
            <a:lvl1pPr>
              <a:defRPr sz="1600">
                <a:solidFill>
                  <a:schemeClr val="tx1">
                    <a:lumMod val="75000"/>
                    <a:lumOff val="25000"/>
                  </a:schemeClr>
                </a:solidFill>
              </a:defRPr>
            </a:lvl1pPr>
          </a:lstStyle>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角色：</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你是一名软件测试工程师。</a:t>
            </a:r>
          </a:p>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背景：</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我需要测试短信验证码发送通道的稳定性和格式正确性，需要生成</a:t>
            </a:r>
            <a:r>
              <a:rPr lang="en-US" altLang="zh-CN" sz="1400" dirty="0">
                <a:solidFill>
                  <a:schemeClr val="bg1"/>
                </a:solidFill>
                <a:latin typeface="微软雅黑" panose="020B0503020204020204" pitchFamily="34" charset="-122"/>
                <a:ea typeface="微软雅黑" panose="020B0503020204020204" pitchFamily="34" charset="-122"/>
                <a:cs typeface="+mn-ea"/>
                <a:sym typeface="+mn-lt"/>
              </a:rPr>
              <a:t>100</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个内容格式相同的测试用例。</a:t>
            </a:r>
          </a:p>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任务：</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帮我生成一条标准的</a:t>
            </a:r>
            <a:r>
              <a:rPr lang="en-US" altLang="zh-CN" sz="1400" dirty="0">
                <a:solidFill>
                  <a:schemeClr val="bg1"/>
                </a:solidFill>
                <a:latin typeface="微软雅黑" panose="020B0503020204020204" pitchFamily="34" charset="-122"/>
                <a:ea typeface="微软雅黑" panose="020B0503020204020204" pitchFamily="34" charset="-122"/>
                <a:cs typeface="+mn-ea"/>
                <a:sym typeface="+mn-lt"/>
              </a:rPr>
              <a:t>6</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位数字验证码短信模板。</a:t>
            </a:r>
          </a:p>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要求：</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内容必须包含公司标识、验证码数字（用变量</a:t>
            </a:r>
            <a:r>
              <a:rPr lang="en-US" altLang="zh-CN" sz="1400" dirty="0">
                <a:solidFill>
                  <a:schemeClr val="bg1"/>
                </a:solidFill>
                <a:latin typeface="微软雅黑" panose="020B0503020204020204" pitchFamily="34" charset="-122"/>
                <a:ea typeface="微软雅黑" panose="020B0503020204020204" pitchFamily="34" charset="-122"/>
                <a:cs typeface="+mn-ea"/>
                <a:sym typeface="+mn-lt"/>
              </a:rPr>
              <a:t>{code}</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代替）、有效期提醒和隐私声明。格式需符合行业规范。</a:t>
            </a:r>
          </a:p>
        </p:txBody>
      </p:sp>
      <p:sp>
        <p:nvSpPr>
          <p:cNvPr id="64" name="椭圆 63"/>
          <p:cNvSpPr/>
          <p:nvPr/>
        </p:nvSpPr>
        <p:spPr>
          <a:xfrm>
            <a:off x="804545" y="4140835"/>
            <a:ext cx="2352675" cy="2352675"/>
          </a:xfrm>
          <a:prstGeom prst="ellipse">
            <a:avLst/>
          </a:prstGeom>
          <a:gradFill flip="none" rotWithShape="1">
            <a:gsLst>
              <a:gs pos="6000">
                <a:schemeClr val="accent6">
                  <a:alpha val="0"/>
                </a:schemeClr>
              </a:gs>
              <a:gs pos="63000">
                <a:schemeClr val="accent6">
                  <a:alpha val="20000"/>
                </a:schemeClr>
              </a:gs>
              <a:gs pos="100000">
                <a:schemeClr val="accent6">
                  <a:alpha val="30000"/>
                </a:schemeClr>
              </a:gs>
            </a:gsLst>
            <a:lin ang="5400000" scaled="1"/>
          </a:gradFill>
          <a:ln>
            <a:solidFill>
              <a:schemeClr val="accent1"/>
            </a:solidFill>
          </a:ln>
          <a:scene3d>
            <a:camera prst="orthographicFront">
              <a:rot lat="4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5" name="Freeform 1061"/>
          <p:cNvSpPr>
            <a:spLocks noEditPoints="1"/>
          </p:cNvSpPr>
          <p:nvPr/>
        </p:nvSpPr>
        <p:spPr bwMode="auto">
          <a:xfrm>
            <a:off x="3350260" y="5081270"/>
            <a:ext cx="196215" cy="211455"/>
          </a:xfrm>
          <a:custGeom>
            <a:avLst/>
            <a:gdLst>
              <a:gd name="T0" fmla="*/ 7 w 14"/>
              <a:gd name="T1" fmla="*/ 15 h 15"/>
              <a:gd name="T2" fmla="*/ 0 w 14"/>
              <a:gd name="T3" fmla="*/ 7 h 15"/>
              <a:gd name="T4" fmla="*/ 7 w 14"/>
              <a:gd name="T5" fmla="*/ 0 h 15"/>
              <a:gd name="T6" fmla="*/ 14 w 14"/>
              <a:gd name="T7" fmla="*/ 7 h 15"/>
              <a:gd name="T8" fmla="*/ 7 w 14"/>
              <a:gd name="T9" fmla="*/ 15 h 15"/>
              <a:gd name="T10" fmla="*/ 7 w 14"/>
              <a:gd name="T11" fmla="*/ 2 h 15"/>
              <a:gd name="T12" fmla="*/ 1 w 14"/>
              <a:gd name="T13" fmla="*/ 7 h 15"/>
              <a:gd name="T14" fmla="*/ 7 w 14"/>
              <a:gd name="T15" fmla="*/ 13 h 15"/>
              <a:gd name="T16" fmla="*/ 13 w 14"/>
              <a:gd name="T17" fmla="*/ 7 h 15"/>
              <a:gd name="T18" fmla="*/ 7 w 14"/>
              <a:gd name="T19"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5">
                <a:moveTo>
                  <a:pt x="7" y="15"/>
                </a:moveTo>
                <a:cubicBezTo>
                  <a:pt x="3" y="15"/>
                  <a:pt x="0" y="11"/>
                  <a:pt x="0" y="7"/>
                </a:cubicBezTo>
                <a:cubicBezTo>
                  <a:pt x="0" y="4"/>
                  <a:pt x="3" y="0"/>
                  <a:pt x="7" y="0"/>
                </a:cubicBezTo>
                <a:cubicBezTo>
                  <a:pt x="11" y="0"/>
                  <a:pt x="14" y="4"/>
                  <a:pt x="14" y="7"/>
                </a:cubicBezTo>
                <a:cubicBezTo>
                  <a:pt x="14" y="11"/>
                  <a:pt x="11" y="15"/>
                  <a:pt x="7" y="15"/>
                </a:cubicBezTo>
                <a:close/>
                <a:moveTo>
                  <a:pt x="7" y="2"/>
                </a:moveTo>
                <a:cubicBezTo>
                  <a:pt x="3" y="2"/>
                  <a:pt x="1" y="4"/>
                  <a:pt x="1" y="7"/>
                </a:cubicBezTo>
                <a:cubicBezTo>
                  <a:pt x="1" y="11"/>
                  <a:pt x="3" y="13"/>
                  <a:pt x="7" y="13"/>
                </a:cubicBezTo>
                <a:cubicBezTo>
                  <a:pt x="10" y="13"/>
                  <a:pt x="13" y="11"/>
                  <a:pt x="13" y="7"/>
                </a:cubicBezTo>
                <a:cubicBezTo>
                  <a:pt x="13" y="4"/>
                  <a:pt x="10" y="2"/>
                  <a:pt x="7" y="2"/>
                </a:cubicBezTo>
                <a:close/>
              </a:path>
            </a:pathLst>
          </a:custGeom>
          <a:solidFill>
            <a:schemeClr val="accent1"/>
          </a:solidFill>
          <a:ln>
            <a:solidFill>
              <a:schemeClr val="accent1"/>
            </a:solidFill>
          </a:ln>
        </p:spPr>
        <p:txBody>
          <a:bodyPr vert="horz" wrap="square" lIns="91440" tIns="45720" rIns="91440" bIns="45720" numCol="1" anchor="t" anchorCtr="0" compatLnSpc="1"/>
          <a:lstStyle/>
          <a:p>
            <a:pPr>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66" name="Oval 1062"/>
          <p:cNvSpPr>
            <a:spLocks noChangeArrowheads="1"/>
          </p:cNvSpPr>
          <p:nvPr/>
        </p:nvSpPr>
        <p:spPr bwMode="auto">
          <a:xfrm>
            <a:off x="3392805" y="5135880"/>
            <a:ext cx="96520" cy="99695"/>
          </a:xfrm>
          <a:prstGeom prst="ellipse">
            <a:avLst/>
          </a:prstGeom>
          <a:solidFill>
            <a:schemeClr val="accent1"/>
          </a:solidFill>
          <a:ln>
            <a:solidFill>
              <a:schemeClr val="accent1"/>
            </a:solidFill>
          </a:ln>
        </p:spPr>
        <p:txBody>
          <a:bodyPr vert="horz" wrap="square" lIns="91440" tIns="45720" rIns="91440" bIns="45720" numCol="1" anchor="t" anchorCtr="0" compatLnSpc="1"/>
          <a:lstStyle/>
          <a:p>
            <a:pPr>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67" name="Freeform 1063"/>
          <p:cNvSpPr/>
          <p:nvPr/>
        </p:nvSpPr>
        <p:spPr bwMode="auto">
          <a:xfrm>
            <a:off x="3434715" y="4812665"/>
            <a:ext cx="800100" cy="380365"/>
          </a:xfrm>
          <a:custGeom>
            <a:avLst/>
            <a:gdLst>
              <a:gd name="T0" fmla="*/ 4 w 265"/>
              <a:gd name="T1" fmla="*/ 126 h 126"/>
              <a:gd name="T2" fmla="*/ 0 w 265"/>
              <a:gd name="T3" fmla="*/ 121 h 126"/>
              <a:gd name="T4" fmla="*/ 65 w 265"/>
              <a:gd name="T5" fmla="*/ 60 h 126"/>
              <a:gd name="T6" fmla="*/ 205 w 265"/>
              <a:gd name="T7" fmla="*/ 60 h 126"/>
              <a:gd name="T8" fmla="*/ 265 w 265"/>
              <a:gd name="T9" fmla="*/ 0 h 126"/>
              <a:gd name="T10" fmla="*/ 265 w 265"/>
              <a:gd name="T11" fmla="*/ 4 h 126"/>
              <a:gd name="T12" fmla="*/ 209 w 265"/>
              <a:gd name="T13" fmla="*/ 65 h 126"/>
              <a:gd name="T14" fmla="*/ 65 w 265"/>
              <a:gd name="T15" fmla="*/ 65 h 126"/>
              <a:gd name="T16" fmla="*/ 4 w 265"/>
              <a:gd name="T17"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125">
                <a:moveTo>
                  <a:pt x="4" y="126"/>
                </a:moveTo>
                <a:lnTo>
                  <a:pt x="0" y="121"/>
                </a:lnTo>
                <a:lnTo>
                  <a:pt x="65" y="60"/>
                </a:lnTo>
                <a:lnTo>
                  <a:pt x="205" y="60"/>
                </a:lnTo>
                <a:lnTo>
                  <a:pt x="265" y="0"/>
                </a:lnTo>
                <a:lnTo>
                  <a:pt x="265" y="4"/>
                </a:lnTo>
                <a:lnTo>
                  <a:pt x="209" y="65"/>
                </a:lnTo>
                <a:lnTo>
                  <a:pt x="65" y="65"/>
                </a:lnTo>
                <a:lnTo>
                  <a:pt x="4" y="126"/>
                </a:lnTo>
                <a:close/>
              </a:path>
            </a:pathLst>
          </a:custGeom>
          <a:solidFill>
            <a:schemeClr val="accent1"/>
          </a:solidFill>
          <a:ln>
            <a:solidFill>
              <a:schemeClr val="accent1"/>
            </a:solidFill>
          </a:ln>
        </p:spPr>
        <p:txBody>
          <a:bodyPr vert="horz" wrap="square" lIns="91440" tIns="45720" rIns="91440" bIns="45720" numCol="1" anchor="t" anchorCtr="0" compatLnSpc="1"/>
          <a:lstStyle/>
          <a:p>
            <a:pPr>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68" name="矩形 67"/>
          <p:cNvSpPr/>
          <p:nvPr/>
        </p:nvSpPr>
        <p:spPr>
          <a:xfrm>
            <a:off x="4235450" y="3960494"/>
            <a:ext cx="7221538" cy="21609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0" name="椭圆 69"/>
          <p:cNvSpPr/>
          <p:nvPr/>
        </p:nvSpPr>
        <p:spPr>
          <a:xfrm>
            <a:off x="1160145" y="4313555"/>
            <a:ext cx="1641475" cy="1641475"/>
          </a:xfrm>
          <a:prstGeom prst="ellipse">
            <a:avLst/>
          </a:prstGeom>
          <a:solidFill>
            <a:schemeClr val="accent1"/>
          </a:solidFill>
          <a:ln>
            <a:gradFill flip="none" rotWithShape="1">
              <a:gsLst>
                <a:gs pos="0">
                  <a:schemeClr val="accent6"/>
                </a:gs>
                <a:gs pos="93000">
                  <a:schemeClr val="accent6">
                    <a:alpha val="0"/>
                  </a:schemeClr>
                </a:gs>
              </a:gsLst>
              <a:lin ang="16200000" scaled="1"/>
            </a:gradFill>
          </a:ln>
          <a:scene3d>
            <a:camera prst="orthographicFront">
              <a:rot lat="4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71" name="组合 70"/>
          <p:cNvGrpSpPr/>
          <p:nvPr/>
        </p:nvGrpSpPr>
        <p:grpSpPr>
          <a:xfrm>
            <a:off x="2952750" y="4434840"/>
            <a:ext cx="129540" cy="837565"/>
            <a:chOff x="2061102" y="1110802"/>
            <a:chExt cx="89210" cy="576096"/>
          </a:xfrm>
        </p:grpSpPr>
        <p:cxnSp>
          <p:nvCxnSpPr>
            <p:cNvPr id="72" name="直接连接符 71"/>
            <p:cNvCxnSpPr/>
            <p:nvPr/>
          </p:nvCxnSpPr>
          <p:spPr>
            <a:xfrm flipH="1">
              <a:off x="2061102" y="125235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2150312" y="111080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flipH="1">
            <a:off x="978535" y="4434840"/>
            <a:ext cx="129540" cy="837565"/>
            <a:chOff x="2213502" y="1263202"/>
            <a:chExt cx="89210" cy="576096"/>
          </a:xfrm>
        </p:grpSpPr>
        <p:cxnSp>
          <p:nvCxnSpPr>
            <p:cNvPr id="75" name="直接连接符 74"/>
            <p:cNvCxnSpPr/>
            <p:nvPr/>
          </p:nvCxnSpPr>
          <p:spPr>
            <a:xfrm flipH="1">
              <a:off x="2213502" y="140475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2302712" y="1263202"/>
              <a:ext cx="0" cy="434546"/>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78" name="文本框 77"/>
          <p:cNvSpPr txBox="1"/>
          <p:nvPr/>
        </p:nvSpPr>
        <p:spPr>
          <a:xfrm>
            <a:off x="964187" y="4565650"/>
            <a:ext cx="2052320" cy="436466"/>
          </a:xfrm>
          <a:prstGeom prst="rect">
            <a:avLst/>
          </a:prstGeom>
          <a:noFill/>
        </p:spPr>
        <p:txBody>
          <a:bodyPr wrap="square" rtlCol="0">
            <a:spAutoFit/>
          </a:bodyPr>
          <a:lstStyle/>
          <a:p>
            <a:pPr lvl="0" algn="ctr">
              <a:lnSpc>
                <a:spcPct val="120000"/>
              </a:lnSpc>
              <a:defRPr/>
            </a:pPr>
            <a:r>
              <a:rPr lang="zh-CN" altLang="en-US" sz="2000" b="1" dirty="0">
                <a:latin typeface="微软雅黑" panose="020B0503020204020204" pitchFamily="34" charset="-122"/>
                <a:ea typeface="微软雅黑" panose="020B0503020204020204" pitchFamily="34" charset="-122"/>
                <a:cs typeface="+mn-ea"/>
                <a:sym typeface="+mn-lt"/>
              </a:rPr>
              <a:t>市场场景</a:t>
            </a:r>
          </a:p>
        </p:txBody>
      </p:sp>
      <p:sp>
        <p:nvSpPr>
          <p:cNvPr id="79" name="文本框 78"/>
          <p:cNvSpPr txBox="1"/>
          <p:nvPr/>
        </p:nvSpPr>
        <p:spPr>
          <a:xfrm>
            <a:off x="4782185" y="3918226"/>
            <a:ext cx="6674803" cy="2291012"/>
          </a:xfrm>
          <a:prstGeom prst="rect">
            <a:avLst/>
          </a:prstGeom>
          <a:noFill/>
        </p:spPr>
        <p:txBody>
          <a:bodyPr wrap="square" rtlCol="0">
            <a:spAutoFit/>
          </a:bodyPr>
          <a:lstStyle>
            <a:defPPr>
              <a:defRPr lang="zh-CN"/>
            </a:defPPr>
            <a:lvl1pPr>
              <a:defRPr sz="1600">
                <a:solidFill>
                  <a:schemeClr val="tx1">
                    <a:lumMod val="75000"/>
                    <a:lumOff val="25000"/>
                  </a:schemeClr>
                </a:solidFill>
              </a:defRPr>
            </a:lvl1pPr>
          </a:lstStyle>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角色：</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你是资深的企业短信服务市场策划，对各行业企业与客户的短信交互需求及痛点了如指掌。</a:t>
            </a:r>
          </a:p>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背景：</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一家电商平台即将开启年度大促，需向数百万用户发送促销通知、订单物流提醒等短信，以往使用的短信服务存在到达延迟、部分用户收不到的情况，影响了活动效果与用户体验，平台希望借助可靠的短信服务保障大促期间信息高效触达。</a:t>
            </a:r>
          </a:p>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任务：</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为该电商平台策划短信服务的应用方案。</a:t>
            </a:r>
          </a:p>
          <a:p>
            <a:pPr lvl="0">
              <a:lnSpc>
                <a:spcPct val="120000"/>
              </a:lnSpc>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要求：</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突出高到达率、快发送速度和定制化服务的优势，方案具有可操作性，</a:t>
            </a:r>
            <a:r>
              <a:rPr lang="en-US" altLang="zh-CN" sz="1400" dirty="0">
                <a:solidFill>
                  <a:schemeClr val="bg1"/>
                </a:solidFill>
                <a:latin typeface="微软雅黑" panose="020B0503020204020204" pitchFamily="34" charset="-122"/>
                <a:ea typeface="微软雅黑" panose="020B0503020204020204" pitchFamily="34" charset="-122"/>
                <a:cs typeface="+mn-ea"/>
                <a:sym typeface="+mn-lt"/>
              </a:rPr>
              <a:t>250 </a:t>
            </a:r>
            <a:r>
              <a:rPr lang="zh-CN" altLang="en-US" sz="1400" dirty="0">
                <a:solidFill>
                  <a:schemeClr val="bg1"/>
                </a:solidFill>
                <a:latin typeface="微软雅黑" panose="020B0503020204020204" pitchFamily="34" charset="-122"/>
                <a:ea typeface="微软雅黑" panose="020B0503020204020204" pitchFamily="34" charset="-122"/>
                <a:cs typeface="+mn-ea"/>
                <a:sym typeface="+mn-lt"/>
              </a:rPr>
              <a:t>字左右。</a:t>
            </a:r>
          </a:p>
        </p:txBody>
      </p:sp>
      <p:sp>
        <p:nvSpPr>
          <p:cNvPr id="83" name="iṡļíḍe"/>
          <p:cNvSpPr txBox="1"/>
          <p:nvPr/>
        </p:nvSpPr>
        <p:spPr bwMode="auto">
          <a:xfrm>
            <a:off x="794509" y="1252095"/>
            <a:ext cx="2978026" cy="458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2.</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提示词万能结构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checkerboard(across)">
                                      <p:cBhvr>
                                        <p:cTn id="11" dur="500"/>
                                        <p:tgtEl>
                                          <p:spTgt spid="47"/>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48"/>
                                        </p:tgtEl>
                                        <p:attrNameLst>
                                          <p:attrName>style.visibility</p:attrName>
                                        </p:attrNameLst>
                                      </p:cBhvr>
                                      <p:to>
                                        <p:strVal val="visible"/>
                                      </p:to>
                                    </p:set>
                                    <p:animEffect transition="in" filter="checkerboard(across)">
                                      <p:cBhvr>
                                        <p:cTn id="14" dur="500"/>
                                        <p:tgtEl>
                                          <p:spTgt spid="48"/>
                                        </p:tgtEl>
                                      </p:cBhvr>
                                    </p:animEffect>
                                  </p:childTnLst>
                                </p:cTn>
                              </p:par>
                              <p:par>
                                <p:cTn id="15" presetID="5" presetClass="entr" presetSubtype="1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checkerboard(across)">
                                      <p:cBhvr>
                                        <p:cTn id="17" dur="500"/>
                                        <p:tgtEl>
                                          <p:spTgt spid="49"/>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checkerboard(across)">
                                      <p:cBhvr>
                                        <p:cTn id="20" dur="500"/>
                                        <p:tgtEl>
                                          <p:spTgt spid="50"/>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checkerboard(across)">
                                      <p:cBhvr>
                                        <p:cTn id="23" dur="500"/>
                                        <p:tgtEl>
                                          <p:spTgt spid="51"/>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checkerboard(across)">
                                      <p:cBhvr>
                                        <p:cTn id="26" dur="500"/>
                                        <p:tgtEl>
                                          <p:spTgt spid="53"/>
                                        </p:tgtEl>
                                      </p:cBhvr>
                                    </p:animEffect>
                                  </p:childTnLst>
                                </p:cTn>
                              </p:par>
                              <p:par>
                                <p:cTn id="27" presetID="5" presetClass="entr" presetSubtype="1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checkerboard(across)">
                                      <p:cBhvr>
                                        <p:cTn id="29" dur="500"/>
                                        <p:tgtEl>
                                          <p:spTgt spid="54"/>
                                        </p:tgtEl>
                                      </p:cBhvr>
                                    </p:animEffect>
                                  </p:childTnLst>
                                </p:cTn>
                              </p:par>
                              <p:par>
                                <p:cTn id="30" presetID="5" presetClass="entr" presetSubtype="1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checkerboard(across)">
                                      <p:cBhvr>
                                        <p:cTn id="32" dur="500"/>
                                        <p:tgtEl>
                                          <p:spTgt spid="57"/>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checkerboard(across)">
                                      <p:cBhvr>
                                        <p:cTn id="35" dur="500"/>
                                        <p:tgtEl>
                                          <p:spTgt spid="61"/>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checkerboard(across)">
                                      <p:cBhvr>
                                        <p:cTn id="38" dur="500"/>
                                        <p:tgtEl>
                                          <p:spTgt spid="62"/>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checkerboard(across)">
                                      <p:cBhvr>
                                        <p:cTn id="41" dur="500"/>
                                        <p:tgtEl>
                                          <p:spTgt spid="64"/>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65"/>
                                        </p:tgtEl>
                                        <p:attrNameLst>
                                          <p:attrName>style.visibility</p:attrName>
                                        </p:attrNameLst>
                                      </p:cBhvr>
                                      <p:to>
                                        <p:strVal val="visible"/>
                                      </p:to>
                                    </p:set>
                                    <p:animEffect transition="in" filter="checkerboard(across)">
                                      <p:cBhvr>
                                        <p:cTn id="44" dur="500"/>
                                        <p:tgtEl>
                                          <p:spTgt spid="65"/>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checkerboard(across)">
                                      <p:cBhvr>
                                        <p:cTn id="47" dur="500"/>
                                        <p:tgtEl>
                                          <p:spTgt spid="66"/>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checkerboard(across)">
                                      <p:cBhvr>
                                        <p:cTn id="50" dur="500"/>
                                        <p:tgtEl>
                                          <p:spTgt spid="67"/>
                                        </p:tgtEl>
                                      </p:cBhvr>
                                    </p:animEffect>
                                  </p:childTnLst>
                                </p:cTn>
                              </p:par>
                              <p:par>
                                <p:cTn id="51" presetID="5" presetClass="entr" presetSubtype="10" fill="hold" grpId="0" nodeType="with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checkerboard(across)">
                                      <p:cBhvr>
                                        <p:cTn id="53" dur="500"/>
                                        <p:tgtEl>
                                          <p:spTgt spid="68"/>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checkerboard(across)">
                                      <p:cBhvr>
                                        <p:cTn id="56" dur="500"/>
                                        <p:tgtEl>
                                          <p:spTgt spid="70"/>
                                        </p:tgtEl>
                                      </p:cBhvr>
                                    </p:animEffect>
                                  </p:childTnLst>
                                </p:cTn>
                              </p:par>
                              <p:par>
                                <p:cTn id="57" presetID="5" presetClass="entr" presetSubtype="10" fill="hold" nodeType="withEffect">
                                  <p:stCondLst>
                                    <p:cond delay="0"/>
                                  </p:stCondLst>
                                  <p:childTnLst>
                                    <p:set>
                                      <p:cBhvr>
                                        <p:cTn id="58" dur="1" fill="hold">
                                          <p:stCondLst>
                                            <p:cond delay="0"/>
                                          </p:stCondLst>
                                        </p:cTn>
                                        <p:tgtEl>
                                          <p:spTgt spid="71"/>
                                        </p:tgtEl>
                                        <p:attrNameLst>
                                          <p:attrName>style.visibility</p:attrName>
                                        </p:attrNameLst>
                                      </p:cBhvr>
                                      <p:to>
                                        <p:strVal val="visible"/>
                                      </p:to>
                                    </p:set>
                                    <p:animEffect transition="in" filter="checkerboard(across)">
                                      <p:cBhvr>
                                        <p:cTn id="59" dur="500"/>
                                        <p:tgtEl>
                                          <p:spTgt spid="71"/>
                                        </p:tgtEl>
                                      </p:cBhvr>
                                    </p:animEffect>
                                  </p:childTnLst>
                                </p:cTn>
                              </p:par>
                              <p:par>
                                <p:cTn id="60" presetID="5" presetClass="entr" presetSubtype="10" fill="hold" nodeType="withEffect">
                                  <p:stCondLst>
                                    <p:cond delay="0"/>
                                  </p:stCondLst>
                                  <p:childTnLst>
                                    <p:set>
                                      <p:cBhvr>
                                        <p:cTn id="61" dur="1" fill="hold">
                                          <p:stCondLst>
                                            <p:cond delay="0"/>
                                          </p:stCondLst>
                                        </p:cTn>
                                        <p:tgtEl>
                                          <p:spTgt spid="74"/>
                                        </p:tgtEl>
                                        <p:attrNameLst>
                                          <p:attrName>style.visibility</p:attrName>
                                        </p:attrNameLst>
                                      </p:cBhvr>
                                      <p:to>
                                        <p:strVal val="visible"/>
                                      </p:to>
                                    </p:set>
                                    <p:animEffect transition="in" filter="checkerboard(across)">
                                      <p:cBhvr>
                                        <p:cTn id="62" dur="500"/>
                                        <p:tgtEl>
                                          <p:spTgt spid="74"/>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checkerboard(across)">
                                      <p:cBhvr>
                                        <p:cTn id="65" dur="500"/>
                                        <p:tgtEl>
                                          <p:spTgt spid="78"/>
                                        </p:tgtEl>
                                      </p:cBhvr>
                                    </p:animEffect>
                                  </p:childTnLst>
                                </p:cTn>
                              </p:par>
                              <p:par>
                                <p:cTn id="66" presetID="5" presetClass="entr" presetSubtype="10" fill="hold" grpId="0" nodeType="withEffect">
                                  <p:stCondLst>
                                    <p:cond delay="0"/>
                                  </p:stCondLst>
                                  <p:childTnLst>
                                    <p:set>
                                      <p:cBhvr>
                                        <p:cTn id="67" dur="1" fill="hold">
                                          <p:stCondLst>
                                            <p:cond delay="0"/>
                                          </p:stCondLst>
                                        </p:cTn>
                                        <p:tgtEl>
                                          <p:spTgt spid="79"/>
                                        </p:tgtEl>
                                        <p:attrNameLst>
                                          <p:attrName>style.visibility</p:attrName>
                                        </p:attrNameLst>
                                      </p:cBhvr>
                                      <p:to>
                                        <p:strVal val="visible"/>
                                      </p:to>
                                    </p:set>
                                    <p:animEffect transition="in" filter="checkerboard(across)">
                                      <p:cBhvr>
                                        <p:cTn id="68" dur="500"/>
                                        <p:tgtEl>
                                          <p:spTgt spid="79"/>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83"/>
                                        </p:tgtEl>
                                        <p:attrNameLst>
                                          <p:attrName>style.visibility</p:attrName>
                                        </p:attrNameLst>
                                      </p:cBhvr>
                                      <p:to>
                                        <p:strVal val="visible"/>
                                      </p:to>
                                    </p:set>
                                    <p:animEffect transition="in" filter="barn(inVertical)">
                                      <p:cBhvr>
                                        <p:cTn id="71"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47" grpId="0" animBg="1"/>
      <p:bldP spid="48" grpId="0" animBg="1"/>
      <p:bldP spid="49" grpId="0" animBg="1"/>
      <p:bldP spid="50" grpId="0" animBg="1"/>
      <p:bldP spid="51" grpId="0" animBg="1"/>
      <p:bldP spid="53" grpId="0" animBg="1"/>
      <p:bldP spid="61" grpId="0"/>
      <p:bldP spid="62" grpId="0"/>
      <p:bldP spid="64" grpId="0" animBg="1"/>
      <p:bldP spid="65" grpId="0" animBg="1"/>
      <p:bldP spid="66" grpId="0" animBg="1"/>
      <p:bldP spid="67" grpId="0" animBg="1"/>
      <p:bldP spid="68" grpId="0" animBg="1"/>
      <p:bldP spid="70" grpId="0" animBg="1"/>
      <p:bldP spid="78" grpId="0"/>
      <p:bldP spid="79" grpId="0"/>
      <p:bldP spid="8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sp>
        <p:nvSpPr>
          <p:cNvPr id="2" name="椭圆 1"/>
          <p:cNvSpPr/>
          <p:nvPr/>
        </p:nvSpPr>
        <p:spPr>
          <a:xfrm>
            <a:off x="2299031" y="1345676"/>
            <a:ext cx="660400" cy="660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b="1" dirty="0">
                <a:solidFill>
                  <a:schemeClr val="bg1"/>
                </a:solidFill>
                <a:latin typeface="微软雅黑" panose="020B0503020204020204" pitchFamily="34" charset="-122"/>
                <a:ea typeface="微软雅黑" panose="020B0503020204020204" pitchFamily="34" charset="-122"/>
                <a:cs typeface="MiSans Light" panose="00000400000000000000" pitchFamily="2" charset="-122"/>
              </a:rPr>
              <a:t>01</a:t>
            </a:r>
            <a:endParaRPr lang="zh-CN" altLang="en-US" b="1" dirty="0">
              <a:solidFill>
                <a:schemeClr val="bg1"/>
              </a:solidFill>
              <a:latin typeface="微软雅黑" panose="020B0503020204020204" pitchFamily="34" charset="-122"/>
              <a:ea typeface="微软雅黑" panose="020B0503020204020204" pitchFamily="34" charset="-122"/>
              <a:cs typeface="MiSans Light" panose="00000400000000000000" pitchFamily="2" charset="-122"/>
            </a:endParaRPr>
          </a:p>
        </p:txBody>
      </p:sp>
      <p:sp>
        <p:nvSpPr>
          <p:cNvPr id="3" name="文本框 2"/>
          <p:cNvSpPr txBox="1"/>
          <p:nvPr/>
        </p:nvSpPr>
        <p:spPr>
          <a:xfrm>
            <a:off x="3070799" y="1269476"/>
            <a:ext cx="2052320" cy="436466"/>
          </a:xfrm>
          <a:prstGeom prst="rect">
            <a:avLst/>
          </a:prstGeom>
          <a:noFill/>
        </p:spPr>
        <p:txBody>
          <a:bodyPr wrap="square" rtlCol="0">
            <a:spAutoFit/>
          </a:bodyPr>
          <a:lstStyle/>
          <a:p>
            <a:pPr lvl="0">
              <a:lnSpc>
                <a:spcPct val="120000"/>
              </a:lnSpc>
              <a:defRPr/>
            </a:pPr>
            <a:r>
              <a:rPr lang="en-US" altLang="zh-CN" sz="2000" b="1" dirty="0">
                <a:solidFill>
                  <a:schemeClr val="accent1"/>
                </a:solidFill>
                <a:latin typeface="微软雅黑" panose="020B0503020204020204" pitchFamily="34" charset="-122"/>
                <a:ea typeface="微软雅黑" panose="020B0503020204020204" pitchFamily="34" charset="-122"/>
                <a:cs typeface="+mn-ea"/>
                <a:sym typeface="+mn-lt"/>
              </a:rPr>
              <a:t>AI</a:t>
            </a:r>
            <a:r>
              <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rPr>
              <a:t>并非万能</a:t>
            </a:r>
          </a:p>
        </p:txBody>
      </p:sp>
      <p:sp>
        <p:nvSpPr>
          <p:cNvPr id="4" name="文本框 3"/>
          <p:cNvSpPr txBox="1"/>
          <p:nvPr/>
        </p:nvSpPr>
        <p:spPr>
          <a:xfrm>
            <a:off x="3078797" y="1683814"/>
            <a:ext cx="8179753" cy="1490023"/>
          </a:xfrm>
          <a:prstGeom prst="rect">
            <a:avLst/>
          </a:prstGeom>
          <a:noFill/>
        </p:spPr>
        <p:txBody>
          <a:bodyPr wrap="square" rtlCol="0">
            <a:spAutoFit/>
          </a:bodyPr>
          <a:lstStyle>
            <a:defPPr>
              <a:defRPr lang="zh-CN"/>
            </a:defPPr>
            <a:lvl1pPr>
              <a:defRPr sz="1600">
                <a:solidFill>
                  <a:schemeClr val="tx1">
                    <a:lumMod val="75000"/>
                    <a:lumOff val="25000"/>
                  </a:schemeClr>
                </a:solidFill>
              </a:defRPr>
            </a:lvl1pPr>
          </a:lstStyle>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理解能力的局限性：</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有限的上下文记忆、对模糊指令的处理能力有限；</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生成能力的局限性：</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逻辑推理与创新思维的限制、</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AI</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的输入和输出都有一定的长度限制；</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数据依赖的局限性：</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训练数据的偏差与错误，由于</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AI</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模型的知识库和训练数据有限，提示词可能无法涵盖所有情况，从而导致输出结果不够全面。</a:t>
            </a:r>
          </a:p>
        </p:txBody>
      </p:sp>
      <p:sp>
        <p:nvSpPr>
          <p:cNvPr id="5" name="椭圆 4"/>
          <p:cNvSpPr/>
          <p:nvPr/>
        </p:nvSpPr>
        <p:spPr>
          <a:xfrm>
            <a:off x="2299031" y="3462959"/>
            <a:ext cx="660400" cy="660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b="1" dirty="0">
                <a:solidFill>
                  <a:schemeClr val="bg1"/>
                </a:solidFill>
                <a:latin typeface="微软雅黑" panose="020B0503020204020204" pitchFamily="34" charset="-122"/>
                <a:ea typeface="微软雅黑" panose="020B0503020204020204" pitchFamily="34" charset="-122"/>
                <a:cs typeface="MiSans Light" panose="00000400000000000000" pitchFamily="2" charset="-122"/>
              </a:rPr>
              <a:t>02</a:t>
            </a:r>
            <a:endParaRPr lang="zh-CN" altLang="en-US" b="1" dirty="0">
              <a:solidFill>
                <a:schemeClr val="bg1"/>
              </a:solidFill>
              <a:latin typeface="微软雅黑" panose="020B0503020204020204" pitchFamily="34" charset="-122"/>
              <a:ea typeface="微软雅黑" panose="020B0503020204020204" pitchFamily="34" charset="-122"/>
              <a:cs typeface="MiSans Light" panose="00000400000000000000" pitchFamily="2" charset="-122"/>
            </a:endParaRPr>
          </a:p>
        </p:txBody>
      </p:sp>
      <p:sp>
        <p:nvSpPr>
          <p:cNvPr id="6" name="文本框 5"/>
          <p:cNvSpPr txBox="1"/>
          <p:nvPr/>
        </p:nvSpPr>
        <p:spPr>
          <a:xfrm>
            <a:off x="3070799" y="3386759"/>
            <a:ext cx="2052320" cy="436466"/>
          </a:xfrm>
          <a:prstGeom prst="rect">
            <a:avLst/>
          </a:prstGeom>
          <a:noFill/>
        </p:spPr>
        <p:txBody>
          <a:bodyPr wrap="square" rtlCol="0">
            <a:spAutoFit/>
          </a:bodyPr>
          <a:lstStyle/>
          <a:p>
            <a:pPr lvl="0">
              <a:lnSpc>
                <a:spcPct val="120000"/>
              </a:lnSpc>
              <a:defRPr/>
            </a:pPr>
            <a:r>
              <a:rPr lang="en-US" altLang="zh-CN" sz="2000" b="1" dirty="0">
                <a:solidFill>
                  <a:schemeClr val="accent1"/>
                </a:solidFill>
                <a:latin typeface="微软雅黑" panose="020B0503020204020204" pitchFamily="34" charset="-122"/>
                <a:ea typeface="微软雅黑" panose="020B0503020204020204" pitchFamily="34" charset="-122"/>
                <a:cs typeface="+mn-ea"/>
                <a:sym typeface="+mn-lt"/>
              </a:rPr>
              <a:t>Tips</a:t>
            </a:r>
          </a:p>
        </p:txBody>
      </p:sp>
      <p:sp>
        <p:nvSpPr>
          <p:cNvPr id="7" name="文本框 6"/>
          <p:cNvSpPr txBox="1"/>
          <p:nvPr/>
        </p:nvSpPr>
        <p:spPr>
          <a:xfrm>
            <a:off x="3078797" y="3801097"/>
            <a:ext cx="8179753" cy="2270045"/>
          </a:xfrm>
          <a:prstGeom prst="rect">
            <a:avLst/>
          </a:prstGeom>
          <a:noFill/>
        </p:spPr>
        <p:txBody>
          <a:bodyPr wrap="square" rtlCol="0">
            <a:spAutoFit/>
          </a:bodyPr>
          <a:lstStyle>
            <a:defPPr>
              <a:defRPr lang="zh-CN"/>
            </a:defPPr>
            <a:lvl1pPr>
              <a:defRPr sz="1600">
                <a:solidFill>
                  <a:schemeClr val="tx1">
                    <a:lumMod val="75000"/>
                    <a:lumOff val="25000"/>
                  </a:schemeClr>
                </a:solidFill>
              </a:defRPr>
            </a:lvl1pPr>
          </a:lstStyle>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分段输出：</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长文分多次输出，质量更高；</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符号分隔：</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使用符号分隔信息，增强理解；</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给出示例：</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提供示例，帮助</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AI</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快速理解；</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拆解任务：</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复杂任务拆解为步骤，引导</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AI</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分步执行；</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明确限定：</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明确输出字数、格式、风格等；</a:t>
            </a:r>
          </a:p>
          <a:p>
            <a:pPr marL="285750" lvl="0" indent="-285750">
              <a:lnSpc>
                <a:spcPct val="150000"/>
              </a:lnSpc>
              <a:buFont typeface="Arial" panose="020B0604020202020204" pitchFamily="34" charset="0"/>
              <a:buChar char="•"/>
              <a:defRPr/>
            </a:pPr>
            <a:r>
              <a:rPr lang="zh-CN" altLang="en-US" b="1" dirty="0">
                <a:solidFill>
                  <a:schemeClr val="tx1"/>
                </a:solidFill>
                <a:latin typeface="微软雅黑" panose="020B0503020204020204" pitchFamily="34" charset="-122"/>
                <a:ea typeface="微软雅黑" panose="020B0503020204020204" pitchFamily="34" charset="-122"/>
                <a:cs typeface="+mn-ea"/>
                <a:sym typeface="+mn-lt"/>
              </a:rPr>
              <a:t>多方验证：</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不要完全依赖</a:t>
            </a:r>
            <a:r>
              <a:rPr lang="en-US" altLang="zh-CN" sz="1400" dirty="0">
                <a:solidFill>
                  <a:schemeClr val="tx1"/>
                </a:solidFill>
                <a:latin typeface="微软雅黑" panose="020B0503020204020204" pitchFamily="34" charset="-122"/>
                <a:ea typeface="微软雅黑" panose="020B0503020204020204" pitchFamily="34" charset="-122"/>
                <a:cs typeface="+mn-ea"/>
                <a:sym typeface="+mn-lt"/>
              </a:rPr>
              <a:t>AI</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的输出，应将其与其他可靠来源进行比对验证，确保信息的准确性。</a:t>
            </a:r>
          </a:p>
        </p:txBody>
      </p:sp>
      <p:sp>
        <p:nvSpPr>
          <p:cNvPr id="8" name="iṡļíḍe"/>
          <p:cNvSpPr txBox="1"/>
          <p:nvPr/>
        </p:nvSpPr>
        <p:spPr bwMode="auto">
          <a:xfrm>
            <a:off x="1194559" y="1393431"/>
            <a:ext cx="481841" cy="413905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nSpc>
                <a:spcPct val="130000"/>
              </a:lnSpc>
              <a:defRPr/>
            </a:pP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3.</a:t>
            </a:r>
            <a:r>
              <a:rPr lang="zh-CN" altLang="en-US" sz="2400" b="1" cap="all" dirty="0">
                <a:solidFill>
                  <a:schemeClr val="accent1"/>
                </a:solidFill>
                <a:latin typeface="微软雅黑" panose="020B0503020204020204" pitchFamily="34" charset="-122"/>
                <a:ea typeface="微软雅黑" panose="020B0503020204020204" pitchFamily="34" charset="-122"/>
                <a:cs typeface="+mn-ea"/>
                <a:sym typeface="+mn-lt"/>
              </a:rPr>
              <a:t>提示词的局限性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p:bldP spid="4" grpId="0"/>
      <p:bldP spid="5" grpId="0" animBg="1"/>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如何与</a:t>
            </a:r>
            <a:r>
              <a:rPr lang="en-US" altLang="zh-CN"/>
              <a:t>AI</a:t>
            </a:r>
            <a:r>
              <a:rPr lang="zh-CN" altLang="en-US"/>
              <a:t>对话</a:t>
            </a:r>
          </a:p>
        </p:txBody>
      </p:sp>
      <p:grpSp>
        <p:nvGrpSpPr>
          <p:cNvPr id="2" name="í$ļîḋé"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123199" y="2037333"/>
            <a:ext cx="10162339" cy="4338910"/>
            <a:chOff x="4475999" y="1191290"/>
            <a:chExt cx="10162339" cy="4338910"/>
          </a:xfrm>
        </p:grpSpPr>
        <p:sp>
          <p:nvSpPr>
            <p:cNvPr id="3" name="î$ḷíḑé"/>
            <p:cNvSpPr/>
            <p:nvPr/>
          </p:nvSpPr>
          <p:spPr bwMode="auto">
            <a:xfrm rot="5400000">
              <a:off x="4739126" y="1603355"/>
              <a:ext cx="3125038" cy="3651292"/>
            </a:xfrm>
            <a:custGeom>
              <a:avLst/>
              <a:gdLst>
                <a:gd name="connsiteX0" fmla="*/ 0 w 1750439"/>
                <a:gd name="connsiteY0" fmla="*/ 1203241 h 2045210"/>
                <a:gd name="connsiteX1" fmla="*/ 215072 w 1750439"/>
                <a:gd name="connsiteY1" fmla="*/ 1203241 h 2045210"/>
                <a:gd name="connsiteX2" fmla="*/ 839375 w 1750439"/>
                <a:gd name="connsiteY2" fmla="*/ 1830240 h 2045210"/>
                <a:gd name="connsiteX3" fmla="*/ 1463678 w 1750439"/>
                <a:gd name="connsiteY3" fmla="*/ 1203241 h 2045210"/>
                <a:gd name="connsiteX4" fmla="*/ 1463678 w 1750439"/>
                <a:gd name="connsiteY4" fmla="*/ 355301 h 2045210"/>
                <a:gd name="connsiteX5" fmla="*/ 1394975 w 1750439"/>
                <a:gd name="connsiteY5" fmla="*/ 355301 h 2045210"/>
                <a:gd name="connsiteX6" fmla="*/ 1571213 w 1750439"/>
                <a:gd name="connsiteY6" fmla="*/ 0 h 2045210"/>
                <a:gd name="connsiteX7" fmla="*/ 1750439 w 1750439"/>
                <a:gd name="connsiteY7" fmla="*/ 355301 h 2045210"/>
                <a:gd name="connsiteX8" fmla="*/ 1678748 w 1750439"/>
                <a:gd name="connsiteY8" fmla="*/ 355301 h 2045210"/>
                <a:gd name="connsiteX9" fmla="*/ 1678748 w 1750439"/>
                <a:gd name="connsiteY9" fmla="*/ 1203241 h 2045210"/>
                <a:gd name="connsiteX10" fmla="*/ 839375 w 1750439"/>
                <a:gd name="connsiteY10" fmla="*/ 2045210 h 2045210"/>
                <a:gd name="connsiteX11" fmla="*/ 0 w 1750439"/>
                <a:gd name="connsiteY11" fmla="*/ 1203241 h 204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0439" h="2045210">
                  <a:moveTo>
                    <a:pt x="0" y="1203241"/>
                  </a:moveTo>
                  <a:cubicBezTo>
                    <a:pt x="0" y="1203241"/>
                    <a:pt x="0" y="1203241"/>
                    <a:pt x="215072" y="1203241"/>
                  </a:cubicBezTo>
                  <a:cubicBezTo>
                    <a:pt x="215072" y="1549583"/>
                    <a:pt x="492872" y="1830240"/>
                    <a:pt x="839375" y="1830240"/>
                  </a:cubicBezTo>
                  <a:cubicBezTo>
                    <a:pt x="1185878" y="1830240"/>
                    <a:pt x="1463678" y="1549583"/>
                    <a:pt x="1463678" y="1203241"/>
                  </a:cubicBezTo>
                  <a:cubicBezTo>
                    <a:pt x="1463678" y="1203241"/>
                    <a:pt x="1463678" y="1203241"/>
                    <a:pt x="1463678" y="355301"/>
                  </a:cubicBezTo>
                  <a:cubicBezTo>
                    <a:pt x="1463678" y="355301"/>
                    <a:pt x="1463678" y="355301"/>
                    <a:pt x="1394975" y="355301"/>
                  </a:cubicBezTo>
                  <a:cubicBezTo>
                    <a:pt x="1394975" y="355301"/>
                    <a:pt x="1394975" y="355301"/>
                    <a:pt x="1571213" y="0"/>
                  </a:cubicBezTo>
                  <a:lnTo>
                    <a:pt x="1750439" y="355301"/>
                  </a:lnTo>
                  <a:cubicBezTo>
                    <a:pt x="1750439" y="355301"/>
                    <a:pt x="1750439" y="355301"/>
                    <a:pt x="1678748" y="355301"/>
                  </a:cubicBezTo>
                  <a:cubicBezTo>
                    <a:pt x="1678748" y="355301"/>
                    <a:pt x="1678748" y="355301"/>
                    <a:pt x="1678748" y="1203241"/>
                  </a:cubicBezTo>
                  <a:cubicBezTo>
                    <a:pt x="1678748" y="1669011"/>
                    <a:pt x="1302375" y="2045210"/>
                    <a:pt x="839375" y="2045210"/>
                  </a:cubicBezTo>
                  <a:cubicBezTo>
                    <a:pt x="376375" y="2045210"/>
                    <a:pt x="0" y="1669011"/>
                    <a:pt x="0" y="1203241"/>
                  </a:cubicBezTo>
                  <a:close/>
                </a:path>
              </a:pathLst>
            </a:custGeom>
            <a:solidFill>
              <a:schemeClr val="accent1"/>
            </a:solidFill>
            <a:ln>
              <a:noFill/>
            </a:ln>
          </p:spPr>
          <p:txBody>
            <a:bodyPr wrap="square" lIns="91440" tIns="45720" rIns="91440" bIns="45720">
              <a:noAutofit/>
            </a:bodyPr>
            <a:lstStyle/>
            <a:p>
              <a:pPr>
                <a:lnSpc>
                  <a:spcPct val="120000"/>
                </a:lnSpc>
              </a:pPr>
              <a:endParaRPr lang="zh-CN" altLang="en-US" sz="2400" dirty="0">
                <a:latin typeface="微软雅黑" panose="020B0503020204020204" pitchFamily="34" charset="-122"/>
                <a:ea typeface="微软雅黑" panose="020B0503020204020204" pitchFamily="34" charset="-122"/>
              </a:endParaRPr>
            </a:p>
          </p:txBody>
        </p:sp>
        <p:sp>
          <p:nvSpPr>
            <p:cNvPr id="4" name="ï$ľiďê"/>
            <p:cNvSpPr/>
            <p:nvPr/>
          </p:nvSpPr>
          <p:spPr bwMode="auto">
            <a:xfrm rot="5400000">
              <a:off x="5021741" y="2412227"/>
              <a:ext cx="1910103" cy="1903610"/>
            </a:xfrm>
            <a:prstGeom prst="ellipse">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 name="ï$ľïḍe"/>
            <p:cNvSpPr txBox="1"/>
            <p:nvPr/>
          </p:nvSpPr>
          <p:spPr bwMode="auto">
            <a:xfrm>
              <a:off x="5256792" y="1866482"/>
              <a:ext cx="7200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20000"/>
                </a:lnSpc>
                <a:spcBef>
                  <a:spcPct val="0"/>
                </a:spcBef>
              </a:pPr>
              <a:r>
                <a:rPr lang="en-US" altLang="zh-CN" b="1" dirty="0">
                  <a:solidFill>
                    <a:schemeClr val="bg1"/>
                  </a:solidFill>
                  <a:latin typeface="微软雅黑" panose="020B0503020204020204" pitchFamily="34" charset="-122"/>
                  <a:ea typeface="微软雅黑" panose="020B0503020204020204" pitchFamily="34" charset="-122"/>
                </a:rPr>
                <a:t>01</a:t>
              </a:r>
            </a:p>
          </p:txBody>
        </p:sp>
        <p:sp>
          <p:nvSpPr>
            <p:cNvPr id="6" name="iṧľîde"/>
            <p:cNvSpPr txBox="1"/>
            <p:nvPr/>
          </p:nvSpPr>
          <p:spPr bwMode="auto">
            <a:xfrm>
              <a:off x="7131000" y="4453417"/>
              <a:ext cx="720000"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20000"/>
                </a:lnSpc>
                <a:spcBef>
                  <a:spcPct val="0"/>
                </a:spcBef>
              </a:pPr>
              <a:r>
                <a:rPr lang="en-US" altLang="zh-CN" b="1" dirty="0">
                  <a:solidFill>
                    <a:schemeClr val="bg1"/>
                  </a:solidFill>
                  <a:latin typeface="微软雅黑" panose="020B0503020204020204" pitchFamily="34" charset="-122"/>
                  <a:ea typeface="微软雅黑" panose="020B0503020204020204" pitchFamily="34" charset="-122"/>
                </a:rPr>
                <a:t>02</a:t>
              </a:r>
            </a:p>
          </p:txBody>
        </p:sp>
        <p:sp>
          <p:nvSpPr>
            <p:cNvPr id="7" name="ïš1idê"/>
            <p:cNvSpPr/>
            <p:nvPr/>
          </p:nvSpPr>
          <p:spPr bwMode="auto">
            <a:xfrm>
              <a:off x="6478942" y="1564593"/>
              <a:ext cx="899312" cy="900726"/>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accent1"/>
            </a:solidFill>
            <a:ln w="57150">
              <a:gradFill>
                <a:gsLst>
                  <a:gs pos="0">
                    <a:schemeClr val="accent6"/>
                  </a:gs>
                  <a:gs pos="100000">
                    <a:schemeClr val="accent6">
                      <a:alpha val="50000"/>
                    </a:schemeClr>
                  </a:gs>
                </a:gsLst>
                <a:lin ang="5400000" scaled="1"/>
              </a:gradFill>
            </a:ln>
          </p:spPr>
          <p:txBody>
            <a:bodyPr vert="horz" wrap="none" lIns="91440" tIns="45720" rIns="91440" bIns="45720" numCol="1" anchor="ctr" anchorCtr="0" compatLnSpc="1">
              <a:normAutofit/>
            </a:bodyPr>
            <a:lstStyle/>
            <a:p>
              <a:pPr algn="ctr">
                <a:lnSpc>
                  <a:spcPct val="120000"/>
                </a:lnSpc>
              </a:pPr>
              <a:endParaRPr lang="id-ID" sz="1600" b="1" dirty="0">
                <a:latin typeface="微软雅黑" panose="020B0503020204020204" pitchFamily="34" charset="-122"/>
                <a:ea typeface="微软雅黑" panose="020B0503020204020204" pitchFamily="34" charset="-122"/>
              </a:endParaRPr>
            </a:p>
          </p:txBody>
        </p:sp>
        <p:sp>
          <p:nvSpPr>
            <p:cNvPr id="8" name="íšľíḍe"/>
            <p:cNvSpPr txBox="1"/>
            <p:nvPr/>
          </p:nvSpPr>
          <p:spPr bwMode="auto">
            <a:xfrm>
              <a:off x="7497171" y="1191290"/>
              <a:ext cx="402490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mn-lt"/>
                </a:rPr>
                <a:t>AI</a:t>
              </a: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mn-lt"/>
                </a:rPr>
                <a:t>伦理：技术进步背后的责任</a:t>
              </a:r>
            </a:p>
          </p:txBody>
        </p:sp>
        <p:sp>
          <p:nvSpPr>
            <p:cNvPr id="9" name="îṥliḑê"/>
            <p:cNvSpPr/>
            <p:nvPr/>
          </p:nvSpPr>
          <p:spPr bwMode="auto">
            <a:xfrm>
              <a:off x="7497171" y="1633097"/>
              <a:ext cx="6006883" cy="870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AI</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伦理是指在人工智能开发和应用过程中，需要确保技术不会侵犯个人权力、破坏社会公平或危害自然环节。</a:t>
              </a:r>
            </a:p>
          </p:txBody>
        </p:sp>
        <p:sp>
          <p:nvSpPr>
            <p:cNvPr id="10" name="işḻîdè"/>
            <p:cNvSpPr/>
            <p:nvPr/>
          </p:nvSpPr>
          <p:spPr bwMode="auto">
            <a:xfrm>
              <a:off x="8226623" y="4171779"/>
              <a:ext cx="899312" cy="900726"/>
            </a:xfrm>
            <a:custGeom>
              <a:avLst/>
              <a:gdLst>
                <a:gd name="T0" fmla="*/ 1066 w 1272"/>
                <a:gd name="T1" fmla="*/ 168 h 1274"/>
                <a:gd name="T2" fmla="*/ 1132 w 1272"/>
                <a:gd name="T3" fmla="*/ 238 h 1274"/>
                <a:gd name="T4" fmla="*/ 1186 w 1272"/>
                <a:gd name="T5" fmla="*/ 316 h 1274"/>
                <a:gd name="T6" fmla="*/ 1226 w 1272"/>
                <a:gd name="T7" fmla="*/ 398 h 1274"/>
                <a:gd name="T8" fmla="*/ 1254 w 1272"/>
                <a:gd name="T9" fmla="*/ 486 h 1274"/>
                <a:gd name="T10" fmla="*/ 1270 w 1272"/>
                <a:gd name="T11" fmla="*/ 576 h 1274"/>
                <a:gd name="T12" fmla="*/ 1272 w 1272"/>
                <a:gd name="T13" fmla="*/ 668 h 1274"/>
                <a:gd name="T14" fmla="*/ 1260 w 1272"/>
                <a:gd name="T15" fmla="*/ 760 h 1274"/>
                <a:gd name="T16" fmla="*/ 1236 w 1272"/>
                <a:gd name="T17" fmla="*/ 850 h 1274"/>
                <a:gd name="T18" fmla="*/ 1198 w 1272"/>
                <a:gd name="T19" fmla="*/ 936 h 1274"/>
                <a:gd name="T20" fmla="*/ 1146 w 1272"/>
                <a:gd name="T21" fmla="*/ 1016 h 1274"/>
                <a:gd name="T22" fmla="*/ 1106 w 1272"/>
                <a:gd name="T23" fmla="*/ 1068 h 1274"/>
                <a:gd name="T24" fmla="*/ 1036 w 1272"/>
                <a:gd name="T25" fmla="*/ 1134 h 1274"/>
                <a:gd name="T26" fmla="*/ 958 w 1272"/>
                <a:gd name="T27" fmla="*/ 1186 h 1274"/>
                <a:gd name="T28" fmla="*/ 874 w 1272"/>
                <a:gd name="T29" fmla="*/ 1228 h 1274"/>
                <a:gd name="T30" fmla="*/ 786 w 1272"/>
                <a:gd name="T31" fmla="*/ 1256 h 1274"/>
                <a:gd name="T32" fmla="*/ 696 w 1272"/>
                <a:gd name="T33" fmla="*/ 1272 h 1274"/>
                <a:gd name="T34" fmla="*/ 604 w 1272"/>
                <a:gd name="T35" fmla="*/ 1274 h 1274"/>
                <a:gd name="T36" fmla="*/ 514 w 1272"/>
                <a:gd name="T37" fmla="*/ 1262 h 1274"/>
                <a:gd name="T38" fmla="*/ 424 w 1272"/>
                <a:gd name="T39" fmla="*/ 1238 h 1274"/>
                <a:gd name="T40" fmla="*/ 338 w 1272"/>
                <a:gd name="T41" fmla="*/ 1200 h 1274"/>
                <a:gd name="T42" fmla="*/ 256 w 1272"/>
                <a:gd name="T43" fmla="*/ 1148 h 1274"/>
                <a:gd name="T44" fmla="*/ 206 w 1272"/>
                <a:gd name="T45" fmla="*/ 1106 h 1274"/>
                <a:gd name="T46" fmla="*/ 140 w 1272"/>
                <a:gd name="T47" fmla="*/ 1036 h 1274"/>
                <a:gd name="T48" fmla="*/ 86 w 1272"/>
                <a:gd name="T49" fmla="*/ 958 h 1274"/>
                <a:gd name="T50" fmla="*/ 46 w 1272"/>
                <a:gd name="T51" fmla="*/ 876 h 1274"/>
                <a:gd name="T52" fmla="*/ 18 w 1272"/>
                <a:gd name="T53" fmla="*/ 788 h 1274"/>
                <a:gd name="T54" fmla="*/ 2 w 1272"/>
                <a:gd name="T55" fmla="*/ 698 h 1274"/>
                <a:gd name="T56" fmla="*/ 0 w 1272"/>
                <a:gd name="T57" fmla="*/ 606 h 1274"/>
                <a:gd name="T58" fmla="*/ 10 w 1272"/>
                <a:gd name="T59" fmla="*/ 514 h 1274"/>
                <a:gd name="T60" fmla="*/ 36 w 1272"/>
                <a:gd name="T61" fmla="*/ 426 h 1274"/>
                <a:gd name="T62" fmla="*/ 74 w 1272"/>
                <a:gd name="T63" fmla="*/ 338 h 1274"/>
                <a:gd name="T64" fmla="*/ 124 w 1272"/>
                <a:gd name="T65" fmla="*/ 258 h 1274"/>
                <a:gd name="T66" fmla="*/ 166 w 1272"/>
                <a:gd name="T67" fmla="*/ 208 h 1274"/>
                <a:gd name="T68" fmla="*/ 236 w 1272"/>
                <a:gd name="T69" fmla="*/ 142 h 1274"/>
                <a:gd name="T70" fmla="*/ 314 w 1272"/>
                <a:gd name="T71" fmla="*/ 88 h 1274"/>
                <a:gd name="T72" fmla="*/ 398 w 1272"/>
                <a:gd name="T73" fmla="*/ 46 h 1274"/>
                <a:gd name="T74" fmla="*/ 486 w 1272"/>
                <a:gd name="T75" fmla="*/ 18 h 1274"/>
                <a:gd name="T76" fmla="*/ 576 w 1272"/>
                <a:gd name="T77" fmla="*/ 4 h 1274"/>
                <a:gd name="T78" fmla="*/ 668 w 1272"/>
                <a:gd name="T79" fmla="*/ 2 h 1274"/>
                <a:gd name="T80" fmla="*/ 758 w 1272"/>
                <a:gd name="T81" fmla="*/ 12 h 1274"/>
                <a:gd name="T82" fmla="*/ 848 w 1272"/>
                <a:gd name="T83" fmla="*/ 36 h 1274"/>
                <a:gd name="T84" fmla="*/ 934 w 1272"/>
                <a:gd name="T85" fmla="*/ 74 h 1274"/>
                <a:gd name="T86" fmla="*/ 1016 w 1272"/>
                <a:gd name="T87" fmla="*/ 126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2" h="1274">
                  <a:moveTo>
                    <a:pt x="1042" y="146"/>
                  </a:moveTo>
                  <a:lnTo>
                    <a:pt x="1042" y="146"/>
                  </a:lnTo>
                  <a:lnTo>
                    <a:pt x="1066" y="168"/>
                  </a:lnTo>
                  <a:lnTo>
                    <a:pt x="1090" y="190"/>
                  </a:lnTo>
                  <a:lnTo>
                    <a:pt x="1112" y="214"/>
                  </a:lnTo>
                  <a:lnTo>
                    <a:pt x="1132" y="238"/>
                  </a:lnTo>
                  <a:lnTo>
                    <a:pt x="1152" y="264"/>
                  </a:lnTo>
                  <a:lnTo>
                    <a:pt x="1170" y="290"/>
                  </a:lnTo>
                  <a:lnTo>
                    <a:pt x="1186" y="316"/>
                  </a:lnTo>
                  <a:lnTo>
                    <a:pt x="1200" y="342"/>
                  </a:lnTo>
                  <a:lnTo>
                    <a:pt x="1214" y="370"/>
                  </a:lnTo>
                  <a:lnTo>
                    <a:pt x="1226" y="398"/>
                  </a:lnTo>
                  <a:lnTo>
                    <a:pt x="1238" y="428"/>
                  </a:lnTo>
                  <a:lnTo>
                    <a:pt x="1246" y="456"/>
                  </a:lnTo>
                  <a:lnTo>
                    <a:pt x="1254" y="486"/>
                  </a:lnTo>
                  <a:lnTo>
                    <a:pt x="1260" y="516"/>
                  </a:lnTo>
                  <a:lnTo>
                    <a:pt x="1266" y="546"/>
                  </a:lnTo>
                  <a:lnTo>
                    <a:pt x="1270" y="576"/>
                  </a:lnTo>
                  <a:lnTo>
                    <a:pt x="1272" y="608"/>
                  </a:lnTo>
                  <a:lnTo>
                    <a:pt x="1272" y="638"/>
                  </a:lnTo>
                  <a:lnTo>
                    <a:pt x="1272" y="668"/>
                  </a:lnTo>
                  <a:lnTo>
                    <a:pt x="1270" y="700"/>
                  </a:lnTo>
                  <a:lnTo>
                    <a:pt x="1266" y="730"/>
                  </a:lnTo>
                  <a:lnTo>
                    <a:pt x="1260" y="760"/>
                  </a:lnTo>
                  <a:lnTo>
                    <a:pt x="1254" y="790"/>
                  </a:lnTo>
                  <a:lnTo>
                    <a:pt x="1246" y="820"/>
                  </a:lnTo>
                  <a:lnTo>
                    <a:pt x="1236" y="850"/>
                  </a:lnTo>
                  <a:lnTo>
                    <a:pt x="1226" y="878"/>
                  </a:lnTo>
                  <a:lnTo>
                    <a:pt x="1212" y="908"/>
                  </a:lnTo>
                  <a:lnTo>
                    <a:pt x="1198" y="936"/>
                  </a:lnTo>
                  <a:lnTo>
                    <a:pt x="1182" y="964"/>
                  </a:lnTo>
                  <a:lnTo>
                    <a:pt x="1166" y="990"/>
                  </a:lnTo>
                  <a:lnTo>
                    <a:pt x="1146" y="1016"/>
                  </a:lnTo>
                  <a:lnTo>
                    <a:pt x="1126" y="1042"/>
                  </a:lnTo>
                  <a:lnTo>
                    <a:pt x="1126" y="1042"/>
                  </a:lnTo>
                  <a:lnTo>
                    <a:pt x="1106" y="1068"/>
                  </a:lnTo>
                  <a:lnTo>
                    <a:pt x="1082" y="1090"/>
                  </a:lnTo>
                  <a:lnTo>
                    <a:pt x="1060" y="1112"/>
                  </a:lnTo>
                  <a:lnTo>
                    <a:pt x="1036" y="1134"/>
                  </a:lnTo>
                  <a:lnTo>
                    <a:pt x="1010" y="1152"/>
                  </a:lnTo>
                  <a:lnTo>
                    <a:pt x="984" y="1170"/>
                  </a:lnTo>
                  <a:lnTo>
                    <a:pt x="958" y="1186"/>
                  </a:lnTo>
                  <a:lnTo>
                    <a:pt x="930" y="1202"/>
                  </a:lnTo>
                  <a:lnTo>
                    <a:pt x="902" y="1216"/>
                  </a:lnTo>
                  <a:lnTo>
                    <a:pt x="874" y="1228"/>
                  </a:lnTo>
                  <a:lnTo>
                    <a:pt x="846" y="1238"/>
                  </a:lnTo>
                  <a:lnTo>
                    <a:pt x="816" y="1248"/>
                  </a:lnTo>
                  <a:lnTo>
                    <a:pt x="786" y="1256"/>
                  </a:lnTo>
                  <a:lnTo>
                    <a:pt x="756" y="1262"/>
                  </a:lnTo>
                  <a:lnTo>
                    <a:pt x="726" y="1268"/>
                  </a:lnTo>
                  <a:lnTo>
                    <a:pt x="696" y="1272"/>
                  </a:lnTo>
                  <a:lnTo>
                    <a:pt x="666" y="1274"/>
                  </a:lnTo>
                  <a:lnTo>
                    <a:pt x="636" y="1274"/>
                  </a:lnTo>
                  <a:lnTo>
                    <a:pt x="604" y="1274"/>
                  </a:lnTo>
                  <a:lnTo>
                    <a:pt x="574" y="1270"/>
                  </a:lnTo>
                  <a:lnTo>
                    <a:pt x="544" y="1268"/>
                  </a:lnTo>
                  <a:lnTo>
                    <a:pt x="514" y="1262"/>
                  </a:lnTo>
                  <a:lnTo>
                    <a:pt x="484" y="1256"/>
                  </a:lnTo>
                  <a:lnTo>
                    <a:pt x="454" y="1248"/>
                  </a:lnTo>
                  <a:lnTo>
                    <a:pt x="424" y="1238"/>
                  </a:lnTo>
                  <a:lnTo>
                    <a:pt x="394" y="1226"/>
                  </a:lnTo>
                  <a:lnTo>
                    <a:pt x="366" y="1214"/>
                  </a:lnTo>
                  <a:lnTo>
                    <a:pt x="338" y="1200"/>
                  </a:lnTo>
                  <a:lnTo>
                    <a:pt x="310" y="1184"/>
                  </a:lnTo>
                  <a:lnTo>
                    <a:pt x="282" y="1166"/>
                  </a:lnTo>
                  <a:lnTo>
                    <a:pt x="256" y="1148"/>
                  </a:lnTo>
                  <a:lnTo>
                    <a:pt x="230" y="1128"/>
                  </a:lnTo>
                  <a:lnTo>
                    <a:pt x="230" y="1128"/>
                  </a:lnTo>
                  <a:lnTo>
                    <a:pt x="206" y="1106"/>
                  </a:lnTo>
                  <a:lnTo>
                    <a:pt x="182" y="1084"/>
                  </a:lnTo>
                  <a:lnTo>
                    <a:pt x="160" y="1060"/>
                  </a:lnTo>
                  <a:lnTo>
                    <a:pt x="140" y="1036"/>
                  </a:lnTo>
                  <a:lnTo>
                    <a:pt x="120" y="1012"/>
                  </a:lnTo>
                  <a:lnTo>
                    <a:pt x="102" y="986"/>
                  </a:lnTo>
                  <a:lnTo>
                    <a:pt x="86" y="958"/>
                  </a:lnTo>
                  <a:lnTo>
                    <a:pt x="72" y="932"/>
                  </a:lnTo>
                  <a:lnTo>
                    <a:pt x="58" y="904"/>
                  </a:lnTo>
                  <a:lnTo>
                    <a:pt x="46" y="876"/>
                  </a:lnTo>
                  <a:lnTo>
                    <a:pt x="34" y="846"/>
                  </a:lnTo>
                  <a:lnTo>
                    <a:pt x="26" y="818"/>
                  </a:lnTo>
                  <a:lnTo>
                    <a:pt x="18" y="788"/>
                  </a:lnTo>
                  <a:lnTo>
                    <a:pt x="10" y="758"/>
                  </a:lnTo>
                  <a:lnTo>
                    <a:pt x="6" y="728"/>
                  </a:lnTo>
                  <a:lnTo>
                    <a:pt x="2" y="698"/>
                  </a:lnTo>
                  <a:lnTo>
                    <a:pt x="0" y="668"/>
                  </a:lnTo>
                  <a:lnTo>
                    <a:pt x="0" y="636"/>
                  </a:lnTo>
                  <a:lnTo>
                    <a:pt x="0" y="606"/>
                  </a:lnTo>
                  <a:lnTo>
                    <a:pt x="2" y="576"/>
                  </a:lnTo>
                  <a:lnTo>
                    <a:pt x="6" y="544"/>
                  </a:lnTo>
                  <a:lnTo>
                    <a:pt x="10" y="514"/>
                  </a:lnTo>
                  <a:lnTo>
                    <a:pt x="18" y="484"/>
                  </a:lnTo>
                  <a:lnTo>
                    <a:pt x="26" y="454"/>
                  </a:lnTo>
                  <a:lnTo>
                    <a:pt x="36" y="426"/>
                  </a:lnTo>
                  <a:lnTo>
                    <a:pt x="46" y="396"/>
                  </a:lnTo>
                  <a:lnTo>
                    <a:pt x="60" y="368"/>
                  </a:lnTo>
                  <a:lnTo>
                    <a:pt x="74" y="338"/>
                  </a:lnTo>
                  <a:lnTo>
                    <a:pt x="88" y="312"/>
                  </a:lnTo>
                  <a:lnTo>
                    <a:pt x="106" y="284"/>
                  </a:lnTo>
                  <a:lnTo>
                    <a:pt x="124" y="258"/>
                  </a:lnTo>
                  <a:lnTo>
                    <a:pt x="146" y="232"/>
                  </a:lnTo>
                  <a:lnTo>
                    <a:pt x="146" y="232"/>
                  </a:lnTo>
                  <a:lnTo>
                    <a:pt x="166" y="208"/>
                  </a:lnTo>
                  <a:lnTo>
                    <a:pt x="190" y="184"/>
                  </a:lnTo>
                  <a:lnTo>
                    <a:pt x="212" y="162"/>
                  </a:lnTo>
                  <a:lnTo>
                    <a:pt x="236" y="142"/>
                  </a:lnTo>
                  <a:lnTo>
                    <a:pt x="262" y="122"/>
                  </a:lnTo>
                  <a:lnTo>
                    <a:pt x="288" y="104"/>
                  </a:lnTo>
                  <a:lnTo>
                    <a:pt x="314" y="88"/>
                  </a:lnTo>
                  <a:lnTo>
                    <a:pt x="342" y="72"/>
                  </a:lnTo>
                  <a:lnTo>
                    <a:pt x="370" y="58"/>
                  </a:lnTo>
                  <a:lnTo>
                    <a:pt x="398" y="46"/>
                  </a:lnTo>
                  <a:lnTo>
                    <a:pt x="426" y="36"/>
                  </a:lnTo>
                  <a:lnTo>
                    <a:pt x="456" y="26"/>
                  </a:lnTo>
                  <a:lnTo>
                    <a:pt x="486" y="18"/>
                  </a:lnTo>
                  <a:lnTo>
                    <a:pt x="516" y="12"/>
                  </a:lnTo>
                  <a:lnTo>
                    <a:pt x="546" y="8"/>
                  </a:lnTo>
                  <a:lnTo>
                    <a:pt x="576" y="4"/>
                  </a:lnTo>
                  <a:lnTo>
                    <a:pt x="606" y="2"/>
                  </a:lnTo>
                  <a:lnTo>
                    <a:pt x="636" y="0"/>
                  </a:lnTo>
                  <a:lnTo>
                    <a:pt x="668" y="2"/>
                  </a:lnTo>
                  <a:lnTo>
                    <a:pt x="698" y="4"/>
                  </a:lnTo>
                  <a:lnTo>
                    <a:pt x="728" y="8"/>
                  </a:lnTo>
                  <a:lnTo>
                    <a:pt x="758" y="12"/>
                  </a:lnTo>
                  <a:lnTo>
                    <a:pt x="788" y="18"/>
                  </a:lnTo>
                  <a:lnTo>
                    <a:pt x="818" y="28"/>
                  </a:lnTo>
                  <a:lnTo>
                    <a:pt x="848" y="36"/>
                  </a:lnTo>
                  <a:lnTo>
                    <a:pt x="878" y="48"/>
                  </a:lnTo>
                  <a:lnTo>
                    <a:pt x="906" y="60"/>
                  </a:lnTo>
                  <a:lnTo>
                    <a:pt x="934" y="74"/>
                  </a:lnTo>
                  <a:lnTo>
                    <a:pt x="962" y="90"/>
                  </a:lnTo>
                  <a:lnTo>
                    <a:pt x="990" y="108"/>
                  </a:lnTo>
                  <a:lnTo>
                    <a:pt x="1016" y="126"/>
                  </a:lnTo>
                  <a:lnTo>
                    <a:pt x="1042" y="146"/>
                  </a:lnTo>
                  <a:lnTo>
                    <a:pt x="1042" y="146"/>
                  </a:lnTo>
                  <a:close/>
                </a:path>
              </a:pathLst>
            </a:custGeom>
            <a:solidFill>
              <a:schemeClr val="accent1"/>
            </a:solidFill>
            <a:ln w="57150">
              <a:gradFill>
                <a:gsLst>
                  <a:gs pos="0">
                    <a:schemeClr val="accent6"/>
                  </a:gs>
                  <a:gs pos="100000">
                    <a:schemeClr val="accent6">
                      <a:alpha val="50000"/>
                    </a:schemeClr>
                  </a:gs>
                </a:gsLst>
                <a:lin ang="5400000" scaled="1"/>
              </a:gradFill>
            </a:ln>
          </p:spPr>
          <p:txBody>
            <a:bodyPr vert="horz" wrap="none" lIns="91440" tIns="45720" rIns="91440" bIns="45720" numCol="1" anchor="ctr" anchorCtr="0" compatLnSpc="1">
              <a:normAutofit/>
            </a:bodyPr>
            <a:lstStyle/>
            <a:p>
              <a:pPr algn="ctr">
                <a:lnSpc>
                  <a:spcPct val="120000"/>
                </a:lnSpc>
              </a:pPr>
              <a:endParaRPr lang="id-ID" sz="1600" b="1" dirty="0">
                <a:latin typeface="微软雅黑" panose="020B0503020204020204" pitchFamily="34" charset="-122"/>
                <a:ea typeface="微软雅黑" panose="020B0503020204020204" pitchFamily="34" charset="-122"/>
              </a:endParaRPr>
            </a:p>
          </p:txBody>
        </p:sp>
        <p:sp>
          <p:nvSpPr>
            <p:cNvPr id="11" name="îṡḻîḍê"/>
            <p:cNvSpPr txBox="1"/>
            <p:nvPr/>
          </p:nvSpPr>
          <p:spPr bwMode="auto">
            <a:xfrm>
              <a:off x="9244853" y="4027076"/>
              <a:ext cx="2277222"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mn-lt"/>
                </a:rPr>
                <a:t>数据安全与隐私第一</a:t>
              </a:r>
            </a:p>
          </p:txBody>
        </p:sp>
        <p:sp>
          <p:nvSpPr>
            <p:cNvPr id="12" name="îśḷîḋè"/>
            <p:cNvSpPr/>
            <p:nvPr/>
          </p:nvSpPr>
          <p:spPr bwMode="auto">
            <a:xfrm>
              <a:off x="9244852" y="4468882"/>
              <a:ext cx="5393486" cy="106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50000"/>
                </a:lnSpc>
                <a:spcBef>
                  <a:spcPct val="0"/>
                </a:spcBef>
                <a:spcAft>
                  <a:spcPct val="0"/>
                </a:spcAft>
                <a:buClrTx/>
                <a:buSzTx/>
                <a:buFontTx/>
                <a:buNone/>
                <a:defRPr/>
              </a:pPr>
              <a:r>
                <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原则：</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绝不将敏感信息输入到公有</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AI</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模型中。模型可能会记录并学习你的输入，导致机密信息泄露。</a:t>
              </a:r>
            </a:p>
          </p:txBody>
        </p:sp>
      </p:grpSp>
      <p:sp>
        <p:nvSpPr>
          <p:cNvPr id="13" name="businessman-and-strategy_26885"/>
          <p:cNvSpPr>
            <a:spLocks noChangeAspect="1"/>
          </p:cNvSpPr>
          <p:nvPr/>
        </p:nvSpPr>
        <p:spPr>
          <a:xfrm>
            <a:off x="2217498" y="3881695"/>
            <a:ext cx="812988" cy="681144"/>
          </a:xfrm>
          <a:custGeom>
            <a:avLst/>
            <a:gdLst>
              <a:gd name="connsiteX0" fmla="*/ 552739 w 609615"/>
              <a:gd name="connsiteY0" fmla="*/ 397213 h 510753"/>
              <a:gd name="connsiteX1" fmla="*/ 609615 w 609615"/>
              <a:gd name="connsiteY1" fmla="*/ 453983 h 510753"/>
              <a:gd name="connsiteX2" fmla="*/ 552739 w 609615"/>
              <a:gd name="connsiteY2" fmla="*/ 510753 h 510753"/>
              <a:gd name="connsiteX3" fmla="*/ 495863 w 609615"/>
              <a:gd name="connsiteY3" fmla="*/ 453983 h 510753"/>
              <a:gd name="connsiteX4" fmla="*/ 552739 w 609615"/>
              <a:gd name="connsiteY4" fmla="*/ 397213 h 510753"/>
              <a:gd name="connsiteX5" fmla="*/ 547870 w 609615"/>
              <a:gd name="connsiteY5" fmla="*/ 198571 h 510753"/>
              <a:gd name="connsiteX6" fmla="*/ 604746 w 609615"/>
              <a:gd name="connsiteY6" fmla="*/ 255341 h 510753"/>
              <a:gd name="connsiteX7" fmla="*/ 547870 w 609615"/>
              <a:gd name="connsiteY7" fmla="*/ 312111 h 510753"/>
              <a:gd name="connsiteX8" fmla="*/ 490994 w 609615"/>
              <a:gd name="connsiteY8" fmla="*/ 255341 h 510753"/>
              <a:gd name="connsiteX9" fmla="*/ 547870 w 609615"/>
              <a:gd name="connsiteY9" fmla="*/ 198571 h 510753"/>
              <a:gd name="connsiteX10" fmla="*/ 119644 w 609615"/>
              <a:gd name="connsiteY10" fmla="*/ 191797 h 510753"/>
              <a:gd name="connsiteX11" fmla="*/ 127891 w 609615"/>
              <a:gd name="connsiteY11" fmla="*/ 196674 h 510753"/>
              <a:gd name="connsiteX12" fmla="*/ 121502 w 609615"/>
              <a:gd name="connsiteY12" fmla="*/ 203292 h 510753"/>
              <a:gd name="connsiteX13" fmla="*/ 129982 w 609615"/>
              <a:gd name="connsiteY13" fmla="*/ 212233 h 510753"/>
              <a:gd name="connsiteX14" fmla="*/ 122664 w 609615"/>
              <a:gd name="connsiteY14" fmla="*/ 226050 h 510753"/>
              <a:gd name="connsiteX15" fmla="*/ 115462 w 609615"/>
              <a:gd name="connsiteY15" fmla="*/ 225702 h 510753"/>
              <a:gd name="connsiteX16" fmla="*/ 109306 w 609615"/>
              <a:gd name="connsiteY16" fmla="*/ 211652 h 510753"/>
              <a:gd name="connsiteX17" fmla="*/ 117669 w 609615"/>
              <a:gd name="connsiteY17" fmla="*/ 203176 h 510753"/>
              <a:gd name="connsiteX18" fmla="*/ 111513 w 609615"/>
              <a:gd name="connsiteY18" fmla="*/ 196441 h 510753"/>
              <a:gd name="connsiteX19" fmla="*/ 88250 w 609615"/>
              <a:gd name="connsiteY19" fmla="*/ 191374 h 510753"/>
              <a:gd name="connsiteX20" fmla="*/ 111272 w 609615"/>
              <a:gd name="connsiteY20" fmla="*/ 231774 h 510753"/>
              <a:gd name="connsiteX21" fmla="*/ 119760 w 609615"/>
              <a:gd name="connsiteY21" fmla="*/ 238160 h 510753"/>
              <a:gd name="connsiteX22" fmla="*/ 128364 w 609615"/>
              <a:gd name="connsiteY22" fmla="*/ 231891 h 510753"/>
              <a:gd name="connsiteX23" fmla="*/ 152316 w 609615"/>
              <a:gd name="connsiteY23" fmla="*/ 191490 h 510753"/>
              <a:gd name="connsiteX24" fmla="*/ 195918 w 609615"/>
              <a:gd name="connsiteY24" fmla="*/ 193812 h 510753"/>
              <a:gd name="connsiteX25" fmla="*/ 228241 w 609615"/>
              <a:gd name="connsiteY25" fmla="*/ 204725 h 510753"/>
              <a:gd name="connsiteX26" fmla="*/ 239287 w 609615"/>
              <a:gd name="connsiteY26" fmla="*/ 236302 h 510753"/>
              <a:gd name="connsiteX27" fmla="*/ 239287 w 609615"/>
              <a:gd name="connsiteY27" fmla="*/ 249653 h 510753"/>
              <a:gd name="connsiteX28" fmla="*/ 183360 w 609615"/>
              <a:gd name="connsiteY28" fmla="*/ 461987 h 510753"/>
              <a:gd name="connsiteX29" fmla="*/ 132433 w 609615"/>
              <a:gd name="connsiteY29" fmla="*/ 501227 h 510753"/>
              <a:gd name="connsiteX30" fmla="*/ 122085 w 609615"/>
              <a:gd name="connsiteY30" fmla="*/ 501227 h 510753"/>
              <a:gd name="connsiteX31" fmla="*/ 68949 w 609615"/>
              <a:gd name="connsiteY31" fmla="*/ 462568 h 510753"/>
              <a:gd name="connsiteX32" fmla="*/ 0 w 609615"/>
              <a:gd name="connsiteY32" fmla="*/ 249769 h 510753"/>
              <a:gd name="connsiteX33" fmla="*/ 0 w 609615"/>
              <a:gd name="connsiteY33" fmla="*/ 236302 h 510753"/>
              <a:gd name="connsiteX34" fmla="*/ 11046 w 609615"/>
              <a:gd name="connsiteY34" fmla="*/ 204725 h 510753"/>
              <a:gd name="connsiteX35" fmla="*/ 43369 w 609615"/>
              <a:gd name="connsiteY35" fmla="*/ 193812 h 510753"/>
              <a:gd name="connsiteX36" fmla="*/ 138106 w 609615"/>
              <a:gd name="connsiteY36" fmla="*/ 151894 h 510753"/>
              <a:gd name="connsiteX37" fmla="*/ 143448 w 609615"/>
              <a:gd name="connsiteY37" fmla="*/ 154218 h 510753"/>
              <a:gd name="connsiteX38" fmla="*/ 141125 w 609615"/>
              <a:gd name="connsiteY38" fmla="*/ 159679 h 510753"/>
              <a:gd name="connsiteX39" fmla="*/ 118014 w 609615"/>
              <a:gd name="connsiteY39" fmla="*/ 164559 h 510753"/>
              <a:gd name="connsiteX40" fmla="*/ 98271 w 609615"/>
              <a:gd name="connsiteY40" fmla="*/ 158982 h 510753"/>
              <a:gd name="connsiteX41" fmla="*/ 97691 w 609615"/>
              <a:gd name="connsiteY41" fmla="*/ 153172 h 510753"/>
              <a:gd name="connsiteX42" fmla="*/ 103497 w 609615"/>
              <a:gd name="connsiteY42" fmla="*/ 152591 h 510753"/>
              <a:gd name="connsiteX43" fmla="*/ 138106 w 609615"/>
              <a:gd name="connsiteY43" fmla="*/ 151894 h 510753"/>
              <a:gd name="connsiteX44" fmla="*/ 139648 w 609615"/>
              <a:gd name="connsiteY44" fmla="*/ 119739 h 510753"/>
              <a:gd name="connsiteX45" fmla="*/ 149316 w 609615"/>
              <a:gd name="connsiteY45" fmla="*/ 134921 h 510753"/>
              <a:gd name="connsiteX46" fmla="*/ 129981 w 609615"/>
              <a:gd name="connsiteY46" fmla="*/ 134921 h 510753"/>
              <a:gd name="connsiteX47" fmla="*/ 139648 w 609615"/>
              <a:gd name="connsiteY47" fmla="*/ 119739 h 510753"/>
              <a:gd name="connsiteX48" fmla="*/ 91170 w 609615"/>
              <a:gd name="connsiteY48" fmla="*/ 119739 h 510753"/>
              <a:gd name="connsiteX49" fmla="*/ 100838 w 609615"/>
              <a:gd name="connsiteY49" fmla="*/ 134921 h 510753"/>
              <a:gd name="connsiteX50" fmla="*/ 81503 w 609615"/>
              <a:gd name="connsiteY50" fmla="*/ 134921 h 510753"/>
              <a:gd name="connsiteX51" fmla="*/ 91170 w 609615"/>
              <a:gd name="connsiteY51" fmla="*/ 119739 h 510753"/>
              <a:gd name="connsiteX52" fmla="*/ 95591 w 609615"/>
              <a:gd name="connsiteY52" fmla="*/ 95554 h 510753"/>
              <a:gd name="connsiteX53" fmla="*/ 67686 w 609615"/>
              <a:gd name="connsiteY53" fmla="*/ 130042 h 510753"/>
              <a:gd name="connsiteX54" fmla="*/ 67686 w 609615"/>
              <a:gd name="connsiteY54" fmla="*/ 157679 h 510753"/>
              <a:gd name="connsiteX55" fmla="*/ 84313 w 609615"/>
              <a:gd name="connsiteY55" fmla="*/ 174168 h 510753"/>
              <a:gd name="connsiteX56" fmla="*/ 153379 w 609615"/>
              <a:gd name="connsiteY56" fmla="*/ 174168 h 510753"/>
              <a:gd name="connsiteX57" fmla="*/ 169890 w 609615"/>
              <a:gd name="connsiteY57" fmla="*/ 157562 h 510753"/>
              <a:gd name="connsiteX58" fmla="*/ 169890 w 609615"/>
              <a:gd name="connsiteY58" fmla="*/ 112043 h 510753"/>
              <a:gd name="connsiteX59" fmla="*/ 100359 w 609615"/>
              <a:gd name="connsiteY59" fmla="*/ 95554 h 510753"/>
              <a:gd name="connsiteX60" fmla="*/ 305807 w 609615"/>
              <a:gd name="connsiteY60" fmla="*/ 35565 h 510753"/>
              <a:gd name="connsiteX61" fmla="*/ 415442 w 609615"/>
              <a:gd name="connsiteY61" fmla="*/ 35565 h 510753"/>
              <a:gd name="connsiteX62" fmla="*/ 433695 w 609615"/>
              <a:gd name="connsiteY62" fmla="*/ 53792 h 510753"/>
              <a:gd name="connsiteX63" fmla="*/ 415442 w 609615"/>
              <a:gd name="connsiteY63" fmla="*/ 72018 h 510753"/>
              <a:gd name="connsiteX64" fmla="*/ 324060 w 609615"/>
              <a:gd name="connsiteY64" fmla="*/ 72018 h 510753"/>
              <a:gd name="connsiteX65" fmla="*/ 324060 w 609615"/>
              <a:gd name="connsiteY65" fmla="*/ 237103 h 510753"/>
              <a:gd name="connsiteX66" fmla="*/ 415442 w 609615"/>
              <a:gd name="connsiteY66" fmla="*/ 237103 h 510753"/>
              <a:gd name="connsiteX67" fmla="*/ 433695 w 609615"/>
              <a:gd name="connsiteY67" fmla="*/ 255330 h 510753"/>
              <a:gd name="connsiteX68" fmla="*/ 415442 w 609615"/>
              <a:gd name="connsiteY68" fmla="*/ 273556 h 510753"/>
              <a:gd name="connsiteX69" fmla="*/ 324060 w 609615"/>
              <a:gd name="connsiteY69" fmla="*/ 273556 h 510753"/>
              <a:gd name="connsiteX70" fmla="*/ 324060 w 609615"/>
              <a:gd name="connsiteY70" fmla="*/ 469290 h 510753"/>
              <a:gd name="connsiteX71" fmla="*/ 415442 w 609615"/>
              <a:gd name="connsiteY71" fmla="*/ 469290 h 510753"/>
              <a:gd name="connsiteX72" fmla="*/ 433695 w 609615"/>
              <a:gd name="connsiteY72" fmla="*/ 487516 h 510753"/>
              <a:gd name="connsiteX73" fmla="*/ 415442 w 609615"/>
              <a:gd name="connsiteY73" fmla="*/ 505743 h 510753"/>
              <a:gd name="connsiteX74" fmla="*/ 305807 w 609615"/>
              <a:gd name="connsiteY74" fmla="*/ 505743 h 510753"/>
              <a:gd name="connsiteX75" fmla="*/ 287554 w 609615"/>
              <a:gd name="connsiteY75" fmla="*/ 487516 h 510753"/>
              <a:gd name="connsiteX76" fmla="*/ 287554 w 609615"/>
              <a:gd name="connsiteY76" fmla="*/ 53792 h 510753"/>
              <a:gd name="connsiteX77" fmla="*/ 305807 w 609615"/>
              <a:gd name="connsiteY77" fmla="*/ 35565 h 510753"/>
              <a:gd name="connsiteX78" fmla="*/ 117102 w 609615"/>
              <a:gd name="connsiteY78" fmla="*/ 32037 h 510753"/>
              <a:gd name="connsiteX79" fmla="*/ 179890 w 609615"/>
              <a:gd name="connsiteY79" fmla="*/ 108676 h 510753"/>
              <a:gd name="connsiteX80" fmla="*/ 178262 w 609615"/>
              <a:gd name="connsiteY80" fmla="*/ 109373 h 510753"/>
              <a:gd name="connsiteX81" fmla="*/ 178262 w 609615"/>
              <a:gd name="connsiteY81" fmla="*/ 157679 h 510753"/>
              <a:gd name="connsiteX82" fmla="*/ 153379 w 609615"/>
              <a:gd name="connsiteY82" fmla="*/ 182412 h 510753"/>
              <a:gd name="connsiteX83" fmla="*/ 84313 w 609615"/>
              <a:gd name="connsiteY83" fmla="*/ 182412 h 510753"/>
              <a:gd name="connsiteX84" fmla="*/ 59430 w 609615"/>
              <a:gd name="connsiteY84" fmla="*/ 157562 h 510753"/>
              <a:gd name="connsiteX85" fmla="*/ 59430 w 609615"/>
              <a:gd name="connsiteY85" fmla="*/ 133642 h 510753"/>
              <a:gd name="connsiteX86" fmla="*/ 55593 w 609615"/>
              <a:gd name="connsiteY86" fmla="*/ 134803 h 510753"/>
              <a:gd name="connsiteX87" fmla="*/ 117102 w 609615"/>
              <a:gd name="connsiteY87" fmla="*/ 32037 h 510753"/>
              <a:gd name="connsiteX88" fmla="*/ 543107 w 609615"/>
              <a:gd name="connsiteY88" fmla="*/ 0 h 510753"/>
              <a:gd name="connsiteX89" fmla="*/ 599948 w 609615"/>
              <a:gd name="connsiteY89" fmla="*/ 56770 h 510753"/>
              <a:gd name="connsiteX90" fmla="*/ 543107 w 609615"/>
              <a:gd name="connsiteY90" fmla="*/ 113540 h 510753"/>
              <a:gd name="connsiteX91" fmla="*/ 486266 w 609615"/>
              <a:gd name="connsiteY91" fmla="*/ 56770 h 510753"/>
              <a:gd name="connsiteX92" fmla="*/ 543107 w 609615"/>
              <a:gd name="connsiteY92" fmla="*/ 0 h 510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9615" h="510752">
                <a:moveTo>
                  <a:pt x="552739" y="397213"/>
                </a:moveTo>
                <a:cubicBezTo>
                  <a:pt x="584151" y="397213"/>
                  <a:pt x="609615" y="422630"/>
                  <a:pt x="609615" y="453983"/>
                </a:cubicBezTo>
                <a:cubicBezTo>
                  <a:pt x="609615" y="485336"/>
                  <a:pt x="584151" y="510753"/>
                  <a:pt x="552739" y="510753"/>
                </a:cubicBezTo>
                <a:cubicBezTo>
                  <a:pt x="521327" y="510753"/>
                  <a:pt x="495863" y="485336"/>
                  <a:pt x="495863" y="453983"/>
                </a:cubicBezTo>
                <a:cubicBezTo>
                  <a:pt x="495863" y="422630"/>
                  <a:pt x="521327" y="397213"/>
                  <a:pt x="552739" y="397213"/>
                </a:cubicBezTo>
                <a:close/>
                <a:moveTo>
                  <a:pt x="547870" y="198571"/>
                </a:moveTo>
                <a:cubicBezTo>
                  <a:pt x="579282" y="198571"/>
                  <a:pt x="604746" y="223988"/>
                  <a:pt x="604746" y="255341"/>
                </a:cubicBezTo>
                <a:cubicBezTo>
                  <a:pt x="604746" y="286694"/>
                  <a:pt x="579282" y="312111"/>
                  <a:pt x="547870" y="312111"/>
                </a:cubicBezTo>
                <a:cubicBezTo>
                  <a:pt x="516458" y="312111"/>
                  <a:pt x="490994" y="286694"/>
                  <a:pt x="490994" y="255341"/>
                </a:cubicBezTo>
                <a:cubicBezTo>
                  <a:pt x="490994" y="223988"/>
                  <a:pt x="516458" y="198571"/>
                  <a:pt x="547870" y="198571"/>
                </a:cubicBezTo>
                <a:close/>
                <a:moveTo>
                  <a:pt x="119644" y="191797"/>
                </a:moveTo>
                <a:lnTo>
                  <a:pt x="127891" y="196674"/>
                </a:lnTo>
                <a:lnTo>
                  <a:pt x="121502" y="203292"/>
                </a:lnTo>
                <a:lnTo>
                  <a:pt x="129982" y="212233"/>
                </a:lnTo>
                <a:lnTo>
                  <a:pt x="122664" y="226050"/>
                </a:lnTo>
                <a:cubicBezTo>
                  <a:pt x="120573" y="230114"/>
                  <a:pt x="117321" y="229998"/>
                  <a:pt x="115462" y="225702"/>
                </a:cubicBezTo>
                <a:lnTo>
                  <a:pt x="109306" y="211652"/>
                </a:lnTo>
                <a:lnTo>
                  <a:pt x="117669" y="203176"/>
                </a:lnTo>
                <a:lnTo>
                  <a:pt x="111513" y="196441"/>
                </a:lnTo>
                <a:close/>
                <a:moveTo>
                  <a:pt x="88250" y="191374"/>
                </a:moveTo>
                <a:lnTo>
                  <a:pt x="111272" y="231774"/>
                </a:lnTo>
                <a:cubicBezTo>
                  <a:pt x="113597" y="235954"/>
                  <a:pt x="116620" y="238160"/>
                  <a:pt x="119760" y="238160"/>
                </a:cubicBezTo>
                <a:cubicBezTo>
                  <a:pt x="123015" y="238160"/>
                  <a:pt x="126038" y="235954"/>
                  <a:pt x="128364" y="231891"/>
                </a:cubicBezTo>
                <a:lnTo>
                  <a:pt x="152316" y="191490"/>
                </a:lnTo>
                <a:lnTo>
                  <a:pt x="195918" y="193812"/>
                </a:lnTo>
                <a:cubicBezTo>
                  <a:pt x="207894" y="194392"/>
                  <a:pt x="222195" y="199268"/>
                  <a:pt x="228241" y="204725"/>
                </a:cubicBezTo>
                <a:cubicBezTo>
                  <a:pt x="234520" y="210297"/>
                  <a:pt x="239287" y="224112"/>
                  <a:pt x="239287" y="236302"/>
                </a:cubicBezTo>
                <a:lnTo>
                  <a:pt x="239287" y="249653"/>
                </a:lnTo>
                <a:lnTo>
                  <a:pt x="183360" y="461987"/>
                </a:lnTo>
                <a:cubicBezTo>
                  <a:pt x="177663" y="483581"/>
                  <a:pt x="154874" y="501227"/>
                  <a:pt x="132433" y="501227"/>
                </a:cubicBezTo>
                <a:lnTo>
                  <a:pt x="122085" y="501227"/>
                </a:lnTo>
                <a:cubicBezTo>
                  <a:pt x="99645" y="501227"/>
                  <a:pt x="75925" y="483929"/>
                  <a:pt x="68949" y="462568"/>
                </a:cubicBezTo>
                <a:lnTo>
                  <a:pt x="0" y="249769"/>
                </a:lnTo>
                <a:lnTo>
                  <a:pt x="0" y="236302"/>
                </a:lnTo>
                <a:cubicBezTo>
                  <a:pt x="0" y="224112"/>
                  <a:pt x="4883" y="210297"/>
                  <a:pt x="11046" y="204725"/>
                </a:cubicBezTo>
                <a:cubicBezTo>
                  <a:pt x="17208" y="199268"/>
                  <a:pt x="31393" y="194509"/>
                  <a:pt x="43369" y="193812"/>
                </a:cubicBezTo>
                <a:close/>
                <a:moveTo>
                  <a:pt x="138106" y="151894"/>
                </a:moveTo>
                <a:cubicBezTo>
                  <a:pt x="140196" y="151081"/>
                  <a:pt x="142635" y="152127"/>
                  <a:pt x="143448" y="154218"/>
                </a:cubicBezTo>
                <a:cubicBezTo>
                  <a:pt x="144377" y="156426"/>
                  <a:pt x="143332" y="158866"/>
                  <a:pt x="141125" y="159679"/>
                </a:cubicBezTo>
                <a:cubicBezTo>
                  <a:pt x="131950" y="163281"/>
                  <a:pt x="124286" y="164559"/>
                  <a:pt x="118014" y="164559"/>
                </a:cubicBezTo>
                <a:cubicBezTo>
                  <a:pt x="105239" y="164559"/>
                  <a:pt x="98620" y="159330"/>
                  <a:pt x="98271" y="158982"/>
                </a:cubicBezTo>
                <a:cubicBezTo>
                  <a:pt x="96529" y="157588"/>
                  <a:pt x="96181" y="154915"/>
                  <a:pt x="97691" y="153172"/>
                </a:cubicBezTo>
                <a:cubicBezTo>
                  <a:pt x="99084" y="151430"/>
                  <a:pt x="101639" y="151081"/>
                  <a:pt x="103497" y="152591"/>
                </a:cubicBezTo>
                <a:cubicBezTo>
                  <a:pt x="103962" y="152940"/>
                  <a:pt x="114995" y="161073"/>
                  <a:pt x="138106" y="151894"/>
                </a:cubicBezTo>
                <a:close/>
                <a:moveTo>
                  <a:pt x="139648" y="119739"/>
                </a:moveTo>
                <a:cubicBezTo>
                  <a:pt x="147918" y="120435"/>
                  <a:pt x="149316" y="134921"/>
                  <a:pt x="149316" y="134921"/>
                </a:cubicBezTo>
                <a:lnTo>
                  <a:pt x="129981" y="134921"/>
                </a:lnTo>
                <a:cubicBezTo>
                  <a:pt x="129981" y="134921"/>
                  <a:pt x="131379" y="119044"/>
                  <a:pt x="139648" y="119739"/>
                </a:cubicBezTo>
                <a:close/>
                <a:moveTo>
                  <a:pt x="91170" y="119739"/>
                </a:moveTo>
                <a:cubicBezTo>
                  <a:pt x="99440" y="120435"/>
                  <a:pt x="100838" y="134921"/>
                  <a:pt x="100838" y="134921"/>
                </a:cubicBezTo>
                <a:lnTo>
                  <a:pt x="81503" y="134921"/>
                </a:lnTo>
                <a:cubicBezTo>
                  <a:pt x="81503" y="134921"/>
                  <a:pt x="82901" y="119044"/>
                  <a:pt x="91170" y="119739"/>
                </a:cubicBezTo>
                <a:close/>
                <a:moveTo>
                  <a:pt x="95591" y="95554"/>
                </a:moveTo>
                <a:cubicBezTo>
                  <a:pt x="92685" y="103451"/>
                  <a:pt x="84429" y="120752"/>
                  <a:pt x="67686" y="130042"/>
                </a:cubicBezTo>
                <a:lnTo>
                  <a:pt x="67686" y="157679"/>
                </a:lnTo>
                <a:cubicBezTo>
                  <a:pt x="67686" y="166736"/>
                  <a:pt x="75127" y="174168"/>
                  <a:pt x="84313" y="174168"/>
                </a:cubicBezTo>
                <a:lnTo>
                  <a:pt x="153379" y="174168"/>
                </a:lnTo>
                <a:cubicBezTo>
                  <a:pt x="162449" y="174168"/>
                  <a:pt x="169890" y="166736"/>
                  <a:pt x="169890" y="157562"/>
                </a:cubicBezTo>
                <a:lnTo>
                  <a:pt x="169890" y="112043"/>
                </a:lnTo>
                <a:cubicBezTo>
                  <a:pt x="153961" y="116340"/>
                  <a:pt x="122102" y="120752"/>
                  <a:pt x="100359" y="95554"/>
                </a:cubicBezTo>
                <a:close/>
                <a:moveTo>
                  <a:pt x="305807" y="35565"/>
                </a:moveTo>
                <a:lnTo>
                  <a:pt x="415442" y="35565"/>
                </a:lnTo>
                <a:cubicBezTo>
                  <a:pt x="425557" y="35565"/>
                  <a:pt x="433695" y="43692"/>
                  <a:pt x="433695" y="53792"/>
                </a:cubicBezTo>
                <a:cubicBezTo>
                  <a:pt x="433695" y="63892"/>
                  <a:pt x="425557" y="72018"/>
                  <a:pt x="415442" y="72018"/>
                </a:cubicBezTo>
                <a:lnTo>
                  <a:pt x="324060" y="72018"/>
                </a:lnTo>
                <a:lnTo>
                  <a:pt x="324060" y="237103"/>
                </a:lnTo>
                <a:lnTo>
                  <a:pt x="415442" y="237103"/>
                </a:lnTo>
                <a:cubicBezTo>
                  <a:pt x="425557" y="237103"/>
                  <a:pt x="433695" y="245346"/>
                  <a:pt x="433695" y="255330"/>
                </a:cubicBezTo>
                <a:cubicBezTo>
                  <a:pt x="433695" y="265430"/>
                  <a:pt x="425557" y="273556"/>
                  <a:pt x="415442" y="273556"/>
                </a:cubicBezTo>
                <a:lnTo>
                  <a:pt x="324060" y="273556"/>
                </a:lnTo>
                <a:lnTo>
                  <a:pt x="324060" y="469290"/>
                </a:lnTo>
                <a:lnTo>
                  <a:pt x="415442" y="469290"/>
                </a:lnTo>
                <a:cubicBezTo>
                  <a:pt x="425557" y="469290"/>
                  <a:pt x="433695" y="477416"/>
                  <a:pt x="433695" y="487516"/>
                </a:cubicBezTo>
                <a:cubicBezTo>
                  <a:pt x="433695" y="497617"/>
                  <a:pt x="425557" y="505743"/>
                  <a:pt x="415442" y="505743"/>
                </a:cubicBezTo>
                <a:lnTo>
                  <a:pt x="305807" y="505743"/>
                </a:lnTo>
                <a:cubicBezTo>
                  <a:pt x="295692" y="505743"/>
                  <a:pt x="287554" y="497617"/>
                  <a:pt x="287554" y="487516"/>
                </a:cubicBezTo>
                <a:lnTo>
                  <a:pt x="287554" y="53792"/>
                </a:lnTo>
                <a:cubicBezTo>
                  <a:pt x="287554" y="43692"/>
                  <a:pt x="295692" y="35565"/>
                  <a:pt x="305807" y="35565"/>
                </a:cubicBezTo>
                <a:close/>
                <a:moveTo>
                  <a:pt x="117102" y="32037"/>
                </a:moveTo>
                <a:cubicBezTo>
                  <a:pt x="195819" y="32037"/>
                  <a:pt x="179890" y="108676"/>
                  <a:pt x="179890" y="108676"/>
                </a:cubicBezTo>
                <a:cubicBezTo>
                  <a:pt x="179890" y="108676"/>
                  <a:pt x="179308" y="108908"/>
                  <a:pt x="178262" y="109373"/>
                </a:cubicBezTo>
                <a:lnTo>
                  <a:pt x="178262" y="157679"/>
                </a:lnTo>
                <a:cubicBezTo>
                  <a:pt x="178262" y="171381"/>
                  <a:pt x="167099" y="182412"/>
                  <a:pt x="153379" y="182412"/>
                </a:cubicBezTo>
                <a:lnTo>
                  <a:pt x="84313" y="182412"/>
                </a:lnTo>
                <a:cubicBezTo>
                  <a:pt x="70593" y="182412"/>
                  <a:pt x="59430" y="171265"/>
                  <a:pt x="59430" y="157562"/>
                </a:cubicBezTo>
                <a:lnTo>
                  <a:pt x="59430" y="133642"/>
                </a:lnTo>
                <a:cubicBezTo>
                  <a:pt x="58151" y="134106"/>
                  <a:pt x="56872" y="134571"/>
                  <a:pt x="55593" y="134803"/>
                </a:cubicBezTo>
                <a:cubicBezTo>
                  <a:pt x="55593" y="134803"/>
                  <a:pt x="34083" y="32153"/>
                  <a:pt x="117102" y="32037"/>
                </a:cubicBezTo>
                <a:close/>
                <a:moveTo>
                  <a:pt x="543107" y="0"/>
                </a:moveTo>
                <a:cubicBezTo>
                  <a:pt x="574499" y="0"/>
                  <a:pt x="599948" y="25417"/>
                  <a:pt x="599948" y="56770"/>
                </a:cubicBezTo>
                <a:cubicBezTo>
                  <a:pt x="599948" y="88123"/>
                  <a:pt x="574499" y="113540"/>
                  <a:pt x="543107" y="113540"/>
                </a:cubicBezTo>
                <a:cubicBezTo>
                  <a:pt x="511715" y="113540"/>
                  <a:pt x="486266" y="88123"/>
                  <a:pt x="486266" y="56770"/>
                </a:cubicBezTo>
                <a:cubicBezTo>
                  <a:pt x="486266" y="25417"/>
                  <a:pt x="511715" y="0"/>
                  <a:pt x="54310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 name="list-menu_16051"/>
          <p:cNvSpPr>
            <a:spLocks noChangeAspect="1"/>
          </p:cNvSpPr>
          <p:nvPr/>
        </p:nvSpPr>
        <p:spPr>
          <a:xfrm>
            <a:off x="3383198" y="2655375"/>
            <a:ext cx="415138" cy="414513"/>
          </a:xfrm>
          <a:custGeom>
            <a:avLst/>
            <a:gdLst>
              <a:gd name="connsiteX0" fmla="*/ 244898 w 609544"/>
              <a:gd name="connsiteY0" fmla="*/ 449008 h 608627"/>
              <a:gd name="connsiteX1" fmla="*/ 462378 w 609544"/>
              <a:gd name="connsiteY1" fmla="*/ 449008 h 608627"/>
              <a:gd name="connsiteX2" fmla="*/ 481820 w 609544"/>
              <a:gd name="connsiteY2" fmla="*/ 468414 h 608627"/>
              <a:gd name="connsiteX3" fmla="*/ 462378 w 609544"/>
              <a:gd name="connsiteY3" fmla="*/ 487819 h 608627"/>
              <a:gd name="connsiteX4" fmla="*/ 244898 w 609544"/>
              <a:gd name="connsiteY4" fmla="*/ 487819 h 608627"/>
              <a:gd name="connsiteX5" fmla="*/ 225456 w 609544"/>
              <a:gd name="connsiteY5" fmla="*/ 468414 h 608627"/>
              <a:gd name="connsiteX6" fmla="*/ 244898 w 609544"/>
              <a:gd name="connsiteY6" fmla="*/ 449008 h 608627"/>
              <a:gd name="connsiteX7" fmla="*/ 95193 w 609544"/>
              <a:gd name="connsiteY7" fmla="*/ 428191 h 608627"/>
              <a:gd name="connsiteX8" fmla="*/ 175849 w 609544"/>
              <a:gd name="connsiteY8" fmla="*/ 428191 h 608627"/>
              <a:gd name="connsiteX9" fmla="*/ 175849 w 609544"/>
              <a:gd name="connsiteY9" fmla="*/ 508777 h 608627"/>
              <a:gd name="connsiteX10" fmla="*/ 95193 w 609544"/>
              <a:gd name="connsiteY10" fmla="*/ 508777 h 608627"/>
              <a:gd name="connsiteX11" fmla="*/ 244898 w 609544"/>
              <a:gd name="connsiteY11" fmla="*/ 293693 h 608627"/>
              <a:gd name="connsiteX12" fmla="*/ 462378 w 609544"/>
              <a:gd name="connsiteY12" fmla="*/ 293693 h 608627"/>
              <a:gd name="connsiteX13" fmla="*/ 481820 w 609544"/>
              <a:gd name="connsiteY13" fmla="*/ 313098 h 608627"/>
              <a:gd name="connsiteX14" fmla="*/ 462378 w 609544"/>
              <a:gd name="connsiteY14" fmla="*/ 332504 h 608627"/>
              <a:gd name="connsiteX15" fmla="*/ 244898 w 609544"/>
              <a:gd name="connsiteY15" fmla="*/ 332504 h 608627"/>
              <a:gd name="connsiteX16" fmla="*/ 225456 w 609544"/>
              <a:gd name="connsiteY16" fmla="*/ 313098 h 608627"/>
              <a:gd name="connsiteX17" fmla="*/ 244898 w 609544"/>
              <a:gd name="connsiteY17" fmla="*/ 293693 h 608627"/>
              <a:gd name="connsiteX18" fmla="*/ 95193 w 609544"/>
              <a:gd name="connsiteY18" fmla="*/ 272877 h 608627"/>
              <a:gd name="connsiteX19" fmla="*/ 175849 w 609544"/>
              <a:gd name="connsiteY19" fmla="*/ 272877 h 608627"/>
              <a:gd name="connsiteX20" fmla="*/ 175849 w 609544"/>
              <a:gd name="connsiteY20" fmla="*/ 353463 h 608627"/>
              <a:gd name="connsiteX21" fmla="*/ 95193 w 609544"/>
              <a:gd name="connsiteY21" fmla="*/ 353463 h 608627"/>
              <a:gd name="connsiteX22" fmla="*/ 244898 w 609544"/>
              <a:gd name="connsiteY22" fmla="*/ 138308 h 608627"/>
              <a:gd name="connsiteX23" fmla="*/ 462378 w 609544"/>
              <a:gd name="connsiteY23" fmla="*/ 138308 h 608627"/>
              <a:gd name="connsiteX24" fmla="*/ 481820 w 609544"/>
              <a:gd name="connsiteY24" fmla="*/ 157749 h 608627"/>
              <a:gd name="connsiteX25" fmla="*/ 462378 w 609544"/>
              <a:gd name="connsiteY25" fmla="*/ 177190 h 608627"/>
              <a:gd name="connsiteX26" fmla="*/ 244898 w 609544"/>
              <a:gd name="connsiteY26" fmla="*/ 177190 h 608627"/>
              <a:gd name="connsiteX27" fmla="*/ 225456 w 609544"/>
              <a:gd name="connsiteY27" fmla="*/ 157749 h 608627"/>
              <a:gd name="connsiteX28" fmla="*/ 244898 w 609544"/>
              <a:gd name="connsiteY28" fmla="*/ 138308 h 608627"/>
              <a:gd name="connsiteX29" fmla="*/ 95193 w 609544"/>
              <a:gd name="connsiteY29" fmla="*/ 117562 h 608627"/>
              <a:gd name="connsiteX30" fmla="*/ 175849 w 609544"/>
              <a:gd name="connsiteY30" fmla="*/ 117562 h 608627"/>
              <a:gd name="connsiteX31" fmla="*/ 175849 w 609544"/>
              <a:gd name="connsiteY31" fmla="*/ 198148 h 608627"/>
              <a:gd name="connsiteX32" fmla="*/ 95193 w 609544"/>
              <a:gd name="connsiteY32" fmla="*/ 198148 h 608627"/>
              <a:gd name="connsiteX33" fmla="*/ 58339 w 609544"/>
              <a:gd name="connsiteY33" fmla="*/ 58251 h 608627"/>
              <a:gd name="connsiteX34" fmla="*/ 58339 w 609544"/>
              <a:gd name="connsiteY34" fmla="*/ 550376 h 608627"/>
              <a:gd name="connsiteX35" fmla="*/ 551205 w 609544"/>
              <a:gd name="connsiteY35" fmla="*/ 550376 h 608627"/>
              <a:gd name="connsiteX36" fmla="*/ 551205 w 609544"/>
              <a:gd name="connsiteY36" fmla="*/ 58251 h 608627"/>
              <a:gd name="connsiteX37" fmla="*/ 29083 w 609544"/>
              <a:gd name="connsiteY37" fmla="*/ 0 h 608627"/>
              <a:gd name="connsiteX38" fmla="*/ 580289 w 609544"/>
              <a:gd name="connsiteY38" fmla="*/ 0 h 608627"/>
              <a:gd name="connsiteX39" fmla="*/ 609544 w 609544"/>
              <a:gd name="connsiteY39" fmla="*/ 29211 h 608627"/>
              <a:gd name="connsiteX40" fmla="*/ 609544 w 609544"/>
              <a:gd name="connsiteY40" fmla="*/ 579416 h 608627"/>
              <a:gd name="connsiteX41" fmla="*/ 580289 w 609544"/>
              <a:gd name="connsiteY41" fmla="*/ 608627 h 608627"/>
              <a:gd name="connsiteX42" fmla="*/ 29083 w 609544"/>
              <a:gd name="connsiteY42" fmla="*/ 608627 h 608627"/>
              <a:gd name="connsiteX43" fmla="*/ 0 w 609544"/>
              <a:gd name="connsiteY43" fmla="*/ 579416 h 608627"/>
              <a:gd name="connsiteX44" fmla="*/ 0 w 609544"/>
              <a:gd name="connsiteY44" fmla="*/ 29211 h 608627"/>
              <a:gd name="connsiteX45" fmla="*/ 29083 w 609544"/>
              <a:gd name="connsiteY45" fmla="*/ 0 h 6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9544" h="608627">
                <a:moveTo>
                  <a:pt x="244898" y="449008"/>
                </a:moveTo>
                <a:lnTo>
                  <a:pt x="462378" y="449008"/>
                </a:lnTo>
                <a:cubicBezTo>
                  <a:pt x="473045" y="449008"/>
                  <a:pt x="481820" y="457766"/>
                  <a:pt x="481820" y="468414"/>
                </a:cubicBezTo>
                <a:cubicBezTo>
                  <a:pt x="481820" y="479233"/>
                  <a:pt x="473045" y="487819"/>
                  <a:pt x="462378" y="487819"/>
                </a:cubicBezTo>
                <a:lnTo>
                  <a:pt x="244898" y="487819"/>
                </a:lnTo>
                <a:cubicBezTo>
                  <a:pt x="234231" y="487819"/>
                  <a:pt x="225456" y="479233"/>
                  <a:pt x="225456" y="468414"/>
                </a:cubicBezTo>
                <a:cubicBezTo>
                  <a:pt x="225456" y="457766"/>
                  <a:pt x="234231" y="449008"/>
                  <a:pt x="244898" y="449008"/>
                </a:cubicBezTo>
                <a:close/>
                <a:moveTo>
                  <a:pt x="95193" y="428191"/>
                </a:moveTo>
                <a:lnTo>
                  <a:pt x="175849" y="428191"/>
                </a:lnTo>
                <a:lnTo>
                  <a:pt x="175849" y="508777"/>
                </a:lnTo>
                <a:lnTo>
                  <a:pt x="95193" y="508777"/>
                </a:lnTo>
                <a:close/>
                <a:moveTo>
                  <a:pt x="244898" y="293693"/>
                </a:moveTo>
                <a:lnTo>
                  <a:pt x="462378" y="293693"/>
                </a:lnTo>
                <a:cubicBezTo>
                  <a:pt x="473045" y="293693"/>
                  <a:pt x="481820" y="302451"/>
                  <a:pt x="481820" y="313098"/>
                </a:cubicBezTo>
                <a:cubicBezTo>
                  <a:pt x="481820" y="323917"/>
                  <a:pt x="473045" y="332504"/>
                  <a:pt x="462378" y="332504"/>
                </a:cubicBezTo>
                <a:lnTo>
                  <a:pt x="244898" y="332504"/>
                </a:lnTo>
                <a:cubicBezTo>
                  <a:pt x="234231" y="332504"/>
                  <a:pt x="225456" y="323917"/>
                  <a:pt x="225456" y="313098"/>
                </a:cubicBezTo>
                <a:cubicBezTo>
                  <a:pt x="225456" y="302451"/>
                  <a:pt x="234231" y="293693"/>
                  <a:pt x="244898" y="293693"/>
                </a:cubicBezTo>
                <a:close/>
                <a:moveTo>
                  <a:pt x="95193" y="272877"/>
                </a:moveTo>
                <a:lnTo>
                  <a:pt x="175849" y="272877"/>
                </a:lnTo>
                <a:lnTo>
                  <a:pt x="175849" y="353463"/>
                </a:lnTo>
                <a:lnTo>
                  <a:pt x="95193" y="353463"/>
                </a:lnTo>
                <a:close/>
                <a:moveTo>
                  <a:pt x="244898" y="138308"/>
                </a:moveTo>
                <a:lnTo>
                  <a:pt x="462378" y="138308"/>
                </a:lnTo>
                <a:cubicBezTo>
                  <a:pt x="473045" y="138308"/>
                  <a:pt x="481820" y="147082"/>
                  <a:pt x="481820" y="157749"/>
                </a:cubicBezTo>
                <a:cubicBezTo>
                  <a:pt x="481820" y="168588"/>
                  <a:pt x="473045" y="177190"/>
                  <a:pt x="462378" y="177190"/>
                </a:cubicBezTo>
                <a:lnTo>
                  <a:pt x="244898" y="177190"/>
                </a:lnTo>
                <a:cubicBezTo>
                  <a:pt x="234231" y="177190"/>
                  <a:pt x="225456" y="168588"/>
                  <a:pt x="225456" y="157749"/>
                </a:cubicBezTo>
                <a:cubicBezTo>
                  <a:pt x="225456" y="147082"/>
                  <a:pt x="234231" y="138308"/>
                  <a:pt x="244898" y="138308"/>
                </a:cubicBezTo>
                <a:close/>
                <a:moveTo>
                  <a:pt x="95193" y="117562"/>
                </a:moveTo>
                <a:lnTo>
                  <a:pt x="175849" y="117562"/>
                </a:lnTo>
                <a:lnTo>
                  <a:pt x="175849" y="198148"/>
                </a:lnTo>
                <a:lnTo>
                  <a:pt x="95193" y="198148"/>
                </a:lnTo>
                <a:close/>
                <a:moveTo>
                  <a:pt x="58339" y="58251"/>
                </a:moveTo>
                <a:lnTo>
                  <a:pt x="58339" y="550376"/>
                </a:lnTo>
                <a:lnTo>
                  <a:pt x="551205" y="550376"/>
                </a:lnTo>
                <a:lnTo>
                  <a:pt x="551205" y="58251"/>
                </a:lnTo>
                <a:close/>
                <a:moveTo>
                  <a:pt x="29083" y="0"/>
                </a:moveTo>
                <a:lnTo>
                  <a:pt x="580289" y="0"/>
                </a:lnTo>
                <a:cubicBezTo>
                  <a:pt x="596465" y="0"/>
                  <a:pt x="609544" y="13059"/>
                  <a:pt x="609544" y="29211"/>
                </a:cubicBezTo>
                <a:lnTo>
                  <a:pt x="609544" y="579416"/>
                </a:lnTo>
                <a:cubicBezTo>
                  <a:pt x="609544" y="595568"/>
                  <a:pt x="596465" y="608627"/>
                  <a:pt x="580289" y="608627"/>
                </a:cubicBezTo>
                <a:lnTo>
                  <a:pt x="29083" y="608627"/>
                </a:lnTo>
                <a:cubicBezTo>
                  <a:pt x="13079" y="608627"/>
                  <a:pt x="0" y="595568"/>
                  <a:pt x="0" y="579416"/>
                </a:cubicBezTo>
                <a:lnTo>
                  <a:pt x="0" y="29211"/>
                </a:lnTo>
                <a:cubicBezTo>
                  <a:pt x="0" y="13059"/>
                  <a:pt x="13079" y="0"/>
                  <a:pt x="2908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 name="menu-hand-drawn-lines-outlines_35712"/>
          <p:cNvSpPr>
            <a:spLocks noChangeAspect="1"/>
          </p:cNvSpPr>
          <p:nvPr/>
        </p:nvSpPr>
        <p:spPr>
          <a:xfrm>
            <a:off x="5150461" y="5295936"/>
            <a:ext cx="378321" cy="350079"/>
          </a:xfrm>
          <a:custGeom>
            <a:avLst/>
            <a:gdLst>
              <a:gd name="connsiteX0" fmla="*/ 50523 w 608003"/>
              <a:gd name="connsiteY0" fmla="*/ 446181 h 562618"/>
              <a:gd name="connsiteX1" fmla="*/ 55547 w 608003"/>
              <a:gd name="connsiteY1" fmla="*/ 507547 h 562618"/>
              <a:gd name="connsiteX2" fmla="*/ 253860 w 608003"/>
              <a:gd name="connsiteY2" fmla="*/ 509612 h 562618"/>
              <a:gd name="connsiteX3" fmla="*/ 558077 w 608003"/>
              <a:gd name="connsiteY3" fmla="*/ 513152 h 562618"/>
              <a:gd name="connsiteX4" fmla="*/ 555614 w 608003"/>
              <a:gd name="connsiteY4" fmla="*/ 447460 h 562618"/>
              <a:gd name="connsiteX5" fmla="*/ 79683 w 608003"/>
              <a:gd name="connsiteY5" fmla="*/ 446181 h 562618"/>
              <a:gd name="connsiteX6" fmla="*/ 27864 w 608003"/>
              <a:gd name="connsiteY6" fmla="*/ 398977 h 562618"/>
              <a:gd name="connsiteX7" fmla="*/ 580145 w 608003"/>
              <a:gd name="connsiteY7" fmla="*/ 401141 h 562618"/>
              <a:gd name="connsiteX8" fmla="*/ 599749 w 608003"/>
              <a:gd name="connsiteY8" fmla="*/ 413532 h 562618"/>
              <a:gd name="connsiteX9" fmla="*/ 603394 w 608003"/>
              <a:gd name="connsiteY9" fmla="*/ 427300 h 562618"/>
              <a:gd name="connsiteX10" fmla="*/ 607828 w 608003"/>
              <a:gd name="connsiteY10" fmla="*/ 538131 h 562618"/>
              <a:gd name="connsiteX11" fmla="*/ 593050 w 608003"/>
              <a:gd name="connsiteY11" fmla="*/ 560750 h 562618"/>
              <a:gd name="connsiteX12" fmla="*/ 584184 w 608003"/>
              <a:gd name="connsiteY12" fmla="*/ 562618 h 562618"/>
              <a:gd name="connsiteX13" fmla="*/ 581228 w 608003"/>
              <a:gd name="connsiteY13" fmla="*/ 562422 h 562618"/>
              <a:gd name="connsiteX14" fmla="*/ 231497 w 608003"/>
              <a:gd name="connsiteY14" fmla="*/ 556324 h 562618"/>
              <a:gd name="connsiteX15" fmla="*/ 31903 w 608003"/>
              <a:gd name="connsiteY15" fmla="*/ 553472 h 562618"/>
              <a:gd name="connsiteX16" fmla="*/ 9442 w 608003"/>
              <a:gd name="connsiteY16" fmla="*/ 531346 h 562618"/>
              <a:gd name="connsiteX17" fmla="*/ 8653 w 608003"/>
              <a:gd name="connsiteY17" fmla="*/ 525543 h 562618"/>
              <a:gd name="connsiteX18" fmla="*/ 477 w 608003"/>
              <a:gd name="connsiteY18" fmla="*/ 430545 h 562618"/>
              <a:gd name="connsiteX19" fmla="*/ 11510 w 608003"/>
              <a:gd name="connsiteY19" fmla="*/ 405468 h 562618"/>
              <a:gd name="connsiteX20" fmla="*/ 27864 w 608003"/>
              <a:gd name="connsiteY20" fmla="*/ 398977 h 562618"/>
              <a:gd name="connsiteX21" fmla="*/ 50523 w 608003"/>
              <a:gd name="connsiteY21" fmla="*/ 246692 h 562618"/>
              <a:gd name="connsiteX22" fmla="*/ 55547 w 608003"/>
              <a:gd name="connsiteY22" fmla="*/ 308057 h 562618"/>
              <a:gd name="connsiteX23" fmla="*/ 253564 w 608003"/>
              <a:gd name="connsiteY23" fmla="*/ 310122 h 562618"/>
              <a:gd name="connsiteX24" fmla="*/ 558077 w 608003"/>
              <a:gd name="connsiteY24" fmla="*/ 313663 h 562618"/>
              <a:gd name="connsiteX25" fmla="*/ 555614 w 608003"/>
              <a:gd name="connsiteY25" fmla="*/ 247970 h 562618"/>
              <a:gd name="connsiteX26" fmla="*/ 77221 w 608003"/>
              <a:gd name="connsiteY26" fmla="*/ 246692 h 562618"/>
              <a:gd name="connsiteX27" fmla="*/ 27864 w 608003"/>
              <a:gd name="connsiteY27" fmla="*/ 199488 h 562618"/>
              <a:gd name="connsiteX28" fmla="*/ 580145 w 608003"/>
              <a:gd name="connsiteY28" fmla="*/ 201750 h 562618"/>
              <a:gd name="connsiteX29" fmla="*/ 599749 w 608003"/>
              <a:gd name="connsiteY29" fmla="*/ 214042 h 562618"/>
              <a:gd name="connsiteX30" fmla="*/ 603394 w 608003"/>
              <a:gd name="connsiteY30" fmla="*/ 227909 h 562618"/>
              <a:gd name="connsiteX31" fmla="*/ 607828 w 608003"/>
              <a:gd name="connsiteY31" fmla="*/ 338642 h 562618"/>
              <a:gd name="connsiteX32" fmla="*/ 593050 w 608003"/>
              <a:gd name="connsiteY32" fmla="*/ 361260 h 562618"/>
              <a:gd name="connsiteX33" fmla="*/ 584184 w 608003"/>
              <a:gd name="connsiteY33" fmla="*/ 363129 h 562618"/>
              <a:gd name="connsiteX34" fmla="*/ 581228 w 608003"/>
              <a:gd name="connsiteY34" fmla="*/ 362932 h 562618"/>
              <a:gd name="connsiteX35" fmla="*/ 231398 w 608003"/>
              <a:gd name="connsiteY35" fmla="*/ 356933 h 562618"/>
              <a:gd name="connsiteX36" fmla="*/ 31903 w 608003"/>
              <a:gd name="connsiteY36" fmla="*/ 354081 h 562618"/>
              <a:gd name="connsiteX37" fmla="*/ 9442 w 608003"/>
              <a:gd name="connsiteY37" fmla="*/ 331856 h 562618"/>
              <a:gd name="connsiteX38" fmla="*/ 8653 w 608003"/>
              <a:gd name="connsiteY38" fmla="*/ 326054 h 562618"/>
              <a:gd name="connsiteX39" fmla="*/ 477 w 608003"/>
              <a:gd name="connsiteY39" fmla="*/ 231056 h 562618"/>
              <a:gd name="connsiteX40" fmla="*/ 11510 w 608003"/>
              <a:gd name="connsiteY40" fmla="*/ 205978 h 562618"/>
              <a:gd name="connsiteX41" fmla="*/ 27864 w 608003"/>
              <a:gd name="connsiteY41" fmla="*/ 199488 h 562618"/>
              <a:gd name="connsiteX42" fmla="*/ 50523 w 608003"/>
              <a:gd name="connsiteY42" fmla="*/ 47204 h 562618"/>
              <a:gd name="connsiteX43" fmla="*/ 55547 w 608003"/>
              <a:gd name="connsiteY43" fmla="*/ 108668 h 562618"/>
              <a:gd name="connsiteX44" fmla="*/ 253663 w 608003"/>
              <a:gd name="connsiteY44" fmla="*/ 110634 h 562618"/>
              <a:gd name="connsiteX45" fmla="*/ 558077 w 608003"/>
              <a:gd name="connsiteY45" fmla="*/ 114175 h 562618"/>
              <a:gd name="connsiteX46" fmla="*/ 555614 w 608003"/>
              <a:gd name="connsiteY46" fmla="*/ 48581 h 562618"/>
              <a:gd name="connsiteX47" fmla="*/ 74659 w 608003"/>
              <a:gd name="connsiteY47" fmla="*/ 47302 h 562618"/>
              <a:gd name="connsiteX48" fmla="*/ 27864 w 608003"/>
              <a:gd name="connsiteY48" fmla="*/ 0 h 562618"/>
              <a:gd name="connsiteX49" fmla="*/ 580145 w 608003"/>
              <a:gd name="connsiteY49" fmla="*/ 2262 h 562618"/>
              <a:gd name="connsiteX50" fmla="*/ 599749 w 608003"/>
              <a:gd name="connsiteY50" fmla="*/ 14554 h 562618"/>
              <a:gd name="connsiteX51" fmla="*/ 603394 w 608003"/>
              <a:gd name="connsiteY51" fmla="*/ 28421 h 562618"/>
              <a:gd name="connsiteX52" fmla="*/ 607828 w 608003"/>
              <a:gd name="connsiteY52" fmla="*/ 139154 h 562618"/>
              <a:gd name="connsiteX53" fmla="*/ 593050 w 608003"/>
              <a:gd name="connsiteY53" fmla="*/ 161772 h 562618"/>
              <a:gd name="connsiteX54" fmla="*/ 584184 w 608003"/>
              <a:gd name="connsiteY54" fmla="*/ 163641 h 562618"/>
              <a:gd name="connsiteX55" fmla="*/ 581228 w 608003"/>
              <a:gd name="connsiteY55" fmla="*/ 163542 h 562618"/>
              <a:gd name="connsiteX56" fmla="*/ 231299 w 608003"/>
              <a:gd name="connsiteY56" fmla="*/ 157445 h 562618"/>
              <a:gd name="connsiteX57" fmla="*/ 31903 w 608003"/>
              <a:gd name="connsiteY57" fmla="*/ 154593 h 562618"/>
              <a:gd name="connsiteX58" fmla="*/ 9442 w 608003"/>
              <a:gd name="connsiteY58" fmla="*/ 132368 h 562618"/>
              <a:gd name="connsiteX59" fmla="*/ 8653 w 608003"/>
              <a:gd name="connsiteY59" fmla="*/ 126566 h 562618"/>
              <a:gd name="connsiteX60" fmla="*/ 477 w 608003"/>
              <a:gd name="connsiteY60" fmla="*/ 31568 h 562618"/>
              <a:gd name="connsiteX61" fmla="*/ 11510 w 608003"/>
              <a:gd name="connsiteY61" fmla="*/ 6490 h 562618"/>
              <a:gd name="connsiteX62" fmla="*/ 27864 w 608003"/>
              <a:gd name="connsiteY62" fmla="*/ 0 h 56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08003" h="562618">
                <a:moveTo>
                  <a:pt x="50523" y="446181"/>
                </a:moveTo>
                <a:cubicBezTo>
                  <a:pt x="53281" y="465948"/>
                  <a:pt x="54857" y="486207"/>
                  <a:pt x="55547" y="507547"/>
                </a:cubicBezTo>
                <a:cubicBezTo>
                  <a:pt x="80373" y="508137"/>
                  <a:pt x="164900" y="508825"/>
                  <a:pt x="253860" y="509612"/>
                </a:cubicBezTo>
                <a:cubicBezTo>
                  <a:pt x="379763" y="510595"/>
                  <a:pt x="520838" y="511677"/>
                  <a:pt x="558077" y="513152"/>
                </a:cubicBezTo>
                <a:cubicBezTo>
                  <a:pt x="556205" y="490042"/>
                  <a:pt x="555318" y="468505"/>
                  <a:pt x="555614" y="447460"/>
                </a:cubicBezTo>
                <a:cubicBezTo>
                  <a:pt x="501627" y="446673"/>
                  <a:pt x="186967" y="446280"/>
                  <a:pt x="79683" y="446181"/>
                </a:cubicBezTo>
                <a:close/>
                <a:moveTo>
                  <a:pt x="27864" y="398977"/>
                </a:moveTo>
                <a:cubicBezTo>
                  <a:pt x="48749" y="398977"/>
                  <a:pt x="540935" y="399076"/>
                  <a:pt x="580145" y="401141"/>
                </a:cubicBezTo>
                <a:cubicBezTo>
                  <a:pt x="588715" y="401632"/>
                  <a:pt x="595809" y="406156"/>
                  <a:pt x="599749" y="413532"/>
                </a:cubicBezTo>
                <a:cubicBezTo>
                  <a:pt x="602409" y="417367"/>
                  <a:pt x="603690" y="422186"/>
                  <a:pt x="603394" y="427300"/>
                </a:cubicBezTo>
                <a:cubicBezTo>
                  <a:pt x="601720" y="460834"/>
                  <a:pt x="603197" y="497024"/>
                  <a:pt x="607828" y="538131"/>
                </a:cubicBezTo>
                <a:cubicBezTo>
                  <a:pt x="609108" y="549047"/>
                  <a:pt x="603296" y="557898"/>
                  <a:pt x="593050" y="560750"/>
                </a:cubicBezTo>
                <a:cubicBezTo>
                  <a:pt x="590292" y="562028"/>
                  <a:pt x="587336" y="562618"/>
                  <a:pt x="584184" y="562618"/>
                </a:cubicBezTo>
                <a:cubicBezTo>
                  <a:pt x="583199" y="562618"/>
                  <a:pt x="582213" y="562520"/>
                  <a:pt x="581228" y="562422"/>
                </a:cubicBezTo>
                <a:cubicBezTo>
                  <a:pt x="559259" y="559865"/>
                  <a:pt x="377497" y="557898"/>
                  <a:pt x="231497" y="556324"/>
                </a:cubicBezTo>
                <a:cubicBezTo>
                  <a:pt x="132586" y="555341"/>
                  <a:pt x="47075" y="554456"/>
                  <a:pt x="31903" y="553472"/>
                </a:cubicBezTo>
                <a:cubicBezTo>
                  <a:pt x="19687" y="552784"/>
                  <a:pt x="10525" y="543737"/>
                  <a:pt x="9442" y="531346"/>
                </a:cubicBezTo>
                <a:cubicBezTo>
                  <a:pt x="8949" y="529280"/>
                  <a:pt x="8653" y="527412"/>
                  <a:pt x="8653" y="525543"/>
                </a:cubicBezTo>
                <a:cubicBezTo>
                  <a:pt x="8456" y="489255"/>
                  <a:pt x="5895" y="459064"/>
                  <a:pt x="477" y="430545"/>
                </a:cubicBezTo>
                <a:cubicBezTo>
                  <a:pt x="-1494" y="420416"/>
                  <a:pt x="2742" y="410877"/>
                  <a:pt x="11510" y="405468"/>
                </a:cubicBezTo>
                <a:cubicBezTo>
                  <a:pt x="15747" y="401141"/>
                  <a:pt x="21362" y="398977"/>
                  <a:pt x="27864" y="398977"/>
                </a:cubicBezTo>
                <a:close/>
                <a:moveTo>
                  <a:pt x="50523" y="246692"/>
                </a:moveTo>
                <a:cubicBezTo>
                  <a:pt x="53281" y="266459"/>
                  <a:pt x="54857" y="286717"/>
                  <a:pt x="55547" y="308057"/>
                </a:cubicBezTo>
                <a:cubicBezTo>
                  <a:pt x="80373" y="308746"/>
                  <a:pt x="164801" y="309434"/>
                  <a:pt x="253564" y="310122"/>
                </a:cubicBezTo>
                <a:cubicBezTo>
                  <a:pt x="379566" y="311106"/>
                  <a:pt x="520838" y="312188"/>
                  <a:pt x="558077" y="313663"/>
                </a:cubicBezTo>
                <a:cubicBezTo>
                  <a:pt x="556205" y="290552"/>
                  <a:pt x="555318" y="269016"/>
                  <a:pt x="555614" y="247970"/>
                </a:cubicBezTo>
                <a:cubicBezTo>
                  <a:pt x="501529" y="247184"/>
                  <a:pt x="185095" y="246889"/>
                  <a:pt x="77221" y="246692"/>
                </a:cubicBezTo>
                <a:close/>
                <a:moveTo>
                  <a:pt x="27864" y="199488"/>
                </a:moveTo>
                <a:cubicBezTo>
                  <a:pt x="32987" y="199488"/>
                  <a:pt x="540640" y="199586"/>
                  <a:pt x="580145" y="201750"/>
                </a:cubicBezTo>
                <a:cubicBezTo>
                  <a:pt x="588715" y="202143"/>
                  <a:pt x="595809" y="206667"/>
                  <a:pt x="599749" y="214042"/>
                </a:cubicBezTo>
                <a:cubicBezTo>
                  <a:pt x="602409" y="217976"/>
                  <a:pt x="603690" y="222696"/>
                  <a:pt x="603394" y="227909"/>
                </a:cubicBezTo>
                <a:cubicBezTo>
                  <a:pt x="601720" y="261345"/>
                  <a:pt x="603197" y="297535"/>
                  <a:pt x="607828" y="338642"/>
                </a:cubicBezTo>
                <a:cubicBezTo>
                  <a:pt x="609108" y="349558"/>
                  <a:pt x="603296" y="358408"/>
                  <a:pt x="593050" y="361260"/>
                </a:cubicBezTo>
                <a:cubicBezTo>
                  <a:pt x="590292" y="362539"/>
                  <a:pt x="587336" y="363129"/>
                  <a:pt x="584184" y="363129"/>
                </a:cubicBezTo>
                <a:cubicBezTo>
                  <a:pt x="583199" y="363129"/>
                  <a:pt x="582213" y="363129"/>
                  <a:pt x="581228" y="362932"/>
                </a:cubicBezTo>
                <a:cubicBezTo>
                  <a:pt x="559259" y="360375"/>
                  <a:pt x="377497" y="358408"/>
                  <a:pt x="231398" y="356933"/>
                </a:cubicBezTo>
                <a:cubicBezTo>
                  <a:pt x="132488" y="355851"/>
                  <a:pt x="47075" y="354966"/>
                  <a:pt x="31903" y="354081"/>
                </a:cubicBezTo>
                <a:cubicBezTo>
                  <a:pt x="19687" y="353295"/>
                  <a:pt x="10525" y="344247"/>
                  <a:pt x="9442" y="331856"/>
                </a:cubicBezTo>
                <a:cubicBezTo>
                  <a:pt x="8949" y="329791"/>
                  <a:pt x="8653" y="327922"/>
                  <a:pt x="8653" y="326054"/>
                </a:cubicBezTo>
                <a:cubicBezTo>
                  <a:pt x="8456" y="289766"/>
                  <a:pt x="5895" y="259575"/>
                  <a:pt x="477" y="231056"/>
                </a:cubicBezTo>
                <a:cubicBezTo>
                  <a:pt x="-1494" y="220926"/>
                  <a:pt x="2742" y="211387"/>
                  <a:pt x="11510" y="205978"/>
                </a:cubicBezTo>
                <a:cubicBezTo>
                  <a:pt x="15747" y="201750"/>
                  <a:pt x="21362" y="199488"/>
                  <a:pt x="27864" y="199488"/>
                </a:cubicBezTo>
                <a:close/>
                <a:moveTo>
                  <a:pt x="50523" y="47204"/>
                </a:moveTo>
                <a:cubicBezTo>
                  <a:pt x="53281" y="66971"/>
                  <a:pt x="54857" y="87229"/>
                  <a:pt x="55547" y="108668"/>
                </a:cubicBezTo>
                <a:cubicBezTo>
                  <a:pt x="80373" y="109258"/>
                  <a:pt x="164801" y="109946"/>
                  <a:pt x="253663" y="110634"/>
                </a:cubicBezTo>
                <a:cubicBezTo>
                  <a:pt x="379665" y="111618"/>
                  <a:pt x="520838" y="112798"/>
                  <a:pt x="558077" y="114175"/>
                </a:cubicBezTo>
                <a:cubicBezTo>
                  <a:pt x="556205" y="91163"/>
                  <a:pt x="555318" y="69528"/>
                  <a:pt x="555614" y="48581"/>
                </a:cubicBezTo>
                <a:cubicBezTo>
                  <a:pt x="501233" y="47696"/>
                  <a:pt x="183125" y="47401"/>
                  <a:pt x="74659" y="47302"/>
                </a:cubicBezTo>
                <a:close/>
                <a:moveTo>
                  <a:pt x="27864" y="0"/>
                </a:moveTo>
                <a:cubicBezTo>
                  <a:pt x="48749" y="0"/>
                  <a:pt x="540837" y="98"/>
                  <a:pt x="580145" y="2262"/>
                </a:cubicBezTo>
                <a:cubicBezTo>
                  <a:pt x="588715" y="2655"/>
                  <a:pt x="595809" y="7179"/>
                  <a:pt x="599749" y="14554"/>
                </a:cubicBezTo>
                <a:cubicBezTo>
                  <a:pt x="602409" y="18488"/>
                  <a:pt x="603690" y="23208"/>
                  <a:pt x="603394" y="28421"/>
                </a:cubicBezTo>
                <a:cubicBezTo>
                  <a:pt x="601720" y="61857"/>
                  <a:pt x="603197" y="98047"/>
                  <a:pt x="607828" y="139154"/>
                </a:cubicBezTo>
                <a:cubicBezTo>
                  <a:pt x="609108" y="150070"/>
                  <a:pt x="603296" y="158920"/>
                  <a:pt x="593050" y="161772"/>
                </a:cubicBezTo>
                <a:cubicBezTo>
                  <a:pt x="590292" y="163051"/>
                  <a:pt x="587336" y="163641"/>
                  <a:pt x="584184" y="163641"/>
                </a:cubicBezTo>
                <a:cubicBezTo>
                  <a:pt x="583199" y="163641"/>
                  <a:pt x="582213" y="163641"/>
                  <a:pt x="581228" y="163542"/>
                </a:cubicBezTo>
                <a:cubicBezTo>
                  <a:pt x="559259" y="160887"/>
                  <a:pt x="377399" y="158920"/>
                  <a:pt x="231299" y="157445"/>
                </a:cubicBezTo>
                <a:cubicBezTo>
                  <a:pt x="132488" y="156363"/>
                  <a:pt x="47075" y="155478"/>
                  <a:pt x="31903" y="154593"/>
                </a:cubicBezTo>
                <a:cubicBezTo>
                  <a:pt x="19687" y="153905"/>
                  <a:pt x="10525" y="144759"/>
                  <a:pt x="9442" y="132368"/>
                </a:cubicBezTo>
                <a:cubicBezTo>
                  <a:pt x="8949" y="130401"/>
                  <a:pt x="8653" y="128533"/>
                  <a:pt x="8653" y="126566"/>
                </a:cubicBezTo>
                <a:cubicBezTo>
                  <a:pt x="8456" y="90278"/>
                  <a:pt x="5895" y="60087"/>
                  <a:pt x="477" y="31568"/>
                </a:cubicBezTo>
                <a:cubicBezTo>
                  <a:pt x="-1494" y="21438"/>
                  <a:pt x="2742" y="11899"/>
                  <a:pt x="11510" y="6490"/>
                </a:cubicBezTo>
                <a:cubicBezTo>
                  <a:pt x="15747" y="2262"/>
                  <a:pt x="21362" y="0"/>
                  <a:pt x="2786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 name="íšľíḍe"/>
          <p:cNvSpPr txBox="1"/>
          <p:nvPr/>
        </p:nvSpPr>
        <p:spPr bwMode="auto">
          <a:xfrm>
            <a:off x="1018034" y="1180534"/>
            <a:ext cx="4024903"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mn-lt"/>
              </a:rPr>
              <a:t>4.</a:t>
            </a:r>
            <a:r>
              <a:rPr kumimoji="0" lang="zh-CN" altLang="en-US" sz="2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mn-lt"/>
              </a:rPr>
              <a:t>责任与边界</a:t>
            </a:r>
          </a:p>
        </p:txBody>
      </p:sp>
      <p:sp>
        <p:nvSpPr>
          <p:cNvPr id="18" name="îṥliḑê"/>
          <p:cNvSpPr/>
          <p:nvPr/>
        </p:nvSpPr>
        <p:spPr bwMode="auto">
          <a:xfrm>
            <a:off x="1018034" y="1622341"/>
            <a:ext cx="10515154" cy="441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在拥抱</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AI</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巨大潜力的同时，我们必须清醒地认识到其伴随的风险与边界。负责任地使用</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AI</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，是我们高效、安全利用这项技术的前提。</a:t>
            </a:r>
          </a:p>
        </p:txBody>
      </p:sp>
      <p:sp>
        <p:nvSpPr>
          <p:cNvPr id="19" name="îṥliḑê"/>
          <p:cNvSpPr/>
          <p:nvPr/>
        </p:nvSpPr>
        <p:spPr bwMode="auto">
          <a:xfrm>
            <a:off x="4144371" y="3166781"/>
            <a:ext cx="7141167" cy="178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客户与员工数据：</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姓名、电话、身份证号、地址、邮箱等任何可识别个人身份的信息（违反</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个人信息保护法</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p>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公司核心机密：未公开的财务数据、战略规划、源代码、专利技术、算法模型等。</a:t>
            </a:r>
          </a:p>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内部沟通信息：涉密的会议纪要、内部汇报材料、非公开的合同与协议。</a:t>
            </a:r>
          </a:p>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安全凭证：系统密码、</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API</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密钥、数据库连接信息、任何形式的登录令牌。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3" presetID="22" presetClass="entr" presetSubtype="8"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3" grpId="0" animBg="1"/>
      <p:bldP spid="15" grpId="0" animBg="1"/>
      <p:bldP spid="16" grpId="0" animBg="1"/>
      <p:bldP spid="17" grpId="0"/>
      <p:bldP spid="18"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orient="vert" sz="quarter" idx="15"/>
          </p:nvPr>
        </p:nvSpPr>
        <p:spPr>
          <a:xfrm flipH="1">
            <a:off x="658813" y="2715060"/>
            <a:ext cx="6243079" cy="1189712"/>
          </a:xfrm>
        </p:spPr>
        <p:txBody>
          <a:bodyPr/>
          <a:lstStyle/>
          <a:p>
            <a:r>
              <a:rPr lang="zh-CN" altLang="en-US"/>
              <a:t>工作坊</a:t>
            </a:r>
          </a:p>
        </p:txBody>
      </p:sp>
      <p:sp>
        <p:nvSpPr>
          <p:cNvPr id="11" name="文本占位符 10"/>
          <p:cNvSpPr>
            <a:spLocks noGrp="1"/>
          </p:cNvSpPr>
          <p:nvPr>
            <p:ph type="body" orient="vert" sz="quarter" idx="16"/>
          </p:nvPr>
        </p:nvSpPr>
        <p:spPr>
          <a:xfrm flipH="1">
            <a:off x="658811" y="4162381"/>
            <a:ext cx="6372035" cy="856186"/>
          </a:xfrm>
        </p:spPr>
        <p:txBody>
          <a:bodyPr/>
          <a:lstStyle/>
          <a:p>
            <a:r>
              <a:rPr lang="zh-CN" altLang="en-US"/>
              <a:t>智慧浪潮席卷时代，</a:t>
            </a:r>
            <a:r>
              <a:rPr lang="en-US" altLang="zh-CN"/>
              <a:t>AI</a:t>
            </a:r>
            <a:r>
              <a:rPr lang="zh-CN" altLang="en-US"/>
              <a:t>驱动创新变革。精准高效赋能千行万业，让科技更有温度，让未来触手可及。携手人工智能，共创智能新纪元，点亮无限可能！</a:t>
            </a:r>
          </a:p>
        </p:txBody>
      </p:sp>
      <p:sp>
        <p:nvSpPr>
          <p:cNvPr id="16" name="文本占位符 15"/>
          <p:cNvSpPr>
            <a:spLocks noGrp="1"/>
          </p:cNvSpPr>
          <p:nvPr>
            <p:ph type="body" sz="quarter" idx="13"/>
          </p:nvPr>
        </p:nvSpPr>
        <p:spPr>
          <a:xfrm>
            <a:off x="658813" y="1267739"/>
            <a:ext cx="2287587" cy="1189712"/>
          </a:xfrm>
        </p:spPr>
        <p:txBody>
          <a:bodyPr/>
          <a:lstStyle/>
          <a:p>
            <a:r>
              <a:rPr lang="en-US" altLang="zh-CN"/>
              <a:t>04.</a:t>
            </a:r>
            <a:endParaRPr lang="zh-CN" altLang="en-US"/>
          </a:p>
        </p:txBody>
      </p:sp>
      <p:sp>
        <p:nvSpPr>
          <p:cNvPr id="18" name="文本占位符 17"/>
          <p:cNvSpPr>
            <a:spLocks noGrp="1"/>
          </p:cNvSpPr>
          <p:nvPr>
            <p:ph type="body" orient="vert" sz="quarter" idx="17"/>
          </p:nvPr>
        </p:nvSpPr>
        <p:spPr>
          <a:xfrm flipH="1">
            <a:off x="2533650" y="1561946"/>
            <a:ext cx="3562350" cy="710632"/>
          </a:xfrm>
        </p:spPr>
        <p:txBody>
          <a:bodyPr/>
          <a:lstStyle/>
          <a:p>
            <a:r>
              <a:rPr lang="en-US" altLang="zh-CN"/>
              <a:t>PART FOUR</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p:cTn id="1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 calcmode="lin" valueType="num">
                                      <p:cBhvr>
                                        <p:cTn id="1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19" dur="500"/>
                                        <p:tgtEl>
                                          <p:spTgt spid="16">
                                            <p:txEl>
                                              <p:pRg st="0" end="0"/>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 calcmode="lin" valueType="num">
                                      <p:cBhvr>
                                        <p:cTn id="22"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build="p"/>
      <p:bldP spid="16" grpId="0" build="p"/>
      <p:bldP spid="1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sp>
        <p:nvSpPr>
          <p:cNvPr id="2" name="圆: 空心 1"/>
          <p:cNvSpPr/>
          <p:nvPr/>
        </p:nvSpPr>
        <p:spPr>
          <a:xfrm>
            <a:off x="5669813" y="3003366"/>
            <a:ext cx="317500" cy="317500"/>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3" name="PA-矩形 4"/>
          <p:cNvSpPr>
            <a:spLocks noChangeArrowheads="1"/>
          </p:cNvSpPr>
          <p:nvPr>
            <p:custDataLst>
              <p:tags r:id="rId1"/>
            </p:custDataLst>
          </p:nvPr>
        </p:nvSpPr>
        <p:spPr bwMode="auto">
          <a:xfrm>
            <a:off x="6307987" y="2975255"/>
            <a:ext cx="4767793" cy="28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1</a:t>
            </a:r>
            <a:r>
              <a:rPr lang="zh-CN" altLang="en-US" sz="1400" dirty="0">
                <a:latin typeface="微软雅黑" panose="020B0503020204020204" pitchFamily="34" charset="-122"/>
                <a:ea typeface="微软雅黑" panose="020B0503020204020204" pitchFamily="34" charset="-122"/>
                <a:cs typeface="+mn-ea"/>
                <a:sym typeface="+mn-lt"/>
              </a:rPr>
              <a:t>、请写一份高级前端开发工程师职位描述。</a:t>
            </a:r>
          </a:p>
        </p:txBody>
      </p:sp>
      <p:pic>
        <p:nvPicPr>
          <p:cNvPr id="4" name="图片 3"/>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1068441" y="1542721"/>
            <a:ext cx="4182272" cy="4196536"/>
          </a:xfrm>
          <a:custGeom>
            <a:avLst/>
            <a:gdLst>
              <a:gd name="connsiteX0" fmla="*/ 2091136 w 4182272"/>
              <a:gd name="connsiteY0" fmla="*/ 0 h 4196536"/>
              <a:gd name="connsiteX1" fmla="*/ 4182272 w 4182272"/>
              <a:gd name="connsiteY1" fmla="*/ 2098268 h 4196536"/>
              <a:gd name="connsiteX2" fmla="*/ 2091136 w 4182272"/>
              <a:gd name="connsiteY2" fmla="*/ 4196536 h 4196536"/>
              <a:gd name="connsiteX3" fmla="*/ 0 w 4182272"/>
              <a:gd name="connsiteY3" fmla="*/ 2098268 h 4196536"/>
              <a:gd name="connsiteX4" fmla="*/ 2091136 w 4182272"/>
              <a:gd name="connsiteY4" fmla="*/ 0 h 4196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2272" h="4196536">
                <a:moveTo>
                  <a:pt x="2091136" y="0"/>
                </a:moveTo>
                <a:cubicBezTo>
                  <a:pt x="3246039" y="0"/>
                  <a:pt x="4182272" y="939427"/>
                  <a:pt x="4182272" y="2098268"/>
                </a:cubicBezTo>
                <a:cubicBezTo>
                  <a:pt x="4182272" y="3257109"/>
                  <a:pt x="3246039" y="4196536"/>
                  <a:pt x="2091136" y="4196536"/>
                </a:cubicBezTo>
                <a:cubicBezTo>
                  <a:pt x="936233" y="4196536"/>
                  <a:pt x="0" y="3257109"/>
                  <a:pt x="0" y="2098268"/>
                </a:cubicBezTo>
                <a:cubicBezTo>
                  <a:pt x="0" y="939427"/>
                  <a:pt x="936233" y="0"/>
                  <a:pt x="2091136" y="0"/>
                </a:cubicBezTo>
                <a:close/>
              </a:path>
            </a:pathLst>
          </a:custGeom>
        </p:spPr>
      </p:pic>
      <p:sp>
        <p:nvSpPr>
          <p:cNvPr id="5" name="圆: 空心 4"/>
          <p:cNvSpPr/>
          <p:nvPr/>
        </p:nvSpPr>
        <p:spPr>
          <a:xfrm>
            <a:off x="5669813" y="3727266"/>
            <a:ext cx="317500" cy="317500"/>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6" name="PA-矩形 4"/>
          <p:cNvSpPr>
            <a:spLocks noChangeArrowheads="1"/>
          </p:cNvSpPr>
          <p:nvPr>
            <p:custDataLst>
              <p:tags r:id="rId2"/>
            </p:custDataLst>
          </p:nvPr>
        </p:nvSpPr>
        <p:spPr bwMode="auto">
          <a:xfrm>
            <a:off x="6307987" y="3663109"/>
            <a:ext cx="4767793" cy="22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2</a:t>
            </a:r>
            <a:r>
              <a:rPr lang="zh-CN" altLang="en-US" sz="1400" dirty="0">
                <a:latin typeface="微软雅黑" panose="020B0503020204020204" pitchFamily="34" charset="-122"/>
                <a:ea typeface="微软雅黑" panose="020B0503020204020204" pitchFamily="34" charset="-122"/>
                <a:cs typeface="+mn-ea"/>
                <a:sym typeface="+mn-lt"/>
              </a:rPr>
              <a:t>、你是一名经验丰富的人力资源招聘专家，擅长撰写清晰、有吸引力的职位描述。我公司需要招聘一名“高级前端开发工程师”，主要技术栈要求是</a:t>
            </a:r>
            <a:r>
              <a:rPr lang="en-US" altLang="zh-CN" sz="1400" dirty="0">
                <a:latin typeface="微软雅黑" panose="020B0503020204020204" pitchFamily="34" charset="-122"/>
                <a:ea typeface="微软雅黑" panose="020B0503020204020204" pitchFamily="34" charset="-122"/>
                <a:cs typeface="+mn-ea"/>
                <a:sym typeface="+mn-lt"/>
              </a:rPr>
              <a:t>React</a:t>
            </a:r>
            <a:r>
              <a:rPr lang="zh-CN" altLang="en-US" sz="1400" dirty="0">
                <a:latin typeface="微软雅黑" panose="020B0503020204020204" pitchFamily="34" charset="-122"/>
                <a:ea typeface="微软雅黑" panose="020B0503020204020204" pitchFamily="34" charset="-122"/>
                <a:cs typeface="+mn-ea"/>
                <a:sym typeface="+mn-lt"/>
              </a:rPr>
              <a:t>、</a:t>
            </a:r>
            <a:r>
              <a:rPr lang="en-US" altLang="zh-CN" sz="1400" dirty="0">
                <a:latin typeface="微软雅黑" panose="020B0503020204020204" pitchFamily="34" charset="-122"/>
                <a:ea typeface="微软雅黑" panose="020B0503020204020204" pitchFamily="34" charset="-122"/>
                <a:cs typeface="+mn-ea"/>
                <a:sym typeface="+mn-lt"/>
              </a:rPr>
              <a:t>TypeScript</a:t>
            </a:r>
            <a:r>
              <a:rPr lang="zh-CN" altLang="en-US" sz="1400" dirty="0">
                <a:latin typeface="微软雅黑" panose="020B0503020204020204" pitchFamily="34" charset="-122"/>
                <a:ea typeface="微软雅黑" panose="020B0503020204020204" pitchFamily="34" charset="-122"/>
                <a:cs typeface="+mn-ea"/>
                <a:sym typeface="+mn-lt"/>
              </a:rPr>
              <a:t>和</a:t>
            </a:r>
            <a:r>
              <a:rPr lang="en-US" altLang="zh-CN" sz="1400" dirty="0">
                <a:latin typeface="微软雅黑" panose="020B0503020204020204" pitchFamily="34" charset="-122"/>
                <a:ea typeface="微软雅黑" panose="020B0503020204020204" pitchFamily="34" charset="-122"/>
                <a:cs typeface="+mn-ea"/>
                <a:sym typeface="+mn-lt"/>
              </a:rPr>
              <a:t>Next.js</a:t>
            </a:r>
            <a:r>
              <a:rPr lang="zh-CN" altLang="en-US" sz="1400" dirty="0">
                <a:latin typeface="微软雅黑" panose="020B0503020204020204" pitchFamily="34" charset="-122"/>
                <a:ea typeface="微软雅黑" panose="020B0503020204020204" pitchFamily="34" charset="-122"/>
                <a:cs typeface="+mn-ea"/>
                <a:sym typeface="+mn-lt"/>
              </a:rPr>
              <a:t>。公司福利包括弹性工作制、年度旅游和培训基金。请起草一份招聘职位描述（</a:t>
            </a:r>
            <a:r>
              <a:rPr lang="en-US" altLang="zh-CN" sz="1400" dirty="0">
                <a:latin typeface="微软雅黑" panose="020B0503020204020204" pitchFamily="34" charset="-122"/>
                <a:ea typeface="微软雅黑" panose="020B0503020204020204" pitchFamily="34" charset="-122"/>
                <a:cs typeface="+mn-ea"/>
                <a:sym typeface="+mn-lt"/>
              </a:rPr>
              <a:t>JD</a:t>
            </a:r>
            <a:r>
              <a:rPr lang="zh-CN" altLang="en-US" sz="1400" dirty="0">
                <a:latin typeface="微软雅黑" panose="020B0503020204020204" pitchFamily="34" charset="-122"/>
                <a:ea typeface="微软雅黑" panose="020B0503020204020204" pitchFamily="34" charset="-122"/>
                <a:cs typeface="+mn-ea"/>
                <a:sym typeface="+mn-lt"/>
              </a:rPr>
              <a:t>）。内容需包含公司简介、职位职责、任职要求和福利待遇四个部分。使用专业且具吸引力的语言，字数在</a:t>
            </a:r>
            <a:r>
              <a:rPr lang="en-US" altLang="zh-CN" sz="1400" dirty="0">
                <a:latin typeface="微软雅黑" panose="020B0503020204020204" pitchFamily="34" charset="-122"/>
                <a:ea typeface="微软雅黑" panose="020B0503020204020204" pitchFamily="34" charset="-122"/>
                <a:cs typeface="+mn-ea"/>
                <a:sym typeface="+mn-lt"/>
              </a:rPr>
              <a:t>400</a:t>
            </a:r>
            <a:r>
              <a:rPr lang="zh-CN" altLang="en-US" sz="1400" dirty="0">
                <a:latin typeface="微软雅黑" panose="020B0503020204020204" pitchFamily="34" charset="-122"/>
                <a:ea typeface="微软雅黑" panose="020B0503020204020204" pitchFamily="34" charset="-122"/>
                <a:cs typeface="+mn-ea"/>
                <a:sym typeface="+mn-lt"/>
              </a:rPr>
              <a:t>字左右。</a:t>
            </a:r>
          </a:p>
        </p:txBody>
      </p:sp>
      <p:sp>
        <p:nvSpPr>
          <p:cNvPr id="7" name="PA-矩形 4"/>
          <p:cNvSpPr>
            <a:spLocks noChangeArrowheads="1"/>
          </p:cNvSpPr>
          <p:nvPr>
            <p:custDataLst>
              <p:tags r:id="rId3"/>
            </p:custDataLst>
          </p:nvPr>
        </p:nvSpPr>
        <p:spPr bwMode="auto">
          <a:xfrm>
            <a:off x="5669813" y="1947071"/>
            <a:ext cx="4767793" cy="75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rPr>
              <a:t>案例操作一：</a:t>
            </a:r>
          </a:p>
          <a:p>
            <a:pPr eaLnBrk="1" hangingPunct="1">
              <a:lnSpc>
                <a:spcPct val="150000"/>
              </a:lnSpc>
              <a:buSzPct val="25000"/>
              <a:defRPr/>
            </a:pPr>
            <a:r>
              <a:rPr lang="zh-CN" altLang="en-US" sz="1400" dirty="0">
                <a:solidFill>
                  <a:schemeClr val="accent1"/>
                </a:solidFill>
                <a:latin typeface="微软雅黑" panose="020B0503020204020204" pitchFamily="34" charset="-122"/>
                <a:ea typeface="微软雅黑" panose="020B0503020204020204" pitchFamily="34" charset="-122"/>
                <a:cs typeface="+mn-ea"/>
                <a:sym typeface="+mn-lt"/>
              </a:rPr>
              <a:t>给</a:t>
            </a:r>
            <a:r>
              <a:rPr lang="en-US" altLang="zh-CN" sz="1400" dirty="0" err="1">
                <a:solidFill>
                  <a:schemeClr val="accent1"/>
                </a:solidFill>
                <a:latin typeface="微软雅黑" panose="020B0503020204020204" pitchFamily="34" charset="-122"/>
                <a:ea typeface="微软雅黑" panose="020B0503020204020204" pitchFamily="34" charset="-122"/>
                <a:cs typeface="+mn-ea"/>
                <a:sym typeface="+mn-lt"/>
              </a:rPr>
              <a:t>Deepseek</a:t>
            </a:r>
            <a:r>
              <a:rPr lang="en-US" altLang="zh-CN" sz="1400" dirty="0">
                <a:solidFill>
                  <a:schemeClr val="accent1"/>
                </a:solidFill>
                <a:latin typeface="微软雅黑" panose="020B0503020204020204" pitchFamily="34" charset="-122"/>
                <a:ea typeface="微软雅黑" panose="020B0503020204020204" pitchFamily="34" charset="-122"/>
                <a:cs typeface="+mn-ea"/>
                <a:sym typeface="+mn-lt"/>
              </a:rPr>
              <a:t> 2</a:t>
            </a:r>
            <a:r>
              <a:rPr lang="zh-CN" altLang="en-US" sz="1400" dirty="0">
                <a:solidFill>
                  <a:schemeClr val="accent1"/>
                </a:solidFill>
                <a:latin typeface="微软雅黑" panose="020B0503020204020204" pitchFamily="34" charset="-122"/>
                <a:ea typeface="微软雅黑" panose="020B0503020204020204" pitchFamily="34" charset="-122"/>
                <a:cs typeface="+mn-ea"/>
                <a:sym typeface="+mn-lt"/>
              </a:rPr>
              <a:t>段不同的提示词，直观看到区别</a:t>
            </a:r>
          </a:p>
        </p:txBody>
      </p:sp>
      <p:sp>
        <p:nvSpPr>
          <p:cNvPr id="8" name="PA-矩形 4"/>
          <p:cNvSpPr>
            <a:spLocks noChangeArrowheads="1"/>
          </p:cNvSpPr>
          <p:nvPr>
            <p:custDataLst>
              <p:tags r:id="rId4"/>
            </p:custDataLst>
          </p:nvPr>
        </p:nvSpPr>
        <p:spPr bwMode="auto">
          <a:xfrm>
            <a:off x="5669812" y="1349178"/>
            <a:ext cx="4767793"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1.AI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提示词运用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2500"/>
                            </p:stCondLst>
                            <p:childTnLst>
                              <p:par>
                                <p:cTn id="18" presetID="42" presetClass="entr" presetSubtype="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1000"/>
                                        <p:tgtEl>
                                          <p:spTgt spid="3"/>
                                        </p:tgtEl>
                                      </p:cBhvr>
                                    </p:animEffect>
                                    <p:anim calcmode="lin" valueType="num">
                                      <p:cBhvr>
                                        <p:cTn id="21" dur="1000" fill="hold"/>
                                        <p:tgtEl>
                                          <p:spTgt spid="3"/>
                                        </p:tgtEl>
                                        <p:attrNameLst>
                                          <p:attrName>ppt_x</p:attrName>
                                        </p:attrNameLst>
                                      </p:cBhvr>
                                      <p:tavLst>
                                        <p:tav tm="0">
                                          <p:val>
                                            <p:strVal val="#ppt_x"/>
                                          </p:val>
                                        </p:tav>
                                        <p:tav tm="100000">
                                          <p:val>
                                            <p:strVal val="#ppt_x"/>
                                          </p:val>
                                        </p:tav>
                                      </p:tavLst>
                                    </p:anim>
                                    <p:anim calcmode="lin" valueType="num">
                                      <p:cBhvr>
                                        <p:cTn id="22" dur="1000" fill="hold"/>
                                        <p:tgtEl>
                                          <p:spTgt spid="3"/>
                                        </p:tgtEl>
                                        <p:attrNameLst>
                                          <p:attrName>ppt_y</p:attrName>
                                        </p:attrNameLst>
                                      </p:cBhvr>
                                      <p:tavLst>
                                        <p:tav tm="0">
                                          <p:val>
                                            <p:strVal val="#ppt_y+.1"/>
                                          </p:val>
                                        </p:tav>
                                        <p:tav tm="100000">
                                          <p:val>
                                            <p:strVal val="#ppt_y"/>
                                          </p:val>
                                        </p:tav>
                                      </p:tavLst>
                                    </p:anim>
                                  </p:childTnLst>
                                </p:cTn>
                              </p:par>
                            </p:childTnLst>
                          </p:cTn>
                        </p:par>
                        <p:par>
                          <p:cTn id="23" fill="hold">
                            <p:stCondLst>
                              <p:cond delay="3500"/>
                            </p:stCondLst>
                            <p:childTnLst>
                              <p:par>
                                <p:cTn id="24" presetID="22" presetClass="entr" presetSubtype="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par>
                          <p:cTn id="27" fill="hold">
                            <p:stCondLst>
                              <p:cond delay="4000"/>
                            </p:stCondLst>
                            <p:childTnLst>
                              <p:par>
                                <p:cTn id="28" presetID="42" presetClass="entr" presetSubtype="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5000"/>
                            </p:stCondLst>
                            <p:childTnLst>
                              <p:par>
                                <p:cTn id="34" presetID="42" presetClass="entr" presetSubtype="0"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par>
                          <p:cTn id="39" fill="hold">
                            <p:stCondLst>
                              <p:cond delay="6000"/>
                            </p:stCondLst>
                            <p:childTnLst>
                              <p:par>
                                <p:cTn id="40" presetID="42" presetClass="entr" presetSubtype="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p:bldP spid="5" grpId="0" animBg="1"/>
      <p:bldP spid="6"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sp>
        <p:nvSpPr>
          <p:cNvPr id="12" name="PA-矩形 4"/>
          <p:cNvSpPr>
            <a:spLocks noChangeArrowheads="1"/>
          </p:cNvSpPr>
          <p:nvPr>
            <p:custDataLst>
              <p:tags r:id="rId1"/>
            </p:custDataLst>
          </p:nvPr>
        </p:nvSpPr>
        <p:spPr bwMode="auto">
          <a:xfrm>
            <a:off x="1250951" y="1948502"/>
            <a:ext cx="9969499" cy="28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1400" dirty="0">
                <a:latin typeface="微软雅黑" panose="020B0503020204020204" pitchFamily="34" charset="-122"/>
                <a:ea typeface="微软雅黑" panose="020B0503020204020204" pitchFamily="34" charset="-122"/>
                <a:cs typeface="+mn-ea"/>
                <a:sym typeface="+mn-lt"/>
              </a:rPr>
              <a:t>你是不是也遇到过这种情况？明明 </a:t>
            </a:r>
            <a:r>
              <a:rPr lang="en-US" altLang="zh-CN" sz="1400" dirty="0">
                <a:latin typeface="微软雅黑" panose="020B0503020204020204" pitchFamily="34" charset="-122"/>
                <a:ea typeface="微软雅黑" panose="020B0503020204020204" pitchFamily="34" charset="-122"/>
                <a:cs typeface="+mn-ea"/>
                <a:sym typeface="+mn-lt"/>
              </a:rPr>
              <a:t>AI </a:t>
            </a:r>
            <a:r>
              <a:rPr lang="zh-CN" altLang="en-US" sz="1400" dirty="0">
                <a:latin typeface="微软雅黑" panose="020B0503020204020204" pitchFamily="34" charset="-122"/>
                <a:ea typeface="微软雅黑" panose="020B0503020204020204" pitchFamily="34" charset="-122"/>
                <a:cs typeface="+mn-ea"/>
                <a:sym typeface="+mn-lt"/>
              </a:rPr>
              <a:t>生成内容本身没问题，却卡在 “复制粘贴” 这最后一步，白白浪费精力在格式修复上？ </a:t>
            </a:r>
          </a:p>
        </p:txBody>
      </p:sp>
      <p:sp>
        <p:nvSpPr>
          <p:cNvPr id="13" name="PA-矩形 4"/>
          <p:cNvSpPr>
            <a:spLocks noChangeArrowheads="1"/>
          </p:cNvSpPr>
          <p:nvPr>
            <p:custDataLst>
              <p:tags r:id="rId2"/>
            </p:custDataLst>
          </p:nvPr>
        </p:nvSpPr>
        <p:spPr bwMode="auto">
          <a:xfrm>
            <a:off x="1250950" y="1234077"/>
            <a:ext cx="4767793"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2.AI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内容复制方法</a:t>
            </a:r>
          </a:p>
        </p:txBody>
      </p:sp>
      <p:pic>
        <p:nvPicPr>
          <p:cNvPr id="15" name="图片 1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89099" y="2571523"/>
            <a:ext cx="2312153" cy="3346874"/>
          </a:xfrm>
          <a:prstGeom prst="rect">
            <a:avLst/>
          </a:prstGeom>
        </p:spPr>
      </p:pic>
      <p:pic>
        <p:nvPicPr>
          <p:cNvPr id="16" name="图片 15"/>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244340" y="2571523"/>
            <a:ext cx="2364953" cy="3347723"/>
          </a:xfrm>
          <a:prstGeom prst="rect">
            <a:avLst/>
          </a:prstGeom>
        </p:spPr>
      </p:pic>
      <p:sp>
        <p:nvSpPr>
          <p:cNvPr id="17" name="椭圆 16"/>
          <p:cNvSpPr/>
          <p:nvPr/>
        </p:nvSpPr>
        <p:spPr>
          <a:xfrm>
            <a:off x="6935729" y="3166041"/>
            <a:ext cx="212986" cy="212986"/>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8" name="椭圆 17"/>
          <p:cNvSpPr/>
          <p:nvPr/>
        </p:nvSpPr>
        <p:spPr>
          <a:xfrm>
            <a:off x="6935729" y="4530559"/>
            <a:ext cx="212986" cy="212986"/>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grpSp>
        <p:nvGrpSpPr>
          <p:cNvPr id="19" name="组合 18"/>
          <p:cNvGrpSpPr/>
          <p:nvPr/>
        </p:nvGrpSpPr>
        <p:grpSpPr>
          <a:xfrm flipH="1" flipV="1">
            <a:off x="7068914" y="3065872"/>
            <a:ext cx="3676161" cy="206640"/>
            <a:chOff x="8050014" y="3545499"/>
            <a:chExt cx="3676161" cy="206640"/>
          </a:xfrm>
        </p:grpSpPr>
        <p:sp>
          <p:nvSpPr>
            <p:cNvPr id="20" name="任意多边形: 形状 19"/>
            <p:cNvSpPr/>
            <p:nvPr/>
          </p:nvSpPr>
          <p:spPr>
            <a:xfrm>
              <a:off x="8050014" y="3565873"/>
              <a:ext cx="3676161" cy="186266"/>
            </a:xfrm>
            <a:custGeom>
              <a:avLst/>
              <a:gdLst>
                <a:gd name="connsiteX0" fmla="*/ 3784600 w 3784600"/>
                <a:gd name="connsiteY0" fmla="*/ 0 h 186266"/>
                <a:gd name="connsiteX1" fmla="*/ 3505200 w 3784600"/>
                <a:gd name="connsiteY1" fmla="*/ 186266 h 186266"/>
                <a:gd name="connsiteX2" fmla="*/ 0 w 3784600"/>
                <a:gd name="connsiteY2" fmla="*/ 186266 h 186266"/>
              </a:gdLst>
              <a:ahLst/>
              <a:cxnLst>
                <a:cxn ang="0">
                  <a:pos x="connsiteX0" y="connsiteY0"/>
                </a:cxn>
                <a:cxn ang="0">
                  <a:pos x="connsiteX1" y="connsiteY1"/>
                </a:cxn>
                <a:cxn ang="0">
                  <a:pos x="connsiteX2" y="connsiteY2"/>
                </a:cxn>
              </a:cxnLst>
              <a:rect l="l" t="t" r="r" b="b"/>
              <a:pathLst>
                <a:path w="3784600" h="186266">
                  <a:moveTo>
                    <a:pt x="3784600" y="0"/>
                  </a:moveTo>
                  <a:lnTo>
                    <a:pt x="3505200" y="186266"/>
                  </a:lnTo>
                  <a:lnTo>
                    <a:pt x="0" y="186266"/>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cxnSp>
          <p:nvCxnSpPr>
            <p:cNvPr id="21" name="直接连接符 20"/>
            <p:cNvCxnSpPr/>
            <p:nvPr/>
          </p:nvCxnSpPr>
          <p:spPr>
            <a:xfrm flipV="1">
              <a:off x="8228221" y="3545499"/>
              <a:ext cx="1203641" cy="5793"/>
            </a:xfrm>
            <a:prstGeom prst="line">
              <a:avLst/>
            </a:prstGeom>
            <a:ln w="63500" cap="rnd">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flipH="1">
            <a:off x="7068914" y="4637052"/>
            <a:ext cx="3676161" cy="336811"/>
            <a:chOff x="8050014" y="3565873"/>
            <a:chExt cx="3676161" cy="336811"/>
          </a:xfrm>
        </p:grpSpPr>
        <p:sp>
          <p:nvSpPr>
            <p:cNvPr id="23" name="任意多边形: 形状 22"/>
            <p:cNvSpPr/>
            <p:nvPr/>
          </p:nvSpPr>
          <p:spPr>
            <a:xfrm>
              <a:off x="8050014" y="3565873"/>
              <a:ext cx="3676161" cy="186266"/>
            </a:xfrm>
            <a:custGeom>
              <a:avLst/>
              <a:gdLst>
                <a:gd name="connsiteX0" fmla="*/ 3784600 w 3784600"/>
                <a:gd name="connsiteY0" fmla="*/ 0 h 186266"/>
                <a:gd name="connsiteX1" fmla="*/ 3505200 w 3784600"/>
                <a:gd name="connsiteY1" fmla="*/ 186266 h 186266"/>
                <a:gd name="connsiteX2" fmla="*/ 0 w 3784600"/>
                <a:gd name="connsiteY2" fmla="*/ 186266 h 186266"/>
              </a:gdLst>
              <a:ahLst/>
              <a:cxnLst>
                <a:cxn ang="0">
                  <a:pos x="connsiteX0" y="connsiteY0"/>
                </a:cxn>
                <a:cxn ang="0">
                  <a:pos x="connsiteX1" y="connsiteY1"/>
                </a:cxn>
                <a:cxn ang="0">
                  <a:pos x="connsiteX2" y="connsiteY2"/>
                </a:cxn>
              </a:cxnLst>
              <a:rect l="l" t="t" r="r" b="b"/>
              <a:pathLst>
                <a:path w="3784600" h="186266">
                  <a:moveTo>
                    <a:pt x="3784600" y="0"/>
                  </a:moveTo>
                  <a:lnTo>
                    <a:pt x="3505200" y="186266"/>
                  </a:lnTo>
                  <a:lnTo>
                    <a:pt x="0" y="186266"/>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bg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cxnSp>
          <p:nvCxnSpPr>
            <p:cNvPr id="24" name="直接连接符 23"/>
            <p:cNvCxnSpPr/>
            <p:nvPr/>
          </p:nvCxnSpPr>
          <p:spPr>
            <a:xfrm flipV="1">
              <a:off x="8304014" y="3896891"/>
              <a:ext cx="1203641" cy="5793"/>
            </a:xfrm>
            <a:prstGeom prst="line">
              <a:avLst/>
            </a:prstGeom>
            <a:ln w="63500" cap="rnd">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7385213" y="4315979"/>
            <a:ext cx="2092964" cy="436466"/>
          </a:xfrm>
          <a:prstGeom prst="rect">
            <a:avLst/>
          </a:prstGeom>
          <a:noFill/>
        </p:spPr>
        <p:txBody>
          <a:bodyPr wrap="square">
            <a:spAutoFit/>
          </a:bodyPr>
          <a:lstStyle/>
          <a:p>
            <a:pPr lvl="0">
              <a:lnSpc>
                <a:spcPct val="120000"/>
              </a:lnSpc>
              <a:defRPr/>
            </a:pPr>
            <a:r>
              <a:rPr lang="zh-CN" altLang="en-US"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利用飞书云文档</a:t>
            </a:r>
          </a:p>
        </p:txBody>
      </p:sp>
      <p:sp>
        <p:nvSpPr>
          <p:cNvPr id="26" name="文本框 25"/>
          <p:cNvSpPr txBox="1"/>
          <p:nvPr/>
        </p:nvSpPr>
        <p:spPr>
          <a:xfrm>
            <a:off x="7408996" y="5129460"/>
            <a:ext cx="3518155" cy="705193"/>
          </a:xfrm>
          <a:prstGeom prst="rect">
            <a:avLst/>
          </a:prstGeom>
          <a:noFill/>
        </p:spPr>
        <p:txBody>
          <a:bodyPr wrap="square">
            <a:spAutoFit/>
          </a:bodyPr>
          <a:lstStyle/>
          <a:p>
            <a:pPr lvl="0">
              <a:lnSpc>
                <a:spcPct val="150000"/>
              </a:lnSpc>
              <a:defRPr/>
            </a:pPr>
            <a:r>
              <a:rPr lang="en-US" altLang="zh-CN" sz="1400" dirty="0" err="1">
                <a:latin typeface="微软雅黑" panose="020B0503020204020204" pitchFamily="34" charset="-122"/>
                <a:ea typeface="微软雅黑" panose="020B0503020204020204" pitchFamily="34" charset="-122"/>
                <a:cs typeface="+mn-ea"/>
                <a:sym typeface="思源宋体 CN Heavy" panose="02020900000000000000" pitchFamily="18" charset="-122"/>
              </a:rPr>
              <a:t>Deepseek</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 </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生成内容后，直接复制到飞书云文档后进行下载</a:t>
            </a:r>
          </a:p>
        </p:txBody>
      </p:sp>
      <p:sp>
        <p:nvSpPr>
          <p:cNvPr id="27" name="文本框 26"/>
          <p:cNvSpPr txBox="1"/>
          <p:nvPr/>
        </p:nvSpPr>
        <p:spPr>
          <a:xfrm>
            <a:off x="7385213" y="2505690"/>
            <a:ext cx="2092964" cy="436466"/>
          </a:xfrm>
          <a:prstGeom prst="rect">
            <a:avLst/>
          </a:prstGeom>
          <a:noFill/>
        </p:spPr>
        <p:txBody>
          <a:bodyPr wrap="square">
            <a:spAutoFit/>
          </a:bodyPr>
          <a:lstStyle/>
          <a:p>
            <a:pPr lvl="0">
              <a:lnSpc>
                <a:spcPct val="120000"/>
              </a:lnSpc>
              <a:defRPr/>
            </a:pPr>
            <a:r>
              <a:rPr lang="zh-CN" altLang="en-US"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输出</a:t>
            </a:r>
            <a:r>
              <a:rPr lang="en-US" altLang="zh-CN"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HTML</a:t>
            </a:r>
            <a:r>
              <a:rPr lang="zh-CN" altLang="en-US"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格式</a:t>
            </a:r>
          </a:p>
        </p:txBody>
      </p:sp>
      <p:sp>
        <p:nvSpPr>
          <p:cNvPr id="28" name="文本框 27"/>
          <p:cNvSpPr txBox="1"/>
          <p:nvPr/>
        </p:nvSpPr>
        <p:spPr>
          <a:xfrm>
            <a:off x="7408996" y="3319171"/>
            <a:ext cx="3518155" cy="705193"/>
          </a:xfrm>
          <a:prstGeom prst="rect">
            <a:avLst/>
          </a:prstGeom>
          <a:noFill/>
        </p:spPr>
        <p:txBody>
          <a:bodyPr wrap="square">
            <a:spAutoFit/>
          </a:bodyPr>
          <a:lstStyle/>
          <a:p>
            <a:pPr lvl="0">
              <a:lnSpc>
                <a:spcPct val="150000"/>
              </a:lnSpc>
              <a:defRPr/>
            </a:pPr>
            <a:r>
              <a:rPr lang="en-US" altLang="zh-CN" sz="1400" dirty="0" err="1">
                <a:latin typeface="微软雅黑" panose="020B0503020204020204" pitchFamily="34" charset="-122"/>
                <a:ea typeface="微软雅黑" panose="020B0503020204020204" pitchFamily="34" charset="-122"/>
                <a:cs typeface="+mn-ea"/>
                <a:sym typeface="思源宋体 CN Heavy" panose="02020900000000000000" pitchFamily="18" charset="-122"/>
              </a:rPr>
              <a:t>Deepseek</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 </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生成内容后，对话要求 </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HTML </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格式输出，点击运行，复制到 </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Word </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即可。</a:t>
            </a:r>
          </a:p>
        </p:txBody>
      </p:sp>
      <p:sp>
        <p:nvSpPr>
          <p:cNvPr id="29" name="文本框 28"/>
          <p:cNvSpPr txBox="1"/>
          <p:nvPr/>
        </p:nvSpPr>
        <p:spPr>
          <a:xfrm>
            <a:off x="1106609" y="2794488"/>
            <a:ext cx="553998" cy="2905636"/>
          </a:xfrm>
          <a:prstGeom prst="rect">
            <a:avLst/>
          </a:prstGeom>
          <a:noFill/>
        </p:spPr>
        <p:txBody>
          <a:bodyPr vert="eaVert" wrap="square">
            <a:spAutoFit/>
          </a:bodyPr>
          <a:lstStyle/>
          <a:p>
            <a:pPr lvl="0">
              <a:lnSpc>
                <a:spcPct val="120000"/>
              </a:lnSpc>
              <a:defRPr/>
            </a:pPr>
            <a:r>
              <a:rPr lang="en-US" altLang="zh-CN"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HTML </a:t>
            </a:r>
            <a:r>
              <a:rPr lang="zh-CN" altLang="en-US"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运行前与运行后</a:t>
            </a:r>
            <a:r>
              <a:rPr lang="en-US" altLang="zh-CN" sz="2000"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X</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par>
                                <p:cTn id="13" presetID="2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par>
                                <p:cTn id="28" presetID="6" presetClass="entr" presetSubtype="16"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circle(in)">
                                      <p:cBhvr>
                                        <p:cTn id="30" dur="2000"/>
                                        <p:tgtEl>
                                          <p:spTgt spid="17"/>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circle(in)">
                                      <p:cBhvr>
                                        <p:cTn id="33" dur="2000"/>
                                        <p:tgtEl>
                                          <p:spTgt spid="18"/>
                                        </p:tgtEl>
                                      </p:cBhvr>
                                    </p:animEffect>
                                  </p:childTnLst>
                                </p:cTn>
                              </p:par>
                              <p:par>
                                <p:cTn id="34" presetID="6" presetClass="entr" presetSubtype="16"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circle(in)">
                                      <p:cBhvr>
                                        <p:cTn id="36" dur="2000"/>
                                        <p:tgtEl>
                                          <p:spTgt spid="19"/>
                                        </p:tgtEl>
                                      </p:cBhvr>
                                    </p:animEffect>
                                  </p:childTnLst>
                                </p:cTn>
                              </p:par>
                              <p:par>
                                <p:cTn id="37" presetID="6" presetClass="entr" presetSubtype="16"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circle(in)">
                                      <p:cBhvr>
                                        <p:cTn id="39" dur="2000"/>
                                        <p:tgtEl>
                                          <p:spTgt spid="22"/>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circle(in)">
                                      <p:cBhvr>
                                        <p:cTn id="42" dur="2000"/>
                                        <p:tgtEl>
                                          <p:spTgt spid="25"/>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circle(in)">
                                      <p:cBhvr>
                                        <p:cTn id="45" dur="2000"/>
                                        <p:tgtEl>
                                          <p:spTgt spid="26"/>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circle(in)">
                                      <p:cBhvr>
                                        <p:cTn id="48" dur="2000"/>
                                        <p:tgtEl>
                                          <p:spTgt spid="27"/>
                                        </p:tgtEl>
                                      </p:cBhvr>
                                    </p:animEffect>
                                  </p:childTnLst>
                                </p:cTn>
                              </p:par>
                              <p:par>
                                <p:cTn id="49" presetID="6" presetClass="entr" presetSubtype="16"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circle(in)">
                                      <p:cBhvr>
                                        <p:cTn id="51" dur="2000"/>
                                        <p:tgtEl>
                                          <p:spTgt spid="28"/>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circle(in)">
                                      <p:cBhvr>
                                        <p:cTn id="54"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2" grpId="0"/>
      <p:bldP spid="13" grpId="0"/>
      <p:bldP spid="17" grpId="0" animBg="1"/>
      <p:bldP spid="18" grpId="0" animBg="1"/>
      <p:bldP spid="25" grpId="0"/>
      <p:bldP spid="26" grpId="0"/>
      <p:bldP spid="27" grpId="0"/>
      <p:bldP spid="28" grpId="0"/>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sp>
        <p:nvSpPr>
          <p:cNvPr id="2" name="弧形 74"/>
          <p:cNvSpPr>
            <a:spLocks noChangeAspect="1"/>
          </p:cNvSpPr>
          <p:nvPr/>
        </p:nvSpPr>
        <p:spPr>
          <a:xfrm rot="16200000">
            <a:off x="899470" y="2729627"/>
            <a:ext cx="815030" cy="815030"/>
          </a:xfrm>
          <a:prstGeom prst="arc">
            <a:avLst>
              <a:gd name="adj1" fmla="val 21534898"/>
              <a:gd name="adj2" fmla="val 14442992"/>
            </a:avLst>
          </a:prstGeom>
          <a:ln w="158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685800">
              <a:lnSpc>
                <a:spcPct val="120000"/>
              </a:lnSpc>
            </a:pPr>
            <a:endParaRPr lang="zh-CN" altLang="en-US" sz="1400">
              <a:latin typeface="思源黑体 CN Medium" panose="020B0600000000000000" pitchFamily="34" charset="-122"/>
              <a:ea typeface="思源黑体 CN Medium" panose="020B0600000000000000" pitchFamily="34" charset="-122"/>
            </a:endParaRPr>
          </a:p>
        </p:txBody>
      </p:sp>
      <p:sp>
        <p:nvSpPr>
          <p:cNvPr id="3" name="文本框 2"/>
          <p:cNvSpPr txBox="1"/>
          <p:nvPr/>
        </p:nvSpPr>
        <p:spPr>
          <a:xfrm>
            <a:off x="1062615" y="2935901"/>
            <a:ext cx="488740" cy="402482"/>
          </a:xfrm>
          <a:prstGeom prst="rect">
            <a:avLst/>
          </a:prstGeom>
          <a:noFill/>
        </p:spPr>
        <p:txBody>
          <a:bodyPr wrap="square">
            <a:spAutoFit/>
          </a:bodyPr>
          <a:lstStyle/>
          <a:p>
            <a:pPr lvl="0" algn="ctr">
              <a:lnSpc>
                <a:spcPct val="120000"/>
              </a:lnSpc>
              <a:defRPr/>
            </a:pPr>
            <a:r>
              <a:rPr lang="en-US" altLang="zh-CN"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01</a:t>
            </a:r>
            <a:endParaRPr lang="zh-CN" altLang="en-US"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4" name="îṥliḑê"/>
          <p:cNvSpPr/>
          <p:nvPr/>
        </p:nvSpPr>
        <p:spPr bwMode="auto">
          <a:xfrm>
            <a:off x="1970534" y="2433837"/>
            <a:ext cx="2449066" cy="132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在</a:t>
            </a:r>
            <a:r>
              <a:rPr kumimoji="0" lang="en-US" altLang="zh-CN" sz="1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ea"/>
                <a:sym typeface="+mn-lt"/>
              </a:rPr>
              <a:t>Deepseek</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中输入要制作的</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主题和具体要求，让它生成</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大纲，注意以</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【markdown】</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格式输出；</a:t>
            </a:r>
          </a:p>
        </p:txBody>
      </p:sp>
      <p:sp>
        <p:nvSpPr>
          <p:cNvPr id="5" name="弧形 74"/>
          <p:cNvSpPr>
            <a:spLocks noChangeAspect="1"/>
          </p:cNvSpPr>
          <p:nvPr/>
        </p:nvSpPr>
        <p:spPr>
          <a:xfrm rot="16200000">
            <a:off x="4419600" y="2729627"/>
            <a:ext cx="815030" cy="815030"/>
          </a:xfrm>
          <a:prstGeom prst="arc">
            <a:avLst>
              <a:gd name="adj1" fmla="val 21534898"/>
              <a:gd name="adj2" fmla="val 14442992"/>
            </a:avLst>
          </a:prstGeom>
          <a:ln w="158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685800">
              <a:lnSpc>
                <a:spcPct val="120000"/>
              </a:lnSpc>
            </a:pPr>
            <a:endParaRPr lang="zh-CN" altLang="en-US" sz="1400">
              <a:latin typeface="思源黑体 CN Medium" panose="020B0600000000000000" pitchFamily="34" charset="-122"/>
              <a:ea typeface="思源黑体 CN Medium" panose="020B0600000000000000" pitchFamily="34" charset="-122"/>
            </a:endParaRPr>
          </a:p>
        </p:txBody>
      </p:sp>
      <p:sp>
        <p:nvSpPr>
          <p:cNvPr id="6" name="文本框 5"/>
          <p:cNvSpPr txBox="1"/>
          <p:nvPr/>
        </p:nvSpPr>
        <p:spPr>
          <a:xfrm>
            <a:off x="4582745" y="2935901"/>
            <a:ext cx="488740" cy="402482"/>
          </a:xfrm>
          <a:prstGeom prst="rect">
            <a:avLst/>
          </a:prstGeom>
          <a:noFill/>
        </p:spPr>
        <p:txBody>
          <a:bodyPr wrap="square">
            <a:spAutoFit/>
          </a:bodyPr>
          <a:lstStyle/>
          <a:p>
            <a:pPr lvl="0" algn="ctr">
              <a:lnSpc>
                <a:spcPct val="120000"/>
              </a:lnSpc>
              <a:defRPr/>
            </a:pPr>
            <a:r>
              <a:rPr lang="en-US" altLang="zh-CN"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02</a:t>
            </a:r>
            <a:endParaRPr lang="zh-CN" altLang="en-US"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7" name="îṥliḑê"/>
          <p:cNvSpPr/>
          <p:nvPr/>
        </p:nvSpPr>
        <p:spPr bwMode="auto">
          <a:xfrm>
            <a:off x="5490664" y="2910087"/>
            <a:ext cx="244906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生成完毕之后，点击复制；</a:t>
            </a:r>
          </a:p>
        </p:txBody>
      </p:sp>
      <p:sp>
        <p:nvSpPr>
          <p:cNvPr id="8" name="弧形 74"/>
          <p:cNvSpPr>
            <a:spLocks noChangeAspect="1"/>
          </p:cNvSpPr>
          <p:nvPr/>
        </p:nvSpPr>
        <p:spPr>
          <a:xfrm rot="16200000">
            <a:off x="7939730" y="2729627"/>
            <a:ext cx="815030" cy="815030"/>
          </a:xfrm>
          <a:prstGeom prst="arc">
            <a:avLst>
              <a:gd name="adj1" fmla="val 21534898"/>
              <a:gd name="adj2" fmla="val 14442992"/>
            </a:avLst>
          </a:prstGeom>
          <a:ln w="158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685800">
              <a:lnSpc>
                <a:spcPct val="120000"/>
              </a:lnSpc>
            </a:pPr>
            <a:endParaRPr lang="zh-CN" altLang="en-US" sz="1400">
              <a:latin typeface="思源黑体 CN Medium" panose="020B0600000000000000" pitchFamily="34" charset="-122"/>
              <a:ea typeface="思源黑体 CN Medium" panose="020B0600000000000000" pitchFamily="34" charset="-122"/>
            </a:endParaRPr>
          </a:p>
        </p:txBody>
      </p:sp>
      <p:sp>
        <p:nvSpPr>
          <p:cNvPr id="9" name="文本框 8"/>
          <p:cNvSpPr txBox="1"/>
          <p:nvPr/>
        </p:nvSpPr>
        <p:spPr>
          <a:xfrm>
            <a:off x="8102875" y="2935901"/>
            <a:ext cx="488740" cy="402482"/>
          </a:xfrm>
          <a:prstGeom prst="rect">
            <a:avLst/>
          </a:prstGeom>
          <a:noFill/>
        </p:spPr>
        <p:txBody>
          <a:bodyPr wrap="square">
            <a:spAutoFit/>
          </a:bodyPr>
          <a:lstStyle/>
          <a:p>
            <a:pPr lvl="0" algn="ctr">
              <a:lnSpc>
                <a:spcPct val="120000"/>
              </a:lnSpc>
              <a:defRPr/>
            </a:pPr>
            <a:r>
              <a:rPr lang="en-US" altLang="zh-CN"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03</a:t>
            </a:r>
            <a:endParaRPr lang="zh-CN" altLang="en-US"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10" name="îṥliḑê"/>
          <p:cNvSpPr/>
          <p:nvPr/>
        </p:nvSpPr>
        <p:spPr bwMode="auto">
          <a:xfrm>
            <a:off x="9010794" y="2624337"/>
            <a:ext cx="2449066" cy="111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打开</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Kimi,</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点击侧边栏里的</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助手</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，将刚才的</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大纲粘贴；</a:t>
            </a:r>
          </a:p>
        </p:txBody>
      </p:sp>
      <p:sp>
        <p:nvSpPr>
          <p:cNvPr id="11" name="弧形 74"/>
          <p:cNvSpPr>
            <a:spLocks noChangeAspect="1"/>
          </p:cNvSpPr>
          <p:nvPr/>
        </p:nvSpPr>
        <p:spPr>
          <a:xfrm rot="16200000">
            <a:off x="2737788" y="4599733"/>
            <a:ext cx="815030" cy="815030"/>
          </a:xfrm>
          <a:prstGeom prst="arc">
            <a:avLst>
              <a:gd name="adj1" fmla="val 21534898"/>
              <a:gd name="adj2" fmla="val 14442992"/>
            </a:avLst>
          </a:prstGeom>
          <a:ln w="158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685800">
              <a:lnSpc>
                <a:spcPct val="120000"/>
              </a:lnSpc>
            </a:pPr>
            <a:endParaRPr lang="zh-CN" altLang="en-US" sz="1400">
              <a:latin typeface="思源黑体 CN Medium" panose="020B0600000000000000" pitchFamily="34" charset="-122"/>
              <a:ea typeface="思源黑体 CN Medium" panose="020B0600000000000000" pitchFamily="34" charset="-122"/>
            </a:endParaRPr>
          </a:p>
        </p:txBody>
      </p:sp>
      <p:sp>
        <p:nvSpPr>
          <p:cNvPr id="12" name="文本框 11"/>
          <p:cNvSpPr txBox="1"/>
          <p:nvPr/>
        </p:nvSpPr>
        <p:spPr>
          <a:xfrm>
            <a:off x="2900933" y="4806007"/>
            <a:ext cx="488740" cy="402482"/>
          </a:xfrm>
          <a:prstGeom prst="rect">
            <a:avLst/>
          </a:prstGeom>
          <a:noFill/>
        </p:spPr>
        <p:txBody>
          <a:bodyPr wrap="square">
            <a:spAutoFit/>
          </a:bodyPr>
          <a:lstStyle/>
          <a:p>
            <a:pPr lvl="0" algn="ctr">
              <a:lnSpc>
                <a:spcPct val="120000"/>
              </a:lnSpc>
              <a:defRPr/>
            </a:pPr>
            <a:r>
              <a:rPr lang="en-US" altLang="zh-CN"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04</a:t>
            </a:r>
            <a:endParaRPr lang="zh-CN" altLang="en-US"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13" name="îṥliḑê"/>
          <p:cNvSpPr/>
          <p:nvPr/>
        </p:nvSpPr>
        <p:spPr bwMode="auto">
          <a:xfrm>
            <a:off x="3808852" y="4551593"/>
            <a:ext cx="2449066" cy="111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助手解析完大纲后，点击</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一键生成</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p>
        </p:txBody>
      </p:sp>
      <p:sp>
        <p:nvSpPr>
          <p:cNvPr id="15" name="弧形 74"/>
          <p:cNvSpPr>
            <a:spLocks noChangeAspect="1"/>
          </p:cNvSpPr>
          <p:nvPr/>
        </p:nvSpPr>
        <p:spPr>
          <a:xfrm rot="16200000">
            <a:off x="6257918" y="4599733"/>
            <a:ext cx="815030" cy="815030"/>
          </a:xfrm>
          <a:prstGeom prst="arc">
            <a:avLst>
              <a:gd name="adj1" fmla="val 21534898"/>
              <a:gd name="adj2" fmla="val 14442992"/>
            </a:avLst>
          </a:prstGeom>
          <a:ln w="158750">
            <a:solidFill>
              <a:schemeClr val="accent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685800">
              <a:lnSpc>
                <a:spcPct val="120000"/>
              </a:lnSpc>
            </a:pPr>
            <a:endParaRPr lang="zh-CN" altLang="en-US" sz="140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6421063" y="4806007"/>
            <a:ext cx="488740" cy="402482"/>
          </a:xfrm>
          <a:prstGeom prst="rect">
            <a:avLst/>
          </a:prstGeom>
          <a:noFill/>
        </p:spPr>
        <p:txBody>
          <a:bodyPr wrap="square">
            <a:spAutoFit/>
          </a:bodyPr>
          <a:lstStyle/>
          <a:p>
            <a:pPr lvl="0" algn="ctr">
              <a:lnSpc>
                <a:spcPct val="120000"/>
              </a:lnSpc>
              <a:defRPr/>
            </a:pPr>
            <a:r>
              <a:rPr lang="en-US" altLang="zh-CN"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rPr>
              <a:t>05</a:t>
            </a:r>
            <a:endParaRPr lang="zh-CN" altLang="en-US" b="1" cap="all" dirty="0">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17" name="îṥliḑê"/>
          <p:cNvSpPr/>
          <p:nvPr/>
        </p:nvSpPr>
        <p:spPr bwMode="auto">
          <a:xfrm>
            <a:off x="7328982" y="4475393"/>
            <a:ext cx="2449066" cy="111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根据自己想要的风格、效果选择合适的模板，点击</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生成</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PPT】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即可。</a:t>
            </a:r>
          </a:p>
        </p:txBody>
      </p:sp>
      <p:sp>
        <p:nvSpPr>
          <p:cNvPr id="18" name="PA-矩形 4"/>
          <p:cNvSpPr>
            <a:spLocks noChangeArrowheads="1"/>
          </p:cNvSpPr>
          <p:nvPr>
            <p:custDataLst>
              <p:tags r:id="rId1"/>
            </p:custDataLst>
          </p:nvPr>
        </p:nvSpPr>
        <p:spPr bwMode="auto">
          <a:xfrm>
            <a:off x="1005777" y="1442162"/>
            <a:ext cx="2042224"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3.AI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生成</a:t>
            </a: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ppt</a:t>
            </a:r>
          </a:p>
        </p:txBody>
      </p:sp>
      <p:sp>
        <p:nvSpPr>
          <p:cNvPr id="19" name="PA-矩形 4"/>
          <p:cNvSpPr>
            <a:spLocks noChangeArrowheads="1"/>
          </p:cNvSpPr>
          <p:nvPr>
            <p:custDataLst>
              <p:tags r:id="rId2"/>
            </p:custDataLst>
          </p:nvPr>
        </p:nvSpPr>
        <p:spPr bwMode="auto">
          <a:xfrm>
            <a:off x="3446823" y="1521652"/>
            <a:ext cx="2974239" cy="41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000" b="1" dirty="0" err="1">
                <a:latin typeface="微软雅黑" panose="020B0503020204020204" pitchFamily="34" charset="-122"/>
                <a:ea typeface="微软雅黑" panose="020B0503020204020204" pitchFamily="34" charset="-122"/>
                <a:cs typeface="+mn-ea"/>
                <a:sym typeface="+mn-lt"/>
              </a:rPr>
              <a:t>Deepseek+Kimi</a:t>
            </a:r>
            <a:r>
              <a:rPr lang="en-US" altLang="zh-CN" sz="2000" b="1" dirty="0">
                <a:latin typeface="微软雅黑" panose="020B0503020204020204" pitchFamily="34" charset="-122"/>
                <a:ea typeface="微软雅黑" panose="020B0503020204020204" pitchFamily="34" charset="-122"/>
                <a:cs typeface="+mn-ea"/>
                <a:sym typeface="+mn-lt"/>
              </a:rPr>
              <a:t> </a:t>
            </a:r>
            <a:r>
              <a:rPr lang="zh-CN" altLang="en-US" sz="2000" b="1" dirty="0">
                <a:latin typeface="微软雅黑" panose="020B0503020204020204" pitchFamily="34" charset="-122"/>
                <a:ea typeface="微软雅黑" panose="020B0503020204020204" pitchFamily="34" charset="-122"/>
                <a:cs typeface="+mn-ea"/>
                <a:sym typeface="+mn-lt"/>
              </a:rPr>
              <a:t>组合 </a:t>
            </a:r>
            <a:endParaRPr lang="en-US" altLang="zh-CN" sz="2000" b="1" dirty="0">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500" fill="hold"/>
                                        <p:tgtEl>
                                          <p:spTgt spid="16"/>
                                        </p:tgtEl>
                                        <p:attrNameLst>
                                          <p:attrName>ppt_w</p:attrName>
                                        </p:attrNameLst>
                                      </p:cBhvr>
                                      <p:tavLst>
                                        <p:tav tm="0">
                                          <p:val>
                                            <p:fltVal val="0"/>
                                          </p:val>
                                        </p:tav>
                                        <p:tav tm="100000">
                                          <p:val>
                                            <p:strVal val="#ppt_w"/>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Effect transition="in" filter="fade">
                                      <p:cBhvr>
                                        <p:cTn id="34" dur="500"/>
                                        <p:tgtEl>
                                          <p:spTgt spid="1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Effect transition="in" filter="fade">
                                      <p:cBhvr>
                                        <p:cTn id="39" dur="500"/>
                                        <p:tgtEl>
                                          <p:spTgt spid="1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500" fill="hold"/>
                                        <p:tgtEl>
                                          <p:spTgt spid="2"/>
                                        </p:tgtEl>
                                        <p:attrNameLst>
                                          <p:attrName>ppt_w</p:attrName>
                                        </p:attrNameLst>
                                      </p:cBhvr>
                                      <p:tavLst>
                                        <p:tav tm="0">
                                          <p:val>
                                            <p:fltVal val="0"/>
                                          </p:val>
                                        </p:tav>
                                        <p:tav tm="100000">
                                          <p:val>
                                            <p:strVal val="#ppt_w"/>
                                          </p:val>
                                        </p:tav>
                                      </p:tavLst>
                                    </p:anim>
                                    <p:anim calcmode="lin" valueType="num">
                                      <p:cBhvr>
                                        <p:cTn id="48" dur="500" fill="hold"/>
                                        <p:tgtEl>
                                          <p:spTgt spid="2"/>
                                        </p:tgtEl>
                                        <p:attrNameLst>
                                          <p:attrName>ppt_h</p:attrName>
                                        </p:attrNameLst>
                                      </p:cBhvr>
                                      <p:tavLst>
                                        <p:tav tm="0">
                                          <p:val>
                                            <p:fltVal val="0"/>
                                          </p:val>
                                        </p:tav>
                                        <p:tav tm="100000">
                                          <p:val>
                                            <p:strVal val="#ppt_h"/>
                                          </p:val>
                                        </p:tav>
                                      </p:tavLst>
                                    </p:anim>
                                    <p:animEffect transition="in" filter="fade">
                                      <p:cBhvr>
                                        <p:cTn id="49" dur="500"/>
                                        <p:tgtEl>
                                          <p:spTgt spid="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p:cTn id="52" dur="500" fill="hold"/>
                                        <p:tgtEl>
                                          <p:spTgt spid="4"/>
                                        </p:tgtEl>
                                        <p:attrNameLst>
                                          <p:attrName>ppt_w</p:attrName>
                                        </p:attrNameLst>
                                      </p:cBhvr>
                                      <p:tavLst>
                                        <p:tav tm="0">
                                          <p:val>
                                            <p:fltVal val="0"/>
                                          </p:val>
                                        </p:tav>
                                        <p:tav tm="100000">
                                          <p:val>
                                            <p:strVal val="#ppt_w"/>
                                          </p:val>
                                        </p:tav>
                                      </p:tavLst>
                                    </p:anim>
                                    <p:anim calcmode="lin" valueType="num">
                                      <p:cBhvr>
                                        <p:cTn id="53" dur="500" fill="hold"/>
                                        <p:tgtEl>
                                          <p:spTgt spid="4"/>
                                        </p:tgtEl>
                                        <p:attrNameLst>
                                          <p:attrName>ppt_h</p:attrName>
                                        </p:attrNameLst>
                                      </p:cBhvr>
                                      <p:tavLst>
                                        <p:tav tm="0">
                                          <p:val>
                                            <p:fltVal val="0"/>
                                          </p:val>
                                        </p:tav>
                                        <p:tav tm="100000">
                                          <p:val>
                                            <p:strVal val="#ppt_h"/>
                                          </p:val>
                                        </p:tav>
                                      </p:tavLst>
                                    </p:anim>
                                    <p:animEffect transition="in" filter="fade">
                                      <p:cBhvr>
                                        <p:cTn id="54" dur="500"/>
                                        <p:tgtEl>
                                          <p:spTgt spid="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p:cTn id="57" dur="500" fill="hold"/>
                                        <p:tgtEl>
                                          <p:spTgt spid="5"/>
                                        </p:tgtEl>
                                        <p:attrNameLst>
                                          <p:attrName>ppt_w</p:attrName>
                                        </p:attrNameLst>
                                      </p:cBhvr>
                                      <p:tavLst>
                                        <p:tav tm="0">
                                          <p:val>
                                            <p:fltVal val="0"/>
                                          </p:val>
                                        </p:tav>
                                        <p:tav tm="100000">
                                          <p:val>
                                            <p:strVal val="#ppt_w"/>
                                          </p:val>
                                        </p:tav>
                                      </p:tavLst>
                                    </p:anim>
                                    <p:anim calcmode="lin" valueType="num">
                                      <p:cBhvr>
                                        <p:cTn id="58" dur="500" fill="hold"/>
                                        <p:tgtEl>
                                          <p:spTgt spid="5"/>
                                        </p:tgtEl>
                                        <p:attrNameLst>
                                          <p:attrName>ppt_h</p:attrName>
                                        </p:attrNameLst>
                                      </p:cBhvr>
                                      <p:tavLst>
                                        <p:tav tm="0">
                                          <p:val>
                                            <p:fltVal val="0"/>
                                          </p:val>
                                        </p:tav>
                                        <p:tav tm="100000">
                                          <p:val>
                                            <p:strVal val="#ppt_h"/>
                                          </p:val>
                                        </p:tav>
                                      </p:tavLst>
                                    </p:anim>
                                    <p:animEffect transition="in" filter="fade">
                                      <p:cBhvr>
                                        <p:cTn id="59" dur="500"/>
                                        <p:tgtEl>
                                          <p:spTgt spid="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anim calcmode="lin" valueType="num">
                                      <p:cBhvr>
                                        <p:cTn id="62" dur="500" fill="hold"/>
                                        <p:tgtEl>
                                          <p:spTgt spid="7"/>
                                        </p:tgtEl>
                                        <p:attrNameLst>
                                          <p:attrName>ppt_w</p:attrName>
                                        </p:attrNameLst>
                                      </p:cBhvr>
                                      <p:tavLst>
                                        <p:tav tm="0">
                                          <p:val>
                                            <p:fltVal val="0"/>
                                          </p:val>
                                        </p:tav>
                                        <p:tav tm="100000">
                                          <p:val>
                                            <p:strVal val="#ppt_w"/>
                                          </p:val>
                                        </p:tav>
                                      </p:tavLst>
                                    </p:anim>
                                    <p:anim calcmode="lin" valueType="num">
                                      <p:cBhvr>
                                        <p:cTn id="63" dur="500" fill="hold"/>
                                        <p:tgtEl>
                                          <p:spTgt spid="7"/>
                                        </p:tgtEl>
                                        <p:attrNameLst>
                                          <p:attrName>ppt_h</p:attrName>
                                        </p:attrNameLst>
                                      </p:cBhvr>
                                      <p:tavLst>
                                        <p:tav tm="0">
                                          <p:val>
                                            <p:fltVal val="0"/>
                                          </p:val>
                                        </p:tav>
                                        <p:tav tm="100000">
                                          <p:val>
                                            <p:strVal val="#ppt_h"/>
                                          </p:val>
                                        </p:tav>
                                      </p:tavLst>
                                    </p:anim>
                                    <p:animEffect transition="in" filter="fade">
                                      <p:cBhvr>
                                        <p:cTn id="64" dur="500"/>
                                        <p:tgtEl>
                                          <p:spTgt spid="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 fill="hold"/>
                                        <p:tgtEl>
                                          <p:spTgt spid="8"/>
                                        </p:tgtEl>
                                        <p:attrNameLst>
                                          <p:attrName>ppt_w</p:attrName>
                                        </p:attrNameLst>
                                      </p:cBhvr>
                                      <p:tavLst>
                                        <p:tav tm="0">
                                          <p:val>
                                            <p:fltVal val="0"/>
                                          </p:val>
                                        </p:tav>
                                        <p:tav tm="100000">
                                          <p:val>
                                            <p:strVal val="#ppt_w"/>
                                          </p:val>
                                        </p:tav>
                                      </p:tavLst>
                                    </p:anim>
                                    <p:anim calcmode="lin" valueType="num">
                                      <p:cBhvr>
                                        <p:cTn id="68" dur="500" fill="hold"/>
                                        <p:tgtEl>
                                          <p:spTgt spid="8"/>
                                        </p:tgtEl>
                                        <p:attrNameLst>
                                          <p:attrName>ppt_h</p:attrName>
                                        </p:attrNameLst>
                                      </p:cBhvr>
                                      <p:tavLst>
                                        <p:tav tm="0">
                                          <p:val>
                                            <p:fltVal val="0"/>
                                          </p:val>
                                        </p:tav>
                                        <p:tav tm="100000">
                                          <p:val>
                                            <p:strVal val="#ppt_h"/>
                                          </p:val>
                                        </p:tav>
                                      </p:tavLst>
                                    </p:anim>
                                    <p:animEffect transition="in" filter="fade">
                                      <p:cBhvr>
                                        <p:cTn id="69" dur="500"/>
                                        <p:tgtEl>
                                          <p:spTgt spid="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anim calcmode="lin" valueType="num">
                                      <p:cBhvr>
                                        <p:cTn id="72" dur="500" fill="hold"/>
                                        <p:tgtEl>
                                          <p:spTgt spid="10"/>
                                        </p:tgtEl>
                                        <p:attrNameLst>
                                          <p:attrName>ppt_w</p:attrName>
                                        </p:attrNameLst>
                                      </p:cBhvr>
                                      <p:tavLst>
                                        <p:tav tm="0">
                                          <p:val>
                                            <p:fltVal val="0"/>
                                          </p:val>
                                        </p:tav>
                                        <p:tav tm="100000">
                                          <p:val>
                                            <p:strVal val="#ppt_w"/>
                                          </p:val>
                                        </p:tav>
                                      </p:tavLst>
                                    </p:anim>
                                    <p:anim calcmode="lin" valueType="num">
                                      <p:cBhvr>
                                        <p:cTn id="73" dur="500" fill="hold"/>
                                        <p:tgtEl>
                                          <p:spTgt spid="10"/>
                                        </p:tgtEl>
                                        <p:attrNameLst>
                                          <p:attrName>ppt_h</p:attrName>
                                        </p:attrNameLst>
                                      </p:cBhvr>
                                      <p:tavLst>
                                        <p:tav tm="0">
                                          <p:val>
                                            <p:fltVal val="0"/>
                                          </p:val>
                                        </p:tav>
                                        <p:tav tm="100000">
                                          <p:val>
                                            <p:strVal val="#ppt_h"/>
                                          </p:val>
                                        </p:tav>
                                      </p:tavLst>
                                    </p:anim>
                                    <p:animEffect transition="in" filter="fade">
                                      <p:cBhvr>
                                        <p:cTn id="74" dur="500"/>
                                        <p:tgtEl>
                                          <p:spTgt spid="1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1"/>
                                        </p:tgtEl>
                                        <p:attrNameLst>
                                          <p:attrName>style.visibility</p:attrName>
                                        </p:attrNameLst>
                                      </p:cBhvr>
                                      <p:to>
                                        <p:strVal val="visible"/>
                                      </p:to>
                                    </p:set>
                                    <p:anim calcmode="lin" valueType="num">
                                      <p:cBhvr>
                                        <p:cTn id="77" dur="500" fill="hold"/>
                                        <p:tgtEl>
                                          <p:spTgt spid="11"/>
                                        </p:tgtEl>
                                        <p:attrNameLst>
                                          <p:attrName>ppt_w</p:attrName>
                                        </p:attrNameLst>
                                      </p:cBhvr>
                                      <p:tavLst>
                                        <p:tav tm="0">
                                          <p:val>
                                            <p:fltVal val="0"/>
                                          </p:val>
                                        </p:tav>
                                        <p:tav tm="100000">
                                          <p:val>
                                            <p:strVal val="#ppt_w"/>
                                          </p:val>
                                        </p:tav>
                                      </p:tavLst>
                                    </p:anim>
                                    <p:anim calcmode="lin" valueType="num">
                                      <p:cBhvr>
                                        <p:cTn id="78" dur="500" fill="hold"/>
                                        <p:tgtEl>
                                          <p:spTgt spid="11"/>
                                        </p:tgtEl>
                                        <p:attrNameLst>
                                          <p:attrName>ppt_h</p:attrName>
                                        </p:attrNameLst>
                                      </p:cBhvr>
                                      <p:tavLst>
                                        <p:tav tm="0">
                                          <p:val>
                                            <p:fltVal val="0"/>
                                          </p:val>
                                        </p:tav>
                                        <p:tav tm="100000">
                                          <p:val>
                                            <p:strVal val="#ppt_h"/>
                                          </p:val>
                                        </p:tav>
                                      </p:tavLst>
                                    </p:anim>
                                    <p:animEffect transition="in" filter="fade">
                                      <p:cBhvr>
                                        <p:cTn id="79" dur="500"/>
                                        <p:tgtEl>
                                          <p:spTgt spid="11"/>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3"/>
                                        </p:tgtEl>
                                        <p:attrNameLst>
                                          <p:attrName>style.visibility</p:attrName>
                                        </p:attrNameLst>
                                      </p:cBhvr>
                                      <p:to>
                                        <p:strVal val="visible"/>
                                      </p:to>
                                    </p:set>
                                    <p:anim calcmode="lin" valueType="num">
                                      <p:cBhvr>
                                        <p:cTn id="82" dur="500" fill="hold"/>
                                        <p:tgtEl>
                                          <p:spTgt spid="13"/>
                                        </p:tgtEl>
                                        <p:attrNameLst>
                                          <p:attrName>ppt_w</p:attrName>
                                        </p:attrNameLst>
                                      </p:cBhvr>
                                      <p:tavLst>
                                        <p:tav tm="0">
                                          <p:val>
                                            <p:fltVal val="0"/>
                                          </p:val>
                                        </p:tav>
                                        <p:tav tm="100000">
                                          <p:val>
                                            <p:strVal val="#ppt_w"/>
                                          </p:val>
                                        </p:tav>
                                      </p:tavLst>
                                    </p:anim>
                                    <p:anim calcmode="lin" valueType="num">
                                      <p:cBhvr>
                                        <p:cTn id="83" dur="500" fill="hold"/>
                                        <p:tgtEl>
                                          <p:spTgt spid="13"/>
                                        </p:tgtEl>
                                        <p:attrNameLst>
                                          <p:attrName>ppt_h</p:attrName>
                                        </p:attrNameLst>
                                      </p:cBhvr>
                                      <p:tavLst>
                                        <p:tav tm="0">
                                          <p:val>
                                            <p:fltVal val="0"/>
                                          </p:val>
                                        </p:tav>
                                        <p:tav tm="100000">
                                          <p:val>
                                            <p:strVal val="#ppt_h"/>
                                          </p:val>
                                        </p:tav>
                                      </p:tavLst>
                                    </p:anim>
                                    <p:animEffect transition="in" filter="fade">
                                      <p:cBhvr>
                                        <p:cTn id="84" dur="500"/>
                                        <p:tgtEl>
                                          <p:spTgt spid="13"/>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15"/>
                                        </p:tgtEl>
                                        <p:attrNameLst>
                                          <p:attrName>style.visibility</p:attrName>
                                        </p:attrNameLst>
                                      </p:cBhvr>
                                      <p:to>
                                        <p:strVal val="visible"/>
                                      </p:to>
                                    </p:set>
                                    <p:anim calcmode="lin" valueType="num">
                                      <p:cBhvr>
                                        <p:cTn id="87" dur="500" fill="hold"/>
                                        <p:tgtEl>
                                          <p:spTgt spid="15"/>
                                        </p:tgtEl>
                                        <p:attrNameLst>
                                          <p:attrName>ppt_w</p:attrName>
                                        </p:attrNameLst>
                                      </p:cBhvr>
                                      <p:tavLst>
                                        <p:tav tm="0">
                                          <p:val>
                                            <p:fltVal val="0"/>
                                          </p:val>
                                        </p:tav>
                                        <p:tav tm="100000">
                                          <p:val>
                                            <p:strVal val="#ppt_w"/>
                                          </p:val>
                                        </p:tav>
                                      </p:tavLst>
                                    </p:anim>
                                    <p:anim calcmode="lin" valueType="num">
                                      <p:cBhvr>
                                        <p:cTn id="88" dur="500" fill="hold"/>
                                        <p:tgtEl>
                                          <p:spTgt spid="15"/>
                                        </p:tgtEl>
                                        <p:attrNameLst>
                                          <p:attrName>ppt_h</p:attrName>
                                        </p:attrNameLst>
                                      </p:cBhvr>
                                      <p:tavLst>
                                        <p:tav tm="0">
                                          <p:val>
                                            <p:fltVal val="0"/>
                                          </p:val>
                                        </p:tav>
                                        <p:tav tm="100000">
                                          <p:val>
                                            <p:strVal val="#ppt_h"/>
                                          </p:val>
                                        </p:tav>
                                      </p:tavLst>
                                    </p:anim>
                                    <p:animEffect transition="in" filter="fade">
                                      <p:cBhvr>
                                        <p:cTn id="89" dur="500"/>
                                        <p:tgtEl>
                                          <p:spTgt spid="15"/>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 calcmode="lin" valueType="num">
                                      <p:cBhvr>
                                        <p:cTn id="92" dur="500" fill="hold"/>
                                        <p:tgtEl>
                                          <p:spTgt spid="17"/>
                                        </p:tgtEl>
                                        <p:attrNameLst>
                                          <p:attrName>ppt_w</p:attrName>
                                        </p:attrNameLst>
                                      </p:cBhvr>
                                      <p:tavLst>
                                        <p:tav tm="0">
                                          <p:val>
                                            <p:fltVal val="0"/>
                                          </p:val>
                                        </p:tav>
                                        <p:tav tm="100000">
                                          <p:val>
                                            <p:strVal val="#ppt_w"/>
                                          </p:val>
                                        </p:tav>
                                      </p:tavLst>
                                    </p:anim>
                                    <p:anim calcmode="lin" valueType="num">
                                      <p:cBhvr>
                                        <p:cTn id="93" dur="500" fill="hold"/>
                                        <p:tgtEl>
                                          <p:spTgt spid="17"/>
                                        </p:tgtEl>
                                        <p:attrNameLst>
                                          <p:attrName>ppt_h</p:attrName>
                                        </p:attrNameLst>
                                      </p:cBhvr>
                                      <p:tavLst>
                                        <p:tav tm="0">
                                          <p:val>
                                            <p:fltVal val="0"/>
                                          </p:val>
                                        </p:tav>
                                        <p:tav tm="100000">
                                          <p:val>
                                            <p:strVal val="#ppt_h"/>
                                          </p:val>
                                        </p:tav>
                                      </p:tavLst>
                                    </p:anim>
                                    <p:animEffect transition="in" filter="fade">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p:bldP spid="4" grpId="0"/>
      <p:bldP spid="5" grpId="0" animBg="1"/>
      <p:bldP spid="6" grpId="0"/>
      <p:bldP spid="7" grpId="0"/>
      <p:bldP spid="8" grpId="0" animBg="1"/>
      <p:bldP spid="9" grpId="0"/>
      <p:bldP spid="10" grpId="0"/>
      <p:bldP spid="11" grpId="0" animBg="1"/>
      <p:bldP spid="12" grpId="0"/>
      <p:bldP spid="13" grpId="0"/>
      <p:bldP spid="15" grpId="0" animBg="1"/>
      <p:bldP spid="16" grpId="0"/>
      <p:bldP spid="17" grpId="0"/>
      <p:bldP spid="18"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pic>
        <p:nvPicPr>
          <p:cNvPr id="2" name="图片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37773" y="2146223"/>
            <a:ext cx="9840353" cy="4021215"/>
          </a:xfrm>
          <a:prstGeom prst="rect">
            <a:avLst/>
          </a:prstGeom>
        </p:spPr>
      </p:pic>
      <p:sp>
        <p:nvSpPr>
          <p:cNvPr id="3" name="PA-矩形 4"/>
          <p:cNvSpPr>
            <a:spLocks noChangeArrowheads="1"/>
          </p:cNvSpPr>
          <p:nvPr>
            <p:custDataLst>
              <p:tags r:id="rId1"/>
            </p:custDataLst>
          </p:nvPr>
        </p:nvSpPr>
        <p:spPr bwMode="auto">
          <a:xfrm>
            <a:off x="813874" y="1110915"/>
            <a:ext cx="10877549" cy="98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1600" b="1" dirty="0">
                <a:latin typeface="微软雅黑" panose="020B0503020204020204" pitchFamily="34" charset="-122"/>
                <a:ea typeface="微软雅黑" panose="020B0503020204020204" pitchFamily="34" charset="-122"/>
                <a:cs typeface="+mn-ea"/>
                <a:sym typeface="+mn-lt"/>
              </a:rPr>
              <a:t>豆包</a:t>
            </a:r>
          </a:p>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1</a:t>
            </a:r>
            <a:r>
              <a:rPr lang="zh-CN" altLang="en-US" sz="1400" dirty="0">
                <a:latin typeface="微软雅黑" panose="020B0503020204020204" pitchFamily="34" charset="-122"/>
                <a:ea typeface="微软雅黑" panose="020B0503020204020204" pitchFamily="34" charset="-122"/>
                <a:cs typeface="+mn-ea"/>
                <a:sym typeface="+mn-lt"/>
              </a:rPr>
              <a:t>、输入指令，如“生成一份面试官培训</a:t>
            </a:r>
            <a:r>
              <a:rPr lang="en-US" altLang="zh-CN" sz="1400" dirty="0">
                <a:latin typeface="微软雅黑" panose="020B0503020204020204" pitchFamily="34" charset="-122"/>
                <a:ea typeface="微软雅黑" panose="020B0503020204020204" pitchFamily="34" charset="-122"/>
                <a:cs typeface="+mn-ea"/>
                <a:sym typeface="+mn-lt"/>
              </a:rPr>
              <a:t>PPT”</a:t>
            </a:r>
            <a:r>
              <a:rPr lang="zh-CN" altLang="en-US" sz="1400" dirty="0">
                <a:latin typeface="微软雅黑" panose="020B0503020204020204" pitchFamily="34" charset="-122"/>
                <a:ea typeface="微软雅黑" panose="020B0503020204020204" pitchFamily="34" charset="-122"/>
                <a:cs typeface="+mn-ea"/>
                <a:sym typeface="+mn-lt"/>
              </a:rPr>
              <a:t>（或者给到具体大纲内容），要求包含封面、目录、内容页和总结页，风格为科技风。”</a:t>
            </a:r>
          </a:p>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2</a:t>
            </a:r>
            <a:r>
              <a:rPr lang="zh-CN" altLang="en-US" sz="1400" dirty="0">
                <a:latin typeface="微软雅黑" panose="020B0503020204020204" pitchFamily="34" charset="-122"/>
                <a:ea typeface="微软雅黑" panose="020B0503020204020204" pitchFamily="34" charset="-122"/>
                <a:cs typeface="+mn-ea"/>
                <a:sym typeface="+mn-lt"/>
              </a:rPr>
              <a:t>、根据需要进行细节调整和美化。</a:t>
            </a:r>
          </a:p>
        </p:txBody>
      </p:sp>
      <p:sp>
        <p:nvSpPr>
          <p:cNvPr id="4" name="PA-矩形 4"/>
          <p:cNvSpPr>
            <a:spLocks noChangeArrowheads="1"/>
          </p:cNvSpPr>
          <p:nvPr>
            <p:custDataLst>
              <p:tags r:id="rId2"/>
            </p:custDataLst>
          </p:nvPr>
        </p:nvSpPr>
        <p:spPr bwMode="auto">
          <a:xfrm>
            <a:off x="813874" y="3181350"/>
            <a:ext cx="553998" cy="215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3.AI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生成</a:t>
            </a: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ppt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sp>
        <p:nvSpPr>
          <p:cNvPr id="2" name="矩形 1"/>
          <p:cNvSpPr/>
          <p:nvPr/>
        </p:nvSpPr>
        <p:spPr>
          <a:xfrm>
            <a:off x="1392259" y="2087231"/>
            <a:ext cx="4526813" cy="1962817"/>
          </a:xfrm>
          <a:prstGeom prst="rect">
            <a:avLst/>
          </a:prstGeom>
          <a:gradFill flip="none" rotWithShape="1">
            <a:gsLst>
              <a:gs pos="40000">
                <a:srgbClr val="FFFFFF">
                  <a:alpha val="0"/>
                </a:srgbClr>
              </a:gs>
              <a:gs pos="100000">
                <a:schemeClr val="accent6">
                  <a:alpha val="2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 name="弧形 2"/>
          <p:cNvSpPr/>
          <p:nvPr/>
        </p:nvSpPr>
        <p:spPr>
          <a:xfrm rot="14864643">
            <a:off x="851601" y="2206320"/>
            <a:ext cx="1681502" cy="1681498"/>
          </a:xfrm>
          <a:prstGeom prst="arc">
            <a:avLst/>
          </a:prstGeom>
          <a:ln w="25400" cap="rnd">
            <a:gradFill>
              <a:gsLst>
                <a:gs pos="0">
                  <a:schemeClr val="accent6"/>
                </a:gs>
                <a:gs pos="95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 name="旁门左道出品"/>
          <p:cNvSpPr/>
          <p:nvPr/>
        </p:nvSpPr>
        <p:spPr>
          <a:xfrm rot="7632542">
            <a:off x="851601" y="2206320"/>
            <a:ext cx="1681502" cy="1681498"/>
          </a:xfrm>
          <a:prstGeom prst="arc">
            <a:avLst/>
          </a:prstGeom>
          <a:ln w="25400" cap="rnd">
            <a:gradFill>
              <a:gsLst>
                <a:gs pos="0">
                  <a:schemeClr val="accent6"/>
                </a:gs>
                <a:gs pos="95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 name="旁门左道出品"/>
          <p:cNvSpPr/>
          <p:nvPr/>
        </p:nvSpPr>
        <p:spPr>
          <a:xfrm rot="7632542">
            <a:off x="9683344" y="2206320"/>
            <a:ext cx="1681502" cy="1681498"/>
          </a:xfrm>
          <a:prstGeom prst="arc">
            <a:avLst/>
          </a:prstGeom>
          <a:ln w="25400" cap="rnd">
            <a:gradFill>
              <a:gsLst>
                <a:gs pos="0">
                  <a:schemeClr val="accent6"/>
                </a:gs>
                <a:gs pos="95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 name="矩形 5"/>
          <p:cNvSpPr/>
          <p:nvPr/>
        </p:nvSpPr>
        <p:spPr>
          <a:xfrm flipH="1">
            <a:off x="6368173" y="2087231"/>
            <a:ext cx="4526813" cy="1962817"/>
          </a:xfrm>
          <a:prstGeom prst="rect">
            <a:avLst/>
          </a:prstGeom>
          <a:gradFill flip="none" rotWithShape="1">
            <a:gsLst>
              <a:gs pos="40000">
                <a:srgbClr val="FFFFFF">
                  <a:alpha val="0"/>
                </a:srgbClr>
              </a:gs>
              <a:gs pos="100000">
                <a:schemeClr val="accent6">
                  <a:alpha val="2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 name="椭圆 6"/>
          <p:cNvSpPr/>
          <p:nvPr/>
        </p:nvSpPr>
        <p:spPr>
          <a:xfrm>
            <a:off x="1188603" y="2543320"/>
            <a:ext cx="1007498" cy="100749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8" name="旁门左道出品"/>
          <p:cNvSpPr/>
          <p:nvPr/>
        </p:nvSpPr>
        <p:spPr>
          <a:xfrm>
            <a:off x="1023487" y="2378203"/>
            <a:ext cx="1337730" cy="1337730"/>
          </a:xfrm>
          <a:prstGeom prst="ellipse">
            <a:avLst/>
          </a:prstGeom>
          <a:noFill/>
          <a:ln w="25400" cap="rnd">
            <a:gradFill>
              <a:gsLst>
                <a:gs pos="0">
                  <a:schemeClr val="accent1">
                    <a:lumMod val="5000"/>
                    <a:lumOff val="95000"/>
                  </a:schemeClr>
                </a:gs>
                <a:gs pos="100000">
                  <a:schemeClr val="accent6">
                    <a:alpha val="50000"/>
                  </a:schemeClr>
                </a:gs>
              </a:gsLst>
              <a:lin ang="5400000" scaled="1"/>
            </a:gra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9" name="弧形 8"/>
          <p:cNvSpPr/>
          <p:nvPr/>
        </p:nvSpPr>
        <p:spPr>
          <a:xfrm>
            <a:off x="851601" y="2206320"/>
            <a:ext cx="1681502" cy="1681498"/>
          </a:xfrm>
          <a:prstGeom prst="arc">
            <a:avLst/>
          </a:prstGeom>
          <a:ln w="25400" cap="rnd">
            <a:gradFill>
              <a:gsLst>
                <a:gs pos="0">
                  <a:schemeClr val="accent6"/>
                </a:gs>
                <a:gs pos="100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sym typeface="思源宋体 CN Heavy" panose="02020900000000000000" pitchFamily="18" charset="-122"/>
            </a:endParaRPr>
          </a:p>
        </p:txBody>
      </p:sp>
      <p:grpSp>
        <p:nvGrpSpPr>
          <p:cNvPr id="10" name="组合 9"/>
          <p:cNvGrpSpPr/>
          <p:nvPr/>
        </p:nvGrpSpPr>
        <p:grpSpPr>
          <a:xfrm>
            <a:off x="1100795" y="2458715"/>
            <a:ext cx="1183114" cy="1176707"/>
            <a:chOff x="5071900" y="-3093672"/>
            <a:chExt cx="3949016" cy="3927634"/>
          </a:xfrm>
          <a:gradFill>
            <a:gsLst>
              <a:gs pos="0">
                <a:srgbClr val="FFFFFF">
                  <a:alpha val="0"/>
                </a:srgbClr>
              </a:gs>
              <a:gs pos="100000">
                <a:schemeClr val="accent6"/>
              </a:gs>
            </a:gsLst>
            <a:lin ang="0" scaled="1"/>
          </a:gradFill>
        </p:grpSpPr>
        <p:sp>
          <p:nvSpPr>
            <p:cNvPr id="11" name="椭圆 10"/>
            <p:cNvSpPr/>
            <p:nvPr/>
          </p:nvSpPr>
          <p:spPr>
            <a:xfrm rot="-5400000">
              <a:off x="5071900" y="-115271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2" name="旁门左道出品"/>
            <p:cNvSpPr/>
            <p:nvPr/>
          </p:nvSpPr>
          <p:spPr>
            <a:xfrm rot="-4680000">
              <a:off x="5114548" y="-155848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3" name="椭圆 12"/>
            <p:cNvSpPr/>
            <p:nvPr/>
          </p:nvSpPr>
          <p:spPr>
            <a:xfrm rot="-3960000">
              <a:off x="5240629" y="-194652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5" name="椭圆 14"/>
            <p:cNvSpPr/>
            <p:nvPr/>
          </p:nvSpPr>
          <p:spPr>
            <a:xfrm rot="-3240000">
              <a:off x="5444631" y="-22998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6" name="旁门左道出品"/>
            <p:cNvSpPr/>
            <p:nvPr/>
          </p:nvSpPr>
          <p:spPr>
            <a:xfrm rot="-2520000">
              <a:off x="5717641" y="-26030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7" name="椭圆 16"/>
            <p:cNvSpPr/>
            <p:nvPr/>
          </p:nvSpPr>
          <p:spPr>
            <a:xfrm rot="-1800000">
              <a:off x="6047724" y="-284289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8" name="椭圆 17"/>
            <p:cNvSpPr/>
            <p:nvPr/>
          </p:nvSpPr>
          <p:spPr>
            <a:xfrm rot="-1080000">
              <a:off x="6420455" y="-300884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19" name="椭圆 18"/>
            <p:cNvSpPr/>
            <p:nvPr/>
          </p:nvSpPr>
          <p:spPr>
            <a:xfrm rot="-360000">
              <a:off x="6819545" y="-30936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0" name="椭圆 19"/>
            <p:cNvSpPr/>
            <p:nvPr/>
          </p:nvSpPr>
          <p:spPr>
            <a:xfrm rot="360000">
              <a:off x="7227551" y="-30936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1" name="旁门左道出品"/>
            <p:cNvSpPr/>
            <p:nvPr/>
          </p:nvSpPr>
          <p:spPr>
            <a:xfrm rot="1080000">
              <a:off x="7626641" y="-300884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2" name="椭圆 21"/>
            <p:cNvSpPr/>
            <p:nvPr/>
          </p:nvSpPr>
          <p:spPr>
            <a:xfrm rot="1800000">
              <a:off x="7999372" y="-284289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3" name="椭圆 22"/>
            <p:cNvSpPr/>
            <p:nvPr/>
          </p:nvSpPr>
          <p:spPr>
            <a:xfrm rot="2520000">
              <a:off x="8329456" y="-26030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4" name="椭圆 23"/>
            <p:cNvSpPr/>
            <p:nvPr/>
          </p:nvSpPr>
          <p:spPr>
            <a:xfrm rot="3240000">
              <a:off x="8602465" y="-22998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5" name="椭圆 24"/>
            <p:cNvSpPr/>
            <p:nvPr/>
          </p:nvSpPr>
          <p:spPr>
            <a:xfrm rot="3960000">
              <a:off x="8806468" y="-194652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6" name="椭圆 25"/>
            <p:cNvSpPr/>
            <p:nvPr/>
          </p:nvSpPr>
          <p:spPr>
            <a:xfrm rot="4680000">
              <a:off x="8932549" y="-155848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7" name="椭圆 26"/>
            <p:cNvSpPr/>
            <p:nvPr/>
          </p:nvSpPr>
          <p:spPr>
            <a:xfrm rot="5400000">
              <a:off x="8975196" y="-115271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8" name="旁门左道出品"/>
            <p:cNvSpPr/>
            <p:nvPr/>
          </p:nvSpPr>
          <p:spPr>
            <a:xfrm rot="6120000">
              <a:off x="8932549" y="-7469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29" name="椭圆 28"/>
            <p:cNvSpPr/>
            <p:nvPr/>
          </p:nvSpPr>
          <p:spPr>
            <a:xfrm rot="6840000">
              <a:off x="8806468" y="-358908"/>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0" name="椭圆 29"/>
            <p:cNvSpPr/>
            <p:nvPr/>
          </p:nvSpPr>
          <p:spPr>
            <a:xfrm rot="7560000">
              <a:off x="8602465" y="-55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1" name="椭圆 30"/>
            <p:cNvSpPr/>
            <p:nvPr/>
          </p:nvSpPr>
          <p:spPr>
            <a:xfrm rot="8280000">
              <a:off x="8329456" y="2976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2" name="旁门左道出品"/>
            <p:cNvSpPr/>
            <p:nvPr/>
          </p:nvSpPr>
          <p:spPr>
            <a:xfrm rot="9000000">
              <a:off x="7999372" y="53746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3" name="椭圆 32"/>
            <p:cNvSpPr/>
            <p:nvPr/>
          </p:nvSpPr>
          <p:spPr>
            <a:xfrm rot="9720000">
              <a:off x="7626641" y="70341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4" name="椭圆 33"/>
            <p:cNvSpPr/>
            <p:nvPr/>
          </p:nvSpPr>
          <p:spPr>
            <a:xfrm rot="10440000">
              <a:off x="7227551" y="7882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5" name="椭圆 34"/>
            <p:cNvSpPr/>
            <p:nvPr/>
          </p:nvSpPr>
          <p:spPr>
            <a:xfrm rot="11160000">
              <a:off x="6819545" y="7882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6" name="旁门左道出品"/>
            <p:cNvSpPr/>
            <p:nvPr/>
          </p:nvSpPr>
          <p:spPr>
            <a:xfrm rot="11880000">
              <a:off x="6420455" y="70341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7" name="椭圆 36"/>
            <p:cNvSpPr/>
            <p:nvPr/>
          </p:nvSpPr>
          <p:spPr>
            <a:xfrm rot="12600000">
              <a:off x="6047724" y="53746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8" name="椭圆 37"/>
            <p:cNvSpPr/>
            <p:nvPr/>
          </p:nvSpPr>
          <p:spPr>
            <a:xfrm rot="13320000">
              <a:off x="5717641" y="2976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39" name="椭圆 38"/>
            <p:cNvSpPr/>
            <p:nvPr/>
          </p:nvSpPr>
          <p:spPr>
            <a:xfrm rot="14040000">
              <a:off x="5444631" y="-55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0" name="旁门左道出品"/>
            <p:cNvSpPr/>
            <p:nvPr/>
          </p:nvSpPr>
          <p:spPr>
            <a:xfrm rot="14760000">
              <a:off x="5240629" y="-358908"/>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1" name="椭圆 40"/>
            <p:cNvSpPr/>
            <p:nvPr/>
          </p:nvSpPr>
          <p:spPr>
            <a:xfrm rot="15480000">
              <a:off x="5114548" y="-7469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grpSp>
      <p:sp>
        <p:nvSpPr>
          <p:cNvPr id="42" name="弧形 41"/>
          <p:cNvSpPr/>
          <p:nvPr/>
        </p:nvSpPr>
        <p:spPr>
          <a:xfrm rot="14864643">
            <a:off x="9683344" y="2206320"/>
            <a:ext cx="1681502" cy="1681498"/>
          </a:xfrm>
          <a:prstGeom prst="arc">
            <a:avLst/>
          </a:prstGeom>
          <a:ln w="25400" cap="rnd">
            <a:gradFill>
              <a:gsLst>
                <a:gs pos="0">
                  <a:schemeClr val="accent6"/>
                </a:gs>
                <a:gs pos="100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3" name="椭圆 42"/>
          <p:cNvSpPr/>
          <p:nvPr/>
        </p:nvSpPr>
        <p:spPr>
          <a:xfrm>
            <a:off x="10020346" y="2543320"/>
            <a:ext cx="1007498" cy="100749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4" name="旁门左道出品"/>
          <p:cNvSpPr/>
          <p:nvPr/>
        </p:nvSpPr>
        <p:spPr>
          <a:xfrm>
            <a:off x="9855230" y="2378203"/>
            <a:ext cx="1337730" cy="1337730"/>
          </a:xfrm>
          <a:prstGeom prst="ellipse">
            <a:avLst/>
          </a:prstGeom>
          <a:noFill/>
          <a:ln w="25400" cap="rnd">
            <a:gradFill>
              <a:gsLst>
                <a:gs pos="0">
                  <a:schemeClr val="accent1">
                    <a:lumMod val="5000"/>
                    <a:lumOff val="95000"/>
                  </a:schemeClr>
                </a:gs>
                <a:gs pos="100000">
                  <a:schemeClr val="accent6">
                    <a:alpha val="50000"/>
                  </a:schemeClr>
                </a:gs>
              </a:gsLst>
              <a:lin ang="5400000" scaled="1"/>
            </a:gra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5" name="弧形 44"/>
          <p:cNvSpPr/>
          <p:nvPr/>
        </p:nvSpPr>
        <p:spPr>
          <a:xfrm>
            <a:off x="9683344" y="2206320"/>
            <a:ext cx="1681502" cy="1681498"/>
          </a:xfrm>
          <a:prstGeom prst="arc">
            <a:avLst/>
          </a:prstGeom>
          <a:ln w="25400" cap="rnd">
            <a:gradFill>
              <a:gsLst>
                <a:gs pos="0">
                  <a:schemeClr val="accent6"/>
                </a:gs>
                <a:gs pos="100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sym typeface="思源宋体 CN Heavy" panose="02020900000000000000" pitchFamily="18" charset="-122"/>
            </a:endParaRPr>
          </a:p>
        </p:txBody>
      </p:sp>
      <p:grpSp>
        <p:nvGrpSpPr>
          <p:cNvPr id="46" name="组合 45"/>
          <p:cNvGrpSpPr/>
          <p:nvPr/>
        </p:nvGrpSpPr>
        <p:grpSpPr>
          <a:xfrm>
            <a:off x="9932538" y="2458715"/>
            <a:ext cx="1183114" cy="1176707"/>
            <a:chOff x="5071900" y="-3093672"/>
            <a:chExt cx="3949016" cy="3927634"/>
          </a:xfrm>
          <a:gradFill>
            <a:gsLst>
              <a:gs pos="100000">
                <a:schemeClr val="accent6">
                  <a:alpha val="50000"/>
                </a:schemeClr>
              </a:gs>
              <a:gs pos="0">
                <a:schemeClr val="accent6"/>
              </a:gs>
            </a:gsLst>
            <a:path path="circle">
              <a:fillToRect l="100000" t="100000"/>
            </a:path>
          </a:gradFill>
        </p:grpSpPr>
        <p:sp>
          <p:nvSpPr>
            <p:cNvPr id="47" name="椭圆 46"/>
            <p:cNvSpPr/>
            <p:nvPr/>
          </p:nvSpPr>
          <p:spPr>
            <a:xfrm rot="-5400000">
              <a:off x="5071900" y="-115271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8" name="旁门左道出品"/>
            <p:cNvSpPr/>
            <p:nvPr/>
          </p:nvSpPr>
          <p:spPr>
            <a:xfrm rot="-4680000">
              <a:off x="5114548" y="-155848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49" name="椭圆 48"/>
            <p:cNvSpPr/>
            <p:nvPr/>
          </p:nvSpPr>
          <p:spPr>
            <a:xfrm rot="-3960000">
              <a:off x="5240629" y="-194652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0" name="椭圆 49"/>
            <p:cNvSpPr/>
            <p:nvPr/>
          </p:nvSpPr>
          <p:spPr>
            <a:xfrm rot="-3240000">
              <a:off x="5444631" y="-22998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1" name="旁门左道出品"/>
            <p:cNvSpPr/>
            <p:nvPr/>
          </p:nvSpPr>
          <p:spPr>
            <a:xfrm rot="-2520000">
              <a:off x="5717641" y="-26030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2" name="椭圆 51"/>
            <p:cNvSpPr/>
            <p:nvPr/>
          </p:nvSpPr>
          <p:spPr>
            <a:xfrm rot="-1800000">
              <a:off x="6047724" y="-284289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3" name="椭圆 52"/>
            <p:cNvSpPr/>
            <p:nvPr/>
          </p:nvSpPr>
          <p:spPr>
            <a:xfrm rot="-1080000">
              <a:off x="6420455" y="-300884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4" name="椭圆 53"/>
            <p:cNvSpPr/>
            <p:nvPr/>
          </p:nvSpPr>
          <p:spPr>
            <a:xfrm rot="-360000">
              <a:off x="6819545" y="-30936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5" name="椭圆 54"/>
            <p:cNvSpPr/>
            <p:nvPr/>
          </p:nvSpPr>
          <p:spPr>
            <a:xfrm rot="360000">
              <a:off x="7227551" y="-30936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6" name="旁门左道出品"/>
            <p:cNvSpPr/>
            <p:nvPr/>
          </p:nvSpPr>
          <p:spPr>
            <a:xfrm rot="1080000">
              <a:off x="7626641" y="-300884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7" name="椭圆 56"/>
            <p:cNvSpPr/>
            <p:nvPr/>
          </p:nvSpPr>
          <p:spPr>
            <a:xfrm rot="1800000">
              <a:off x="7999372" y="-284289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8" name="椭圆 57"/>
            <p:cNvSpPr/>
            <p:nvPr/>
          </p:nvSpPr>
          <p:spPr>
            <a:xfrm rot="2520000">
              <a:off x="8329456" y="-260307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59" name="椭圆 58"/>
            <p:cNvSpPr/>
            <p:nvPr/>
          </p:nvSpPr>
          <p:spPr>
            <a:xfrm rot="3240000">
              <a:off x="8602465" y="-22998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0" name="椭圆 59"/>
            <p:cNvSpPr/>
            <p:nvPr/>
          </p:nvSpPr>
          <p:spPr>
            <a:xfrm rot="3960000">
              <a:off x="8806468" y="-194652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1" name="椭圆 60"/>
            <p:cNvSpPr/>
            <p:nvPr/>
          </p:nvSpPr>
          <p:spPr>
            <a:xfrm rot="4680000">
              <a:off x="8932549" y="-155848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2" name="椭圆 61"/>
            <p:cNvSpPr/>
            <p:nvPr/>
          </p:nvSpPr>
          <p:spPr>
            <a:xfrm rot="5400000">
              <a:off x="8975196" y="-115271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3" name="旁门左道出品"/>
            <p:cNvSpPr/>
            <p:nvPr/>
          </p:nvSpPr>
          <p:spPr>
            <a:xfrm rot="6120000">
              <a:off x="8932549" y="-7469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4" name="椭圆 63"/>
            <p:cNvSpPr/>
            <p:nvPr/>
          </p:nvSpPr>
          <p:spPr>
            <a:xfrm rot="6840000">
              <a:off x="8806468" y="-358908"/>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5" name="椭圆 64"/>
            <p:cNvSpPr/>
            <p:nvPr/>
          </p:nvSpPr>
          <p:spPr>
            <a:xfrm rot="7560000">
              <a:off x="8602465" y="-55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6" name="椭圆 65"/>
            <p:cNvSpPr/>
            <p:nvPr/>
          </p:nvSpPr>
          <p:spPr>
            <a:xfrm rot="8280000">
              <a:off x="8329456" y="2976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7" name="旁门左道出品"/>
            <p:cNvSpPr/>
            <p:nvPr/>
          </p:nvSpPr>
          <p:spPr>
            <a:xfrm rot="9000000">
              <a:off x="7999372" y="53746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8" name="椭圆 67"/>
            <p:cNvSpPr/>
            <p:nvPr/>
          </p:nvSpPr>
          <p:spPr>
            <a:xfrm rot="9720000">
              <a:off x="7626641" y="70341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69" name="椭圆 68"/>
            <p:cNvSpPr/>
            <p:nvPr/>
          </p:nvSpPr>
          <p:spPr>
            <a:xfrm rot="10440000">
              <a:off x="7227551" y="7882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0" name="椭圆 69"/>
            <p:cNvSpPr/>
            <p:nvPr/>
          </p:nvSpPr>
          <p:spPr>
            <a:xfrm rot="11160000">
              <a:off x="6819545" y="7882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1" name="旁门左道出品"/>
            <p:cNvSpPr/>
            <p:nvPr/>
          </p:nvSpPr>
          <p:spPr>
            <a:xfrm rot="11880000">
              <a:off x="6420455" y="703413"/>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2" name="椭圆 71"/>
            <p:cNvSpPr/>
            <p:nvPr/>
          </p:nvSpPr>
          <p:spPr>
            <a:xfrm rot="12600000">
              <a:off x="6047724" y="53746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3" name="椭圆 72"/>
            <p:cNvSpPr/>
            <p:nvPr/>
          </p:nvSpPr>
          <p:spPr>
            <a:xfrm rot="13320000">
              <a:off x="5717641" y="297642"/>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4" name="椭圆 73"/>
            <p:cNvSpPr/>
            <p:nvPr/>
          </p:nvSpPr>
          <p:spPr>
            <a:xfrm rot="14040000">
              <a:off x="5444631" y="-556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5" name="旁门左道出品"/>
            <p:cNvSpPr/>
            <p:nvPr/>
          </p:nvSpPr>
          <p:spPr>
            <a:xfrm rot="14760000">
              <a:off x="5240629" y="-358908"/>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sp>
          <p:nvSpPr>
            <p:cNvPr id="76" name="椭圆 75"/>
            <p:cNvSpPr/>
            <p:nvPr/>
          </p:nvSpPr>
          <p:spPr>
            <a:xfrm rot="15480000">
              <a:off x="5114548" y="-7469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sym typeface="思源宋体 CN Heavy" panose="02020900000000000000" pitchFamily="18" charset="-122"/>
              </a:endParaRPr>
            </a:p>
          </p:txBody>
        </p:sp>
      </p:grpSp>
      <p:sp>
        <p:nvSpPr>
          <p:cNvPr id="78" name="文本框 77"/>
          <p:cNvSpPr txBox="1"/>
          <p:nvPr/>
        </p:nvSpPr>
        <p:spPr>
          <a:xfrm>
            <a:off x="2663914" y="2368475"/>
            <a:ext cx="3102879" cy="1351524"/>
          </a:xfrm>
          <a:prstGeom prst="rect">
            <a:avLst/>
          </a:prstGeom>
          <a:noFill/>
        </p:spPr>
        <p:txBody>
          <a:bodyPr wrap="square">
            <a:spAutoFit/>
          </a:bodyPr>
          <a:lstStyle/>
          <a:p>
            <a:pPr lvl="0">
              <a:lnSpc>
                <a:spcPct val="150000"/>
              </a:lnSpc>
              <a:defRPr/>
            </a:pP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1</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、打开</a:t>
            </a:r>
            <a:r>
              <a:rPr lang="en-US" altLang="zh-CN" sz="1400" dirty="0" err="1">
                <a:latin typeface="微软雅黑" panose="020B0503020204020204" pitchFamily="34" charset="-122"/>
                <a:ea typeface="微软雅黑" panose="020B0503020204020204" pitchFamily="34" charset="-122"/>
                <a:cs typeface="+mn-ea"/>
                <a:sym typeface="思源宋体 CN Heavy" panose="02020900000000000000" pitchFamily="18" charset="-122"/>
              </a:rPr>
              <a:t>deepseek</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，在对话框输入需求，如：请写一个</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Excel</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公式，如果销售额大于</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10000</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，则奖金为销售额的</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10%</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，否则为</a:t>
            </a: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5%</a:t>
            </a:r>
          </a:p>
        </p:txBody>
      </p:sp>
      <p:sp>
        <p:nvSpPr>
          <p:cNvPr id="81" name="文本框 80"/>
          <p:cNvSpPr txBox="1"/>
          <p:nvPr/>
        </p:nvSpPr>
        <p:spPr>
          <a:xfrm>
            <a:off x="6568773" y="2558975"/>
            <a:ext cx="3102879" cy="1028358"/>
          </a:xfrm>
          <a:prstGeom prst="rect">
            <a:avLst/>
          </a:prstGeom>
          <a:noFill/>
        </p:spPr>
        <p:txBody>
          <a:bodyPr wrap="square">
            <a:spAutoFit/>
          </a:bodyPr>
          <a:lstStyle/>
          <a:p>
            <a:pPr lvl="0">
              <a:lnSpc>
                <a:spcPct val="150000"/>
              </a:lnSpc>
              <a:defRPr/>
            </a:pPr>
            <a:r>
              <a:rPr lang="en-US" altLang="zh-CN"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2</a:t>
            </a: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、复制公式生成好的公式，将其粘贴到要计算奖金的单元格，注意：根据实际单元格做调整</a:t>
            </a:r>
          </a:p>
        </p:txBody>
      </p:sp>
      <p:sp>
        <p:nvSpPr>
          <p:cNvPr id="83" name="2"/>
          <p:cNvSpPr>
            <a:spLocks noChangeAspect="1"/>
          </p:cNvSpPr>
          <p:nvPr/>
        </p:nvSpPr>
        <p:spPr>
          <a:xfrm>
            <a:off x="1446536" y="2844725"/>
            <a:ext cx="515110" cy="442562"/>
          </a:xfrm>
          <a:custGeom>
            <a:avLst/>
            <a:gdLst>
              <a:gd name="T0" fmla="*/ 4147 w 4873"/>
              <a:gd name="T1" fmla="*/ 138 h 4193"/>
              <a:gd name="T2" fmla="*/ 894 w 4873"/>
              <a:gd name="T3" fmla="*/ 0 h 4193"/>
              <a:gd name="T4" fmla="*/ 202 w 4873"/>
              <a:gd name="T5" fmla="*/ 585 h 4193"/>
              <a:gd name="T6" fmla="*/ 288 w 4873"/>
              <a:gd name="T7" fmla="*/ 663 h 4193"/>
              <a:gd name="T8" fmla="*/ 894 w 4873"/>
              <a:gd name="T9" fmla="*/ 116 h 4193"/>
              <a:gd name="T10" fmla="*/ 4050 w 4873"/>
              <a:gd name="T11" fmla="*/ 204 h 4193"/>
              <a:gd name="T12" fmla="*/ 4756 w 4873"/>
              <a:gd name="T13" fmla="*/ 1360 h 4193"/>
              <a:gd name="T14" fmla="*/ 4678 w 4873"/>
              <a:gd name="T15" fmla="*/ 4076 h 4193"/>
              <a:gd name="T16" fmla="*/ 4219 w 4873"/>
              <a:gd name="T17" fmla="*/ 3195 h 4193"/>
              <a:gd name="T18" fmla="*/ 4528 w 4873"/>
              <a:gd name="T19" fmla="*/ 3149 h 4193"/>
              <a:gd name="T20" fmla="*/ 4080 w 4873"/>
              <a:gd name="T21" fmla="*/ 2496 h 4193"/>
              <a:gd name="T22" fmla="*/ 3916 w 4873"/>
              <a:gd name="T23" fmla="*/ 2497 h 4193"/>
              <a:gd name="T24" fmla="*/ 3484 w 4873"/>
              <a:gd name="T25" fmla="*/ 3149 h 4193"/>
              <a:gd name="T26" fmla="*/ 3777 w 4873"/>
              <a:gd name="T27" fmla="*/ 3195 h 4193"/>
              <a:gd name="T28" fmla="*/ 2925 w 4873"/>
              <a:gd name="T29" fmla="*/ 4076 h 4193"/>
              <a:gd name="T30" fmla="*/ 3151 w 4873"/>
              <a:gd name="T31" fmla="*/ 3195 h 4193"/>
              <a:gd name="T32" fmla="*/ 3219 w 4873"/>
              <a:gd name="T33" fmla="*/ 3055 h 4193"/>
              <a:gd name="T34" fmla="*/ 2704 w 4873"/>
              <a:gd name="T35" fmla="*/ 2454 h 4193"/>
              <a:gd name="T36" fmla="*/ 2204 w 4873"/>
              <a:gd name="T37" fmla="*/ 3055 h 4193"/>
              <a:gd name="T38" fmla="*/ 2274 w 4873"/>
              <a:gd name="T39" fmla="*/ 3195 h 4193"/>
              <a:gd name="T40" fmla="*/ 2483 w 4873"/>
              <a:gd name="T41" fmla="*/ 4076 h 4193"/>
              <a:gd name="T42" fmla="*/ 117 w 4873"/>
              <a:gd name="T43" fmla="*/ 3908 h 4193"/>
              <a:gd name="T44" fmla="*/ 285 w 4873"/>
              <a:gd name="T45" fmla="*/ 1135 h 4193"/>
              <a:gd name="T46" fmla="*/ 4103 w 4873"/>
              <a:gd name="T47" fmla="*/ 1077 h 4193"/>
              <a:gd name="T48" fmla="*/ 285 w 4873"/>
              <a:gd name="T49" fmla="*/ 1019 h 4193"/>
              <a:gd name="T50" fmla="*/ 0 w 4873"/>
              <a:gd name="T51" fmla="*/ 3908 h 4193"/>
              <a:gd name="T52" fmla="*/ 2541 w 4873"/>
              <a:gd name="T53" fmla="*/ 4193 h 4193"/>
              <a:gd name="T54" fmla="*/ 2599 w 4873"/>
              <a:gd name="T55" fmla="*/ 3137 h 4193"/>
              <a:gd name="T56" fmla="*/ 2332 w 4873"/>
              <a:gd name="T57" fmla="*/ 3079 h 4193"/>
              <a:gd name="T58" fmla="*/ 3090 w 4873"/>
              <a:gd name="T59" fmla="*/ 3079 h 4193"/>
              <a:gd name="T60" fmla="*/ 2809 w 4873"/>
              <a:gd name="T61" fmla="*/ 3137 h 4193"/>
              <a:gd name="T62" fmla="*/ 2867 w 4873"/>
              <a:gd name="T63" fmla="*/ 4193 h 4193"/>
              <a:gd name="T64" fmla="*/ 3892 w 4873"/>
              <a:gd name="T65" fmla="*/ 4135 h 4193"/>
              <a:gd name="T66" fmla="*/ 3835 w 4873"/>
              <a:gd name="T67" fmla="*/ 3079 h 4193"/>
              <a:gd name="T68" fmla="*/ 3999 w 4873"/>
              <a:gd name="T69" fmla="*/ 2581 h 4193"/>
              <a:gd name="T70" fmla="*/ 4161 w 4873"/>
              <a:gd name="T71" fmla="*/ 3079 h 4193"/>
              <a:gd name="T72" fmla="*/ 4104 w 4873"/>
              <a:gd name="T73" fmla="*/ 4135 h 4193"/>
              <a:gd name="T74" fmla="*/ 4678 w 4873"/>
              <a:gd name="T75" fmla="*/ 4193 h 4193"/>
              <a:gd name="T76" fmla="*/ 4873 w 4873"/>
              <a:gd name="T77" fmla="*/ 1360 h 4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73" h="4193">
                <a:moveTo>
                  <a:pt x="4786" y="1078"/>
                </a:moveTo>
                <a:lnTo>
                  <a:pt x="4147" y="138"/>
                </a:lnTo>
                <a:cubicBezTo>
                  <a:pt x="4094" y="60"/>
                  <a:pt x="3979" y="0"/>
                  <a:pt x="3885" y="0"/>
                </a:cubicBezTo>
                <a:lnTo>
                  <a:pt x="894" y="0"/>
                </a:lnTo>
                <a:cubicBezTo>
                  <a:pt x="803" y="0"/>
                  <a:pt x="684" y="53"/>
                  <a:pt x="623" y="120"/>
                </a:cubicBezTo>
                <a:lnTo>
                  <a:pt x="202" y="585"/>
                </a:lnTo>
                <a:cubicBezTo>
                  <a:pt x="180" y="609"/>
                  <a:pt x="182" y="646"/>
                  <a:pt x="206" y="667"/>
                </a:cubicBezTo>
                <a:cubicBezTo>
                  <a:pt x="230" y="689"/>
                  <a:pt x="266" y="687"/>
                  <a:pt x="288" y="663"/>
                </a:cubicBezTo>
                <a:lnTo>
                  <a:pt x="709" y="198"/>
                </a:lnTo>
                <a:cubicBezTo>
                  <a:pt x="749" y="155"/>
                  <a:pt x="835" y="116"/>
                  <a:pt x="894" y="116"/>
                </a:cubicBezTo>
                <a:lnTo>
                  <a:pt x="3885" y="116"/>
                </a:lnTo>
                <a:cubicBezTo>
                  <a:pt x="3941" y="116"/>
                  <a:pt x="4019" y="158"/>
                  <a:pt x="4050" y="204"/>
                </a:cubicBezTo>
                <a:lnTo>
                  <a:pt x="4689" y="1144"/>
                </a:lnTo>
                <a:cubicBezTo>
                  <a:pt x="4725" y="1196"/>
                  <a:pt x="4756" y="1297"/>
                  <a:pt x="4756" y="1360"/>
                </a:cubicBezTo>
                <a:lnTo>
                  <a:pt x="4756" y="3998"/>
                </a:lnTo>
                <a:cubicBezTo>
                  <a:pt x="4756" y="4041"/>
                  <a:pt x="4721" y="4076"/>
                  <a:pt x="4678" y="4076"/>
                </a:cubicBezTo>
                <a:lnTo>
                  <a:pt x="4219" y="4076"/>
                </a:lnTo>
                <a:lnTo>
                  <a:pt x="4219" y="3195"/>
                </a:lnTo>
                <a:lnTo>
                  <a:pt x="4444" y="3195"/>
                </a:lnTo>
                <a:cubicBezTo>
                  <a:pt x="4483" y="3195"/>
                  <a:pt x="4513" y="3178"/>
                  <a:pt x="4528" y="3149"/>
                </a:cubicBezTo>
                <a:cubicBezTo>
                  <a:pt x="4542" y="3120"/>
                  <a:pt x="4537" y="3085"/>
                  <a:pt x="4513" y="3055"/>
                </a:cubicBezTo>
                <a:lnTo>
                  <a:pt x="4080" y="2496"/>
                </a:lnTo>
                <a:cubicBezTo>
                  <a:pt x="4059" y="2469"/>
                  <a:pt x="4029" y="2454"/>
                  <a:pt x="3998" y="2454"/>
                </a:cubicBezTo>
                <a:cubicBezTo>
                  <a:pt x="3966" y="2455"/>
                  <a:pt x="3936" y="2470"/>
                  <a:pt x="3916" y="2497"/>
                </a:cubicBezTo>
                <a:lnTo>
                  <a:pt x="3498" y="3055"/>
                </a:lnTo>
                <a:cubicBezTo>
                  <a:pt x="3475" y="3086"/>
                  <a:pt x="3470" y="3120"/>
                  <a:pt x="3484" y="3149"/>
                </a:cubicBezTo>
                <a:cubicBezTo>
                  <a:pt x="3499" y="3178"/>
                  <a:pt x="3529" y="3195"/>
                  <a:pt x="3568" y="3195"/>
                </a:cubicBezTo>
                <a:lnTo>
                  <a:pt x="3777" y="3195"/>
                </a:lnTo>
                <a:lnTo>
                  <a:pt x="3777" y="4076"/>
                </a:lnTo>
                <a:lnTo>
                  <a:pt x="2925" y="4076"/>
                </a:lnTo>
                <a:lnTo>
                  <a:pt x="2925" y="3195"/>
                </a:lnTo>
                <a:lnTo>
                  <a:pt x="3151" y="3195"/>
                </a:lnTo>
                <a:cubicBezTo>
                  <a:pt x="3189" y="3195"/>
                  <a:pt x="3219" y="3178"/>
                  <a:pt x="3234" y="3149"/>
                </a:cubicBezTo>
                <a:cubicBezTo>
                  <a:pt x="3248" y="3120"/>
                  <a:pt x="3243" y="3085"/>
                  <a:pt x="3219" y="3055"/>
                </a:cubicBezTo>
                <a:lnTo>
                  <a:pt x="2786" y="2496"/>
                </a:lnTo>
                <a:cubicBezTo>
                  <a:pt x="2765" y="2469"/>
                  <a:pt x="2736" y="2454"/>
                  <a:pt x="2704" y="2454"/>
                </a:cubicBezTo>
                <a:cubicBezTo>
                  <a:pt x="2672" y="2455"/>
                  <a:pt x="2642" y="2470"/>
                  <a:pt x="2622" y="2497"/>
                </a:cubicBezTo>
                <a:lnTo>
                  <a:pt x="2204" y="3055"/>
                </a:lnTo>
                <a:cubicBezTo>
                  <a:pt x="2181" y="3086"/>
                  <a:pt x="2176" y="3120"/>
                  <a:pt x="2191" y="3149"/>
                </a:cubicBezTo>
                <a:cubicBezTo>
                  <a:pt x="2205" y="3178"/>
                  <a:pt x="2235" y="3195"/>
                  <a:pt x="2274" y="3195"/>
                </a:cubicBezTo>
                <a:lnTo>
                  <a:pt x="2483" y="3195"/>
                </a:lnTo>
                <a:lnTo>
                  <a:pt x="2483" y="4076"/>
                </a:lnTo>
                <a:lnTo>
                  <a:pt x="285" y="4076"/>
                </a:lnTo>
                <a:cubicBezTo>
                  <a:pt x="192" y="4076"/>
                  <a:pt x="117" y="4001"/>
                  <a:pt x="117" y="3908"/>
                </a:cubicBezTo>
                <a:lnTo>
                  <a:pt x="117" y="1304"/>
                </a:lnTo>
                <a:cubicBezTo>
                  <a:pt x="117" y="1211"/>
                  <a:pt x="192" y="1135"/>
                  <a:pt x="285" y="1135"/>
                </a:cubicBezTo>
                <a:lnTo>
                  <a:pt x="4045" y="1135"/>
                </a:lnTo>
                <a:cubicBezTo>
                  <a:pt x="4077" y="1135"/>
                  <a:pt x="4103" y="1109"/>
                  <a:pt x="4103" y="1077"/>
                </a:cubicBezTo>
                <a:cubicBezTo>
                  <a:pt x="4103" y="1045"/>
                  <a:pt x="4077" y="1019"/>
                  <a:pt x="4045" y="1019"/>
                </a:cubicBezTo>
                <a:lnTo>
                  <a:pt x="285" y="1019"/>
                </a:lnTo>
                <a:cubicBezTo>
                  <a:pt x="128" y="1019"/>
                  <a:pt x="0" y="1147"/>
                  <a:pt x="0" y="1304"/>
                </a:cubicBezTo>
                <a:lnTo>
                  <a:pt x="0" y="3908"/>
                </a:lnTo>
                <a:cubicBezTo>
                  <a:pt x="0" y="4065"/>
                  <a:pt x="128" y="4193"/>
                  <a:pt x="285" y="4193"/>
                </a:cubicBezTo>
                <a:lnTo>
                  <a:pt x="2541" y="4193"/>
                </a:lnTo>
                <a:cubicBezTo>
                  <a:pt x="2573" y="4193"/>
                  <a:pt x="2599" y="4167"/>
                  <a:pt x="2599" y="4135"/>
                </a:cubicBezTo>
                <a:lnTo>
                  <a:pt x="2599" y="3137"/>
                </a:lnTo>
                <a:cubicBezTo>
                  <a:pt x="2599" y="3105"/>
                  <a:pt x="2573" y="3079"/>
                  <a:pt x="2541" y="3079"/>
                </a:cubicBezTo>
                <a:lnTo>
                  <a:pt x="2332" y="3079"/>
                </a:lnTo>
                <a:lnTo>
                  <a:pt x="2705" y="2581"/>
                </a:lnTo>
                <a:lnTo>
                  <a:pt x="3090" y="3079"/>
                </a:lnTo>
                <a:lnTo>
                  <a:pt x="2867" y="3079"/>
                </a:lnTo>
                <a:cubicBezTo>
                  <a:pt x="2835" y="3079"/>
                  <a:pt x="2809" y="3105"/>
                  <a:pt x="2809" y="3137"/>
                </a:cubicBezTo>
                <a:lnTo>
                  <a:pt x="2809" y="4135"/>
                </a:lnTo>
                <a:cubicBezTo>
                  <a:pt x="2809" y="4167"/>
                  <a:pt x="2835" y="4193"/>
                  <a:pt x="2867" y="4193"/>
                </a:cubicBezTo>
                <a:lnTo>
                  <a:pt x="3833" y="4193"/>
                </a:lnTo>
                <a:cubicBezTo>
                  <a:pt x="3866" y="4193"/>
                  <a:pt x="3892" y="4167"/>
                  <a:pt x="3892" y="4135"/>
                </a:cubicBezTo>
                <a:cubicBezTo>
                  <a:pt x="3892" y="4133"/>
                  <a:pt x="3893" y="3137"/>
                  <a:pt x="3893" y="3137"/>
                </a:cubicBezTo>
                <a:cubicBezTo>
                  <a:pt x="3893" y="3105"/>
                  <a:pt x="3867" y="3079"/>
                  <a:pt x="3835" y="3079"/>
                </a:cubicBezTo>
                <a:lnTo>
                  <a:pt x="3626" y="3079"/>
                </a:lnTo>
                <a:lnTo>
                  <a:pt x="3999" y="2581"/>
                </a:lnTo>
                <a:lnTo>
                  <a:pt x="4384" y="3079"/>
                </a:lnTo>
                <a:lnTo>
                  <a:pt x="4161" y="3079"/>
                </a:lnTo>
                <a:cubicBezTo>
                  <a:pt x="4129" y="3079"/>
                  <a:pt x="4103" y="3105"/>
                  <a:pt x="4103" y="3137"/>
                </a:cubicBezTo>
                <a:cubicBezTo>
                  <a:pt x="4103" y="3137"/>
                  <a:pt x="4104" y="4133"/>
                  <a:pt x="4104" y="4135"/>
                </a:cubicBezTo>
                <a:cubicBezTo>
                  <a:pt x="4104" y="4167"/>
                  <a:pt x="4130" y="4193"/>
                  <a:pt x="4162" y="4193"/>
                </a:cubicBezTo>
                <a:lnTo>
                  <a:pt x="4678" y="4193"/>
                </a:lnTo>
                <a:cubicBezTo>
                  <a:pt x="4785" y="4193"/>
                  <a:pt x="4873" y="4106"/>
                  <a:pt x="4873" y="3998"/>
                </a:cubicBezTo>
                <a:lnTo>
                  <a:pt x="4873" y="1360"/>
                </a:lnTo>
                <a:cubicBezTo>
                  <a:pt x="4873" y="1274"/>
                  <a:pt x="4835" y="1150"/>
                  <a:pt x="4786" y="107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dirty="0">
              <a:solidFill>
                <a:schemeClr val="tx1"/>
              </a:solidFill>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sp>
        <p:nvSpPr>
          <p:cNvPr id="84" name="4"/>
          <p:cNvSpPr>
            <a:spLocks noChangeAspect="1"/>
          </p:cNvSpPr>
          <p:nvPr/>
        </p:nvSpPr>
        <p:spPr>
          <a:xfrm>
            <a:off x="10302813" y="2832479"/>
            <a:ext cx="538688" cy="497641"/>
          </a:xfrm>
          <a:custGeom>
            <a:avLst/>
            <a:gdLst>
              <a:gd name="connsiteX0" fmla="*/ 584891 w 608415"/>
              <a:gd name="connsiteY0" fmla="*/ 441972 h 562054"/>
              <a:gd name="connsiteX1" fmla="*/ 593784 w 608415"/>
              <a:gd name="connsiteY1" fmla="*/ 441972 h 562054"/>
              <a:gd name="connsiteX2" fmla="*/ 593784 w 608415"/>
              <a:gd name="connsiteY2" fmla="*/ 450850 h 562054"/>
              <a:gd name="connsiteX3" fmla="*/ 546068 w 608415"/>
              <a:gd name="connsiteY3" fmla="*/ 498597 h 562054"/>
              <a:gd name="connsiteX4" fmla="*/ 526223 w 608415"/>
              <a:gd name="connsiteY4" fmla="*/ 507366 h 562054"/>
              <a:gd name="connsiteX5" fmla="*/ 505293 w 608415"/>
              <a:gd name="connsiteY5" fmla="*/ 498597 h 562054"/>
              <a:gd name="connsiteX6" fmla="*/ 473518 w 608415"/>
              <a:gd name="connsiteY6" fmla="*/ 466766 h 562054"/>
              <a:gd name="connsiteX7" fmla="*/ 473518 w 608415"/>
              <a:gd name="connsiteY7" fmla="*/ 457888 h 562054"/>
              <a:gd name="connsiteX8" fmla="*/ 482411 w 608415"/>
              <a:gd name="connsiteY8" fmla="*/ 457888 h 562054"/>
              <a:gd name="connsiteX9" fmla="*/ 514294 w 608415"/>
              <a:gd name="connsiteY9" fmla="*/ 489610 h 562054"/>
              <a:gd name="connsiteX10" fmla="*/ 537175 w 608415"/>
              <a:gd name="connsiteY10" fmla="*/ 489610 h 562054"/>
              <a:gd name="connsiteX11" fmla="*/ 523403 w 608415"/>
              <a:gd name="connsiteY11" fmla="*/ 392132 h 562054"/>
              <a:gd name="connsiteX12" fmla="*/ 529692 w 608415"/>
              <a:gd name="connsiteY12" fmla="*/ 398413 h 562054"/>
              <a:gd name="connsiteX13" fmla="*/ 523403 w 608415"/>
              <a:gd name="connsiteY13" fmla="*/ 404694 h 562054"/>
              <a:gd name="connsiteX14" fmla="*/ 450969 w 608415"/>
              <a:gd name="connsiteY14" fmla="*/ 477039 h 562054"/>
              <a:gd name="connsiteX15" fmla="*/ 523403 w 608415"/>
              <a:gd name="connsiteY15" fmla="*/ 549383 h 562054"/>
              <a:gd name="connsiteX16" fmla="*/ 595837 w 608415"/>
              <a:gd name="connsiteY16" fmla="*/ 477039 h 562054"/>
              <a:gd name="connsiteX17" fmla="*/ 602126 w 608415"/>
              <a:gd name="connsiteY17" fmla="*/ 470758 h 562054"/>
              <a:gd name="connsiteX18" fmla="*/ 608415 w 608415"/>
              <a:gd name="connsiteY18" fmla="*/ 477039 h 562054"/>
              <a:gd name="connsiteX19" fmla="*/ 523403 w 608415"/>
              <a:gd name="connsiteY19" fmla="*/ 562054 h 562054"/>
              <a:gd name="connsiteX20" fmla="*/ 438282 w 608415"/>
              <a:gd name="connsiteY20" fmla="*/ 477039 h 562054"/>
              <a:gd name="connsiteX21" fmla="*/ 523403 w 608415"/>
              <a:gd name="connsiteY21" fmla="*/ 392132 h 562054"/>
              <a:gd name="connsiteX22" fmla="*/ 131219 w 608415"/>
              <a:gd name="connsiteY22" fmla="*/ 0 h 562054"/>
              <a:gd name="connsiteX23" fmla="*/ 456350 w 608415"/>
              <a:gd name="connsiteY23" fmla="*/ 0 h 562054"/>
              <a:gd name="connsiteX24" fmla="*/ 507647 w 608415"/>
              <a:gd name="connsiteY24" fmla="*/ 51333 h 562054"/>
              <a:gd name="connsiteX25" fmla="*/ 507647 w 608415"/>
              <a:gd name="connsiteY25" fmla="*/ 347200 h 562054"/>
              <a:gd name="connsiteX26" fmla="*/ 501357 w 608415"/>
              <a:gd name="connsiteY26" fmla="*/ 353482 h 562054"/>
              <a:gd name="connsiteX27" fmla="*/ 495067 w 608415"/>
              <a:gd name="connsiteY27" fmla="*/ 347200 h 562054"/>
              <a:gd name="connsiteX28" fmla="*/ 495067 w 608415"/>
              <a:gd name="connsiteY28" fmla="*/ 51333 h 562054"/>
              <a:gd name="connsiteX29" fmla="*/ 456350 w 608415"/>
              <a:gd name="connsiteY29" fmla="*/ 12671 h 562054"/>
              <a:gd name="connsiteX30" fmla="*/ 131219 w 608415"/>
              <a:gd name="connsiteY30" fmla="*/ 12671 h 562054"/>
              <a:gd name="connsiteX31" fmla="*/ 102589 w 608415"/>
              <a:gd name="connsiteY31" fmla="*/ 41261 h 562054"/>
              <a:gd name="connsiteX32" fmla="*/ 102589 w 608415"/>
              <a:gd name="connsiteY32" fmla="*/ 76241 h 562054"/>
              <a:gd name="connsiteX33" fmla="*/ 131219 w 608415"/>
              <a:gd name="connsiteY33" fmla="*/ 104940 h 562054"/>
              <a:gd name="connsiteX34" fmla="*/ 376315 w 608415"/>
              <a:gd name="connsiteY34" fmla="*/ 104940 h 562054"/>
              <a:gd name="connsiteX35" fmla="*/ 417634 w 608415"/>
              <a:gd name="connsiteY35" fmla="*/ 146201 h 562054"/>
              <a:gd name="connsiteX36" fmla="*/ 417634 w 608415"/>
              <a:gd name="connsiteY36" fmla="*/ 181181 h 562054"/>
              <a:gd name="connsiteX37" fmla="*/ 376315 w 608415"/>
              <a:gd name="connsiteY37" fmla="*/ 222442 h 562054"/>
              <a:gd name="connsiteX38" fmla="*/ 131219 w 608415"/>
              <a:gd name="connsiteY38" fmla="*/ 222442 h 562054"/>
              <a:gd name="connsiteX39" fmla="*/ 102589 w 608415"/>
              <a:gd name="connsiteY39" fmla="*/ 251033 h 562054"/>
              <a:gd name="connsiteX40" fmla="*/ 102589 w 608415"/>
              <a:gd name="connsiteY40" fmla="*/ 286013 h 562054"/>
              <a:gd name="connsiteX41" fmla="*/ 131219 w 608415"/>
              <a:gd name="connsiteY41" fmla="*/ 314711 h 562054"/>
              <a:gd name="connsiteX42" fmla="*/ 386292 w 608415"/>
              <a:gd name="connsiteY42" fmla="*/ 314711 h 562054"/>
              <a:gd name="connsiteX43" fmla="*/ 427611 w 608415"/>
              <a:gd name="connsiteY43" fmla="*/ 355973 h 562054"/>
              <a:gd name="connsiteX44" fmla="*/ 427611 w 608415"/>
              <a:gd name="connsiteY44" fmla="*/ 390953 h 562054"/>
              <a:gd name="connsiteX45" fmla="*/ 386292 w 608415"/>
              <a:gd name="connsiteY45" fmla="*/ 432214 h 562054"/>
              <a:gd name="connsiteX46" fmla="*/ 96190 w 608415"/>
              <a:gd name="connsiteY46" fmla="*/ 432214 h 562054"/>
              <a:gd name="connsiteX47" fmla="*/ 89900 w 608415"/>
              <a:gd name="connsiteY47" fmla="*/ 425933 h 562054"/>
              <a:gd name="connsiteX48" fmla="*/ 96190 w 608415"/>
              <a:gd name="connsiteY48" fmla="*/ 419543 h 562054"/>
              <a:gd name="connsiteX49" fmla="*/ 386292 w 608415"/>
              <a:gd name="connsiteY49" fmla="*/ 419543 h 562054"/>
              <a:gd name="connsiteX50" fmla="*/ 415031 w 608415"/>
              <a:gd name="connsiteY50" fmla="*/ 390953 h 562054"/>
              <a:gd name="connsiteX51" fmla="*/ 415031 w 608415"/>
              <a:gd name="connsiteY51" fmla="*/ 355973 h 562054"/>
              <a:gd name="connsiteX52" fmla="*/ 386292 w 608415"/>
              <a:gd name="connsiteY52" fmla="*/ 327274 h 562054"/>
              <a:gd name="connsiteX53" fmla="*/ 131219 w 608415"/>
              <a:gd name="connsiteY53" fmla="*/ 327274 h 562054"/>
              <a:gd name="connsiteX54" fmla="*/ 89900 w 608415"/>
              <a:gd name="connsiteY54" fmla="*/ 286013 h 562054"/>
              <a:gd name="connsiteX55" fmla="*/ 89900 w 608415"/>
              <a:gd name="connsiteY55" fmla="*/ 251033 h 562054"/>
              <a:gd name="connsiteX56" fmla="*/ 131219 w 608415"/>
              <a:gd name="connsiteY56" fmla="*/ 209771 h 562054"/>
              <a:gd name="connsiteX57" fmla="*/ 376315 w 608415"/>
              <a:gd name="connsiteY57" fmla="*/ 209771 h 562054"/>
              <a:gd name="connsiteX58" fmla="*/ 404945 w 608415"/>
              <a:gd name="connsiteY58" fmla="*/ 181181 h 562054"/>
              <a:gd name="connsiteX59" fmla="*/ 404945 w 608415"/>
              <a:gd name="connsiteY59" fmla="*/ 146201 h 562054"/>
              <a:gd name="connsiteX60" fmla="*/ 376315 w 608415"/>
              <a:gd name="connsiteY60" fmla="*/ 117502 h 562054"/>
              <a:gd name="connsiteX61" fmla="*/ 131219 w 608415"/>
              <a:gd name="connsiteY61" fmla="*/ 117502 h 562054"/>
              <a:gd name="connsiteX62" fmla="*/ 89900 w 608415"/>
              <a:gd name="connsiteY62" fmla="*/ 76241 h 562054"/>
              <a:gd name="connsiteX63" fmla="*/ 89900 w 608415"/>
              <a:gd name="connsiteY63" fmla="*/ 41261 h 562054"/>
              <a:gd name="connsiteX64" fmla="*/ 131219 w 608415"/>
              <a:gd name="connsiteY64" fmla="*/ 0 h 562054"/>
              <a:gd name="connsiteX65" fmla="*/ 51300 w 608415"/>
              <a:gd name="connsiteY65" fmla="*/ 0 h 562054"/>
              <a:gd name="connsiteX66" fmla="*/ 65290 w 608415"/>
              <a:gd name="connsiteY66" fmla="*/ 0 h 562054"/>
              <a:gd name="connsiteX67" fmla="*/ 71581 w 608415"/>
              <a:gd name="connsiteY67" fmla="*/ 6389 h 562054"/>
              <a:gd name="connsiteX68" fmla="*/ 65290 w 608415"/>
              <a:gd name="connsiteY68" fmla="*/ 12671 h 562054"/>
              <a:gd name="connsiteX69" fmla="*/ 51300 w 608415"/>
              <a:gd name="connsiteY69" fmla="*/ 12671 h 562054"/>
              <a:gd name="connsiteX70" fmla="*/ 12689 w 608415"/>
              <a:gd name="connsiteY70" fmla="*/ 51333 h 562054"/>
              <a:gd name="connsiteX71" fmla="*/ 12689 w 608415"/>
              <a:gd name="connsiteY71" fmla="*/ 500771 h 562054"/>
              <a:gd name="connsiteX72" fmla="*/ 51300 w 608415"/>
              <a:gd name="connsiteY72" fmla="*/ 539433 h 562054"/>
              <a:gd name="connsiteX73" fmla="*/ 419290 w 608415"/>
              <a:gd name="connsiteY73" fmla="*/ 539433 h 562054"/>
              <a:gd name="connsiteX74" fmla="*/ 425580 w 608415"/>
              <a:gd name="connsiteY74" fmla="*/ 545715 h 562054"/>
              <a:gd name="connsiteX75" fmla="*/ 419290 w 608415"/>
              <a:gd name="connsiteY75" fmla="*/ 552104 h 562054"/>
              <a:gd name="connsiteX76" fmla="*/ 51300 w 608415"/>
              <a:gd name="connsiteY76" fmla="*/ 552104 h 562054"/>
              <a:gd name="connsiteX77" fmla="*/ 0 w 608415"/>
              <a:gd name="connsiteY77" fmla="*/ 500771 h 562054"/>
              <a:gd name="connsiteX78" fmla="*/ 0 w 608415"/>
              <a:gd name="connsiteY78" fmla="*/ 51333 h 562054"/>
              <a:gd name="connsiteX79" fmla="*/ 51300 w 608415"/>
              <a:gd name="connsiteY79" fmla="*/ 0 h 56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08415" h="562054">
                <a:moveTo>
                  <a:pt x="584891" y="441972"/>
                </a:moveTo>
                <a:cubicBezTo>
                  <a:pt x="587386" y="439482"/>
                  <a:pt x="591398" y="439482"/>
                  <a:pt x="593784" y="441972"/>
                </a:cubicBezTo>
                <a:cubicBezTo>
                  <a:pt x="596278" y="444463"/>
                  <a:pt x="596278" y="448468"/>
                  <a:pt x="593784" y="450850"/>
                </a:cubicBezTo>
                <a:lnTo>
                  <a:pt x="546068" y="498597"/>
                </a:lnTo>
                <a:cubicBezTo>
                  <a:pt x="539670" y="504984"/>
                  <a:pt x="532729" y="507366"/>
                  <a:pt x="526223" y="507366"/>
                </a:cubicBezTo>
                <a:cubicBezTo>
                  <a:pt x="517655" y="507366"/>
                  <a:pt x="509956" y="503252"/>
                  <a:pt x="505293" y="498597"/>
                </a:cubicBezTo>
                <a:lnTo>
                  <a:pt x="473518" y="466766"/>
                </a:lnTo>
                <a:cubicBezTo>
                  <a:pt x="471024" y="464276"/>
                  <a:pt x="471024" y="460270"/>
                  <a:pt x="473518" y="457888"/>
                </a:cubicBezTo>
                <a:cubicBezTo>
                  <a:pt x="476012" y="455398"/>
                  <a:pt x="479916" y="455398"/>
                  <a:pt x="482411" y="457888"/>
                </a:cubicBezTo>
                <a:lnTo>
                  <a:pt x="514294" y="489610"/>
                </a:lnTo>
                <a:cubicBezTo>
                  <a:pt x="516137" y="491451"/>
                  <a:pt x="526439" y="500329"/>
                  <a:pt x="537175" y="489610"/>
                </a:cubicBezTo>
                <a:close/>
                <a:moveTo>
                  <a:pt x="523403" y="392132"/>
                </a:moveTo>
                <a:cubicBezTo>
                  <a:pt x="526873" y="392132"/>
                  <a:pt x="529692" y="394948"/>
                  <a:pt x="529692" y="398413"/>
                </a:cubicBezTo>
                <a:cubicBezTo>
                  <a:pt x="529692" y="401879"/>
                  <a:pt x="526873" y="404694"/>
                  <a:pt x="523403" y="404694"/>
                </a:cubicBezTo>
                <a:cubicBezTo>
                  <a:pt x="483391" y="404694"/>
                  <a:pt x="450969" y="437184"/>
                  <a:pt x="450969" y="477039"/>
                </a:cubicBezTo>
                <a:cubicBezTo>
                  <a:pt x="450969" y="517002"/>
                  <a:pt x="483391" y="549383"/>
                  <a:pt x="523403" y="549383"/>
                </a:cubicBezTo>
                <a:cubicBezTo>
                  <a:pt x="563306" y="549383"/>
                  <a:pt x="595837" y="517002"/>
                  <a:pt x="595837" y="477039"/>
                </a:cubicBezTo>
                <a:cubicBezTo>
                  <a:pt x="595837" y="473574"/>
                  <a:pt x="598656" y="470758"/>
                  <a:pt x="602126" y="470758"/>
                </a:cubicBezTo>
                <a:cubicBezTo>
                  <a:pt x="605596" y="470758"/>
                  <a:pt x="608415" y="473574"/>
                  <a:pt x="608415" y="477039"/>
                </a:cubicBezTo>
                <a:cubicBezTo>
                  <a:pt x="608415" y="523933"/>
                  <a:pt x="570246" y="562054"/>
                  <a:pt x="523403" y="562054"/>
                </a:cubicBezTo>
                <a:cubicBezTo>
                  <a:pt x="476451" y="562054"/>
                  <a:pt x="438282" y="523933"/>
                  <a:pt x="438282" y="477039"/>
                </a:cubicBezTo>
                <a:cubicBezTo>
                  <a:pt x="438282" y="430253"/>
                  <a:pt x="476451" y="392132"/>
                  <a:pt x="523403" y="392132"/>
                </a:cubicBezTo>
                <a:close/>
                <a:moveTo>
                  <a:pt x="131219" y="0"/>
                </a:moveTo>
                <a:lnTo>
                  <a:pt x="456350" y="0"/>
                </a:lnTo>
                <a:cubicBezTo>
                  <a:pt x="496910" y="0"/>
                  <a:pt x="507647" y="33572"/>
                  <a:pt x="507647" y="51333"/>
                </a:cubicBezTo>
                <a:lnTo>
                  <a:pt x="507647" y="347200"/>
                </a:lnTo>
                <a:cubicBezTo>
                  <a:pt x="507647" y="350666"/>
                  <a:pt x="504827" y="353482"/>
                  <a:pt x="501357" y="353482"/>
                </a:cubicBezTo>
                <a:cubicBezTo>
                  <a:pt x="497887" y="353482"/>
                  <a:pt x="495067" y="350666"/>
                  <a:pt x="495067" y="347200"/>
                </a:cubicBezTo>
                <a:lnTo>
                  <a:pt x="495067" y="51333"/>
                </a:lnTo>
                <a:cubicBezTo>
                  <a:pt x="494958" y="47326"/>
                  <a:pt x="493657" y="12671"/>
                  <a:pt x="456350" y="12671"/>
                </a:cubicBezTo>
                <a:lnTo>
                  <a:pt x="131219" y="12671"/>
                </a:lnTo>
                <a:cubicBezTo>
                  <a:pt x="128291" y="12671"/>
                  <a:pt x="102589" y="13645"/>
                  <a:pt x="102589" y="41261"/>
                </a:cubicBezTo>
                <a:lnTo>
                  <a:pt x="102589" y="76241"/>
                </a:lnTo>
                <a:cubicBezTo>
                  <a:pt x="102589" y="79165"/>
                  <a:pt x="103565" y="104940"/>
                  <a:pt x="131219" y="104940"/>
                </a:cubicBezTo>
                <a:lnTo>
                  <a:pt x="376315" y="104940"/>
                </a:lnTo>
                <a:cubicBezTo>
                  <a:pt x="390630" y="104940"/>
                  <a:pt x="417634" y="113495"/>
                  <a:pt x="417634" y="146201"/>
                </a:cubicBezTo>
                <a:lnTo>
                  <a:pt x="417634" y="181181"/>
                </a:lnTo>
                <a:cubicBezTo>
                  <a:pt x="417634" y="195476"/>
                  <a:pt x="408958" y="222442"/>
                  <a:pt x="376315" y="222442"/>
                </a:cubicBezTo>
                <a:lnTo>
                  <a:pt x="131219" y="222442"/>
                </a:lnTo>
                <a:cubicBezTo>
                  <a:pt x="128291" y="222442"/>
                  <a:pt x="102589" y="223417"/>
                  <a:pt x="102589" y="251033"/>
                </a:cubicBezTo>
                <a:lnTo>
                  <a:pt x="102589" y="286013"/>
                </a:lnTo>
                <a:cubicBezTo>
                  <a:pt x="102589" y="288937"/>
                  <a:pt x="103565" y="314711"/>
                  <a:pt x="131219" y="314711"/>
                </a:cubicBezTo>
                <a:lnTo>
                  <a:pt x="386292" y="314711"/>
                </a:lnTo>
                <a:cubicBezTo>
                  <a:pt x="419044" y="314711"/>
                  <a:pt x="427611" y="341677"/>
                  <a:pt x="427611" y="355973"/>
                </a:cubicBezTo>
                <a:lnTo>
                  <a:pt x="427611" y="390953"/>
                </a:lnTo>
                <a:cubicBezTo>
                  <a:pt x="427611" y="423550"/>
                  <a:pt x="400607" y="432214"/>
                  <a:pt x="386292" y="432214"/>
                </a:cubicBezTo>
                <a:lnTo>
                  <a:pt x="96190" y="432214"/>
                </a:lnTo>
                <a:cubicBezTo>
                  <a:pt x="92720" y="432214"/>
                  <a:pt x="89900" y="429398"/>
                  <a:pt x="89900" y="425933"/>
                </a:cubicBezTo>
                <a:cubicBezTo>
                  <a:pt x="89900" y="422359"/>
                  <a:pt x="92720" y="419543"/>
                  <a:pt x="96190" y="419543"/>
                </a:cubicBezTo>
                <a:lnTo>
                  <a:pt x="386292" y="419543"/>
                </a:lnTo>
                <a:cubicBezTo>
                  <a:pt x="389220" y="419543"/>
                  <a:pt x="415031" y="418568"/>
                  <a:pt x="415031" y="390953"/>
                </a:cubicBezTo>
                <a:lnTo>
                  <a:pt x="415031" y="355973"/>
                </a:lnTo>
                <a:cubicBezTo>
                  <a:pt x="414923" y="353049"/>
                  <a:pt x="413947" y="327274"/>
                  <a:pt x="386292" y="327274"/>
                </a:cubicBezTo>
                <a:lnTo>
                  <a:pt x="131219" y="327274"/>
                </a:lnTo>
                <a:cubicBezTo>
                  <a:pt x="98576" y="327274"/>
                  <a:pt x="89900" y="300308"/>
                  <a:pt x="89900" y="286013"/>
                </a:cubicBezTo>
                <a:lnTo>
                  <a:pt x="89900" y="251033"/>
                </a:lnTo>
                <a:cubicBezTo>
                  <a:pt x="89900" y="218435"/>
                  <a:pt x="116904" y="209771"/>
                  <a:pt x="131219" y="209771"/>
                </a:cubicBezTo>
                <a:lnTo>
                  <a:pt x="376315" y="209771"/>
                </a:lnTo>
                <a:cubicBezTo>
                  <a:pt x="403969" y="209771"/>
                  <a:pt x="404945" y="184105"/>
                  <a:pt x="404945" y="181181"/>
                </a:cubicBezTo>
                <a:lnTo>
                  <a:pt x="404945" y="146201"/>
                </a:lnTo>
                <a:cubicBezTo>
                  <a:pt x="404945" y="118585"/>
                  <a:pt x="379243" y="117610"/>
                  <a:pt x="376315" y="117502"/>
                </a:cubicBezTo>
                <a:lnTo>
                  <a:pt x="131219" y="117502"/>
                </a:lnTo>
                <a:cubicBezTo>
                  <a:pt x="98576" y="117502"/>
                  <a:pt x="89900" y="90536"/>
                  <a:pt x="89900" y="76241"/>
                </a:cubicBezTo>
                <a:lnTo>
                  <a:pt x="89900" y="41261"/>
                </a:lnTo>
                <a:cubicBezTo>
                  <a:pt x="89900" y="8664"/>
                  <a:pt x="116904" y="0"/>
                  <a:pt x="131219" y="0"/>
                </a:cubicBezTo>
                <a:close/>
                <a:moveTo>
                  <a:pt x="51300" y="0"/>
                </a:moveTo>
                <a:lnTo>
                  <a:pt x="65290" y="0"/>
                </a:lnTo>
                <a:cubicBezTo>
                  <a:pt x="68761" y="0"/>
                  <a:pt x="71581" y="2816"/>
                  <a:pt x="71581" y="6389"/>
                </a:cubicBezTo>
                <a:cubicBezTo>
                  <a:pt x="71581" y="9855"/>
                  <a:pt x="68761" y="12671"/>
                  <a:pt x="65290" y="12671"/>
                </a:cubicBezTo>
                <a:lnTo>
                  <a:pt x="51300" y="12671"/>
                </a:lnTo>
                <a:cubicBezTo>
                  <a:pt x="47395" y="12671"/>
                  <a:pt x="12689" y="13970"/>
                  <a:pt x="12689" y="51333"/>
                </a:cubicBezTo>
                <a:lnTo>
                  <a:pt x="12689" y="500771"/>
                </a:lnTo>
                <a:cubicBezTo>
                  <a:pt x="12689" y="504778"/>
                  <a:pt x="13991" y="539433"/>
                  <a:pt x="51300" y="539433"/>
                </a:cubicBezTo>
                <a:lnTo>
                  <a:pt x="419290" y="539433"/>
                </a:lnTo>
                <a:cubicBezTo>
                  <a:pt x="422760" y="539433"/>
                  <a:pt x="425580" y="542249"/>
                  <a:pt x="425580" y="545715"/>
                </a:cubicBezTo>
                <a:cubicBezTo>
                  <a:pt x="425580" y="549288"/>
                  <a:pt x="422760" y="552104"/>
                  <a:pt x="419290" y="552104"/>
                </a:cubicBezTo>
                <a:lnTo>
                  <a:pt x="51300" y="552104"/>
                </a:lnTo>
                <a:cubicBezTo>
                  <a:pt x="10737" y="552104"/>
                  <a:pt x="0" y="518532"/>
                  <a:pt x="0" y="500771"/>
                </a:cubicBezTo>
                <a:lnTo>
                  <a:pt x="0" y="51333"/>
                </a:lnTo>
                <a:cubicBezTo>
                  <a:pt x="0" y="10721"/>
                  <a:pt x="33621" y="0"/>
                  <a:pt x="513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dirty="0">
              <a:solidFill>
                <a:schemeClr val="tx1"/>
              </a:solidFill>
              <a:latin typeface="微软雅黑" panose="020B0503020204020204" pitchFamily="34" charset="-122"/>
              <a:ea typeface="微软雅黑" panose="020B0503020204020204" pitchFamily="34" charset="-122"/>
              <a:cs typeface="+mn-ea"/>
              <a:sym typeface="思源宋体 CN Heavy" panose="02020900000000000000" pitchFamily="18" charset="-122"/>
            </a:endParaRPr>
          </a:p>
        </p:txBody>
      </p:sp>
      <p:pic>
        <p:nvPicPr>
          <p:cNvPr id="85" name="图片 8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9588" y="4291665"/>
            <a:ext cx="4976702" cy="1837673"/>
          </a:xfrm>
          <a:prstGeom prst="rect">
            <a:avLst/>
          </a:prstGeom>
        </p:spPr>
      </p:pic>
      <p:pic>
        <p:nvPicPr>
          <p:cNvPr id="86" name="图片 8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368173" y="4240189"/>
            <a:ext cx="4976702" cy="1889150"/>
          </a:xfrm>
          <a:prstGeom prst="rect">
            <a:avLst/>
          </a:prstGeom>
        </p:spPr>
      </p:pic>
      <p:sp>
        <p:nvSpPr>
          <p:cNvPr id="87" name="PA-矩形 4"/>
          <p:cNvSpPr>
            <a:spLocks noChangeArrowheads="1"/>
          </p:cNvSpPr>
          <p:nvPr>
            <p:custDataLst>
              <p:tags r:id="rId1"/>
            </p:custDataLst>
          </p:nvPr>
        </p:nvSpPr>
        <p:spPr bwMode="auto">
          <a:xfrm>
            <a:off x="5074888" y="1023671"/>
            <a:ext cx="2042224"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4.AI+excel</a:t>
            </a:r>
          </a:p>
        </p:txBody>
      </p:sp>
      <p:sp>
        <p:nvSpPr>
          <p:cNvPr id="88" name="文本框 87"/>
          <p:cNvSpPr txBox="1"/>
          <p:nvPr/>
        </p:nvSpPr>
        <p:spPr>
          <a:xfrm>
            <a:off x="1639461" y="1544877"/>
            <a:ext cx="8997504" cy="382028"/>
          </a:xfrm>
          <a:prstGeom prst="rect">
            <a:avLst/>
          </a:prstGeom>
          <a:noFill/>
        </p:spPr>
        <p:txBody>
          <a:bodyPr wrap="square">
            <a:spAutoFit/>
          </a:bodyPr>
          <a:lstStyle/>
          <a:p>
            <a:pPr lvl="0">
              <a:lnSpc>
                <a:spcPct val="150000"/>
              </a:lnSpc>
              <a:defRPr/>
            </a:pPr>
            <a:r>
              <a:rPr lang="zh-CN" altLang="en-US" sz="1400" dirty="0">
                <a:latin typeface="微软雅黑" panose="020B0503020204020204" pitchFamily="34" charset="-122"/>
                <a:ea typeface="微软雅黑" panose="020B0503020204020204" pitchFamily="34" charset="-122"/>
                <a:cs typeface="+mn-ea"/>
                <a:sym typeface="思源宋体 CN Heavy" panose="02020900000000000000" pitchFamily="18" charset="-122"/>
              </a:rPr>
              <a:t>处理数据时，你是不是也总被公式 “绊住脚”？算错了还得从头找问题，像在解一道永远差一步的谜题。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down)">
                                      <p:cBhvr>
                                        <p:cTn id="12" dur="500"/>
                                        <p:tgtEl>
                                          <p:spTgt spid="85"/>
                                        </p:tgtEl>
                                      </p:cBhvr>
                                    </p:animEffect>
                                  </p:childTnLst>
                                </p:cTn>
                              </p:par>
                              <p:par>
                                <p:cTn id="13" presetID="22" presetClass="entr" presetSubtype="4" fill="hold" nodeType="with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wipe(down)">
                                      <p:cBhvr>
                                        <p:cTn id="15" dur="500"/>
                                        <p:tgtEl>
                                          <p:spTgt spid="8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3"/>
                                        </p:tgtEl>
                                        <p:attrNameLst>
                                          <p:attrName>style.visibility</p:attrName>
                                        </p:attrNameLst>
                                      </p:cBhvr>
                                      <p:to>
                                        <p:strVal val="visible"/>
                                      </p:to>
                                    </p:set>
                                    <p:animEffect transition="in" filter="dissolve">
                                      <p:cBhvr>
                                        <p:cTn id="20" dur="500"/>
                                        <p:tgtEl>
                                          <p:spTgt spid="83"/>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dissolve">
                                      <p:cBhvr>
                                        <p:cTn id="23" dur="500"/>
                                        <p:tgtEl>
                                          <p:spTgt spid="8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dissolve">
                                      <p:cBhvr>
                                        <p:cTn id="35" dur="500"/>
                                        <p:tgtEl>
                                          <p:spTgt spid="2"/>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dissolve">
                                      <p:cBhvr>
                                        <p:cTn id="38" dur="500"/>
                                        <p:tgtEl>
                                          <p:spTgt spid="6"/>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dissolve">
                                      <p:cBhvr>
                                        <p:cTn id="41" dur="500"/>
                                        <p:tgtEl>
                                          <p:spTgt spid="78"/>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81"/>
                                        </p:tgtEl>
                                        <p:attrNameLst>
                                          <p:attrName>style.visibility</p:attrName>
                                        </p:attrNameLst>
                                      </p:cBhvr>
                                      <p:to>
                                        <p:strVal val="visible"/>
                                      </p:to>
                                    </p:set>
                                    <p:animEffect transition="in" filter="dissolve">
                                      <p:cBhvr>
                                        <p:cTn id="44" dur="500"/>
                                        <p:tgtEl>
                                          <p:spTgt spid="81"/>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dissolve">
                                      <p:cBhvr>
                                        <p:cTn id="50" dur="500"/>
                                        <p:tgtEl>
                                          <p:spTgt spid="8"/>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dissolve">
                                      <p:cBhvr>
                                        <p:cTn id="53" dur="500"/>
                                        <p:tgtEl>
                                          <p:spTgt spid="9"/>
                                        </p:tgtEl>
                                      </p:cBhvr>
                                    </p:animEffect>
                                  </p:childTnLst>
                                </p:cTn>
                              </p:par>
                              <p:par>
                                <p:cTn id="54" presetID="9" presetClass="entr" presetSubtype="0" fill="hold"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dissolve">
                                      <p:cBhvr>
                                        <p:cTn id="56" dur="500"/>
                                        <p:tgtEl>
                                          <p:spTgt spid="10"/>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dissolve">
                                      <p:cBhvr>
                                        <p:cTn id="59" dur="500"/>
                                        <p:tgtEl>
                                          <p:spTgt spid="42"/>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dissolve">
                                      <p:cBhvr>
                                        <p:cTn id="62" dur="500"/>
                                        <p:tgtEl>
                                          <p:spTgt spid="43"/>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animEffect transition="in" filter="dissolve">
                                      <p:cBhvr>
                                        <p:cTn id="65" dur="500"/>
                                        <p:tgtEl>
                                          <p:spTgt spid="44"/>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dissolve">
                                      <p:cBhvr>
                                        <p:cTn id="68" dur="500"/>
                                        <p:tgtEl>
                                          <p:spTgt spid="45"/>
                                        </p:tgtEl>
                                      </p:cBhvr>
                                    </p:animEffect>
                                  </p:childTnLst>
                                </p:cTn>
                              </p:par>
                              <p:par>
                                <p:cTn id="69" presetID="9" presetClass="entr" presetSubtype="0" fill="hold"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dissolve">
                                      <p:cBhvr>
                                        <p:cTn id="71" dur="500"/>
                                        <p:tgtEl>
                                          <p:spTgt spid="46"/>
                                        </p:tgtEl>
                                      </p:cBhvr>
                                    </p:animEffect>
                                  </p:childTnLst>
                                </p:cTn>
                              </p:par>
                            </p:childTnLst>
                          </p:cTn>
                        </p:par>
                        <p:par>
                          <p:cTn id="72" fill="hold">
                            <p:stCondLst>
                              <p:cond delay="500"/>
                            </p:stCondLst>
                            <p:childTnLst>
                              <p:par>
                                <p:cTn id="73" presetID="42" presetClass="entr" presetSubtype="0" fill="hold" grpId="0" nodeType="afterEffect">
                                  <p:stCondLst>
                                    <p:cond delay="0"/>
                                  </p:stCondLst>
                                  <p:childTnLst>
                                    <p:set>
                                      <p:cBhvr>
                                        <p:cTn id="74" dur="1" fill="hold">
                                          <p:stCondLst>
                                            <p:cond delay="0"/>
                                          </p:stCondLst>
                                        </p:cTn>
                                        <p:tgtEl>
                                          <p:spTgt spid="87"/>
                                        </p:tgtEl>
                                        <p:attrNameLst>
                                          <p:attrName>style.visibility</p:attrName>
                                        </p:attrNameLst>
                                      </p:cBhvr>
                                      <p:to>
                                        <p:strVal val="visible"/>
                                      </p:to>
                                    </p:set>
                                    <p:animEffect transition="in" filter="fade">
                                      <p:cBhvr>
                                        <p:cTn id="75" dur="1000"/>
                                        <p:tgtEl>
                                          <p:spTgt spid="87"/>
                                        </p:tgtEl>
                                      </p:cBhvr>
                                    </p:animEffect>
                                    <p:anim calcmode="lin" valueType="num">
                                      <p:cBhvr>
                                        <p:cTn id="76" dur="1000" fill="hold"/>
                                        <p:tgtEl>
                                          <p:spTgt spid="87"/>
                                        </p:tgtEl>
                                        <p:attrNameLst>
                                          <p:attrName>ppt_x</p:attrName>
                                        </p:attrNameLst>
                                      </p:cBhvr>
                                      <p:tavLst>
                                        <p:tav tm="0">
                                          <p:val>
                                            <p:strVal val="#ppt_x"/>
                                          </p:val>
                                        </p:tav>
                                        <p:tav tm="100000">
                                          <p:val>
                                            <p:strVal val="#ppt_x"/>
                                          </p:val>
                                        </p:tav>
                                      </p:tavLst>
                                    </p:anim>
                                    <p:anim calcmode="lin" valueType="num">
                                      <p:cBhvr>
                                        <p:cTn id="77" dur="1000" fill="hold"/>
                                        <p:tgtEl>
                                          <p:spTgt spid="87"/>
                                        </p:tgtEl>
                                        <p:attrNameLst>
                                          <p:attrName>ppt_y</p:attrName>
                                        </p:attrNameLst>
                                      </p:cBhvr>
                                      <p:tavLst>
                                        <p:tav tm="0">
                                          <p:val>
                                            <p:strVal val="#ppt_y+.1"/>
                                          </p:val>
                                        </p:tav>
                                        <p:tav tm="100000">
                                          <p:val>
                                            <p:strVal val="#ppt_y"/>
                                          </p:val>
                                        </p:tav>
                                      </p:tavLst>
                                    </p:anim>
                                  </p:childTnLst>
                                </p:cTn>
                              </p:par>
                              <p:par>
                                <p:cTn id="78" presetID="9" presetClass="entr" presetSubtype="0" fill="hold" grpId="0" nodeType="withEffect">
                                  <p:stCondLst>
                                    <p:cond delay="0"/>
                                  </p:stCondLst>
                                  <p:childTnLst>
                                    <p:set>
                                      <p:cBhvr>
                                        <p:cTn id="79" dur="1" fill="hold">
                                          <p:stCondLst>
                                            <p:cond delay="0"/>
                                          </p:stCondLst>
                                        </p:cTn>
                                        <p:tgtEl>
                                          <p:spTgt spid="88"/>
                                        </p:tgtEl>
                                        <p:attrNameLst>
                                          <p:attrName>style.visibility</p:attrName>
                                        </p:attrNameLst>
                                      </p:cBhvr>
                                      <p:to>
                                        <p:strVal val="visible"/>
                                      </p:to>
                                    </p:set>
                                    <p:animEffect transition="in" filter="dissolve">
                                      <p:cBhvr>
                                        <p:cTn id="80"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3" grpId="0" animBg="1"/>
      <p:bldP spid="4" grpId="0" animBg="1"/>
      <p:bldP spid="5" grpId="0" animBg="1"/>
      <p:bldP spid="6" grpId="0" animBg="1"/>
      <p:bldP spid="7" grpId="0" animBg="1"/>
      <p:bldP spid="8" grpId="0" animBg="1"/>
      <p:bldP spid="9" grpId="0" animBg="1"/>
      <p:bldP spid="42" grpId="0" animBg="1"/>
      <p:bldP spid="43" grpId="0" animBg="1"/>
      <p:bldP spid="44" grpId="0" animBg="1"/>
      <p:bldP spid="45" grpId="0" animBg="1"/>
      <p:bldP spid="78" grpId="0"/>
      <p:bldP spid="81" grpId="0"/>
      <p:bldP spid="83" grpId="0" animBg="1"/>
      <p:bldP spid="84" grpId="0" animBg="1"/>
      <p:bldP spid="87" grpId="0"/>
      <p:bldP spid="8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pic>
        <p:nvPicPr>
          <p:cNvPr id="2" name="图片 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38200" y="1421676"/>
            <a:ext cx="6136640" cy="4433748"/>
          </a:xfrm>
          <a:prstGeom prst="rect">
            <a:avLst/>
          </a:prstGeom>
        </p:spPr>
      </p:pic>
      <p:sp>
        <p:nvSpPr>
          <p:cNvPr id="3" name="PA-矩形 4"/>
          <p:cNvSpPr>
            <a:spLocks noChangeArrowheads="1"/>
          </p:cNvSpPr>
          <p:nvPr>
            <p:custDataLst>
              <p:tags r:id="rId1"/>
            </p:custDataLst>
          </p:nvPr>
        </p:nvSpPr>
        <p:spPr bwMode="auto">
          <a:xfrm>
            <a:off x="7309909" y="2439607"/>
            <a:ext cx="4108980" cy="292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1600" b="1" dirty="0">
                <a:latin typeface="微软雅黑" panose="020B0503020204020204" pitchFamily="34" charset="-122"/>
                <a:ea typeface="微软雅黑" panose="020B0503020204020204" pitchFamily="34" charset="-122"/>
                <a:cs typeface="+mn-ea"/>
                <a:sym typeface="+mn-lt"/>
              </a:rPr>
              <a:t>豆包</a:t>
            </a:r>
          </a:p>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1</a:t>
            </a:r>
            <a:r>
              <a:rPr lang="zh-CN" altLang="en-US" sz="1400" dirty="0">
                <a:latin typeface="微软雅黑" panose="020B0503020204020204" pitchFamily="34" charset="-122"/>
                <a:ea typeface="微软雅黑" panose="020B0503020204020204" pitchFamily="34" charset="-122"/>
                <a:cs typeface="+mn-ea"/>
                <a:sym typeface="+mn-lt"/>
              </a:rPr>
              <a:t>、使用图像生成，输入描述，如“你是一名平面设计师，请生成一张三八妇女节海报图，适用于公司企宣。”</a:t>
            </a:r>
          </a:p>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2</a:t>
            </a:r>
            <a:r>
              <a:rPr lang="zh-CN" altLang="en-US" sz="1400" dirty="0">
                <a:latin typeface="微软雅黑" panose="020B0503020204020204" pitchFamily="34" charset="-122"/>
                <a:ea typeface="微软雅黑" panose="020B0503020204020204" pitchFamily="34" charset="-122"/>
                <a:cs typeface="+mn-ea"/>
                <a:sym typeface="+mn-lt"/>
              </a:rPr>
              <a:t>、选择不同的图片风格、尺寸和比例。</a:t>
            </a:r>
          </a:p>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3</a:t>
            </a:r>
            <a:r>
              <a:rPr lang="zh-CN" altLang="en-US" sz="1400" dirty="0">
                <a:latin typeface="微软雅黑" panose="020B0503020204020204" pitchFamily="34" charset="-122"/>
                <a:ea typeface="微软雅黑" panose="020B0503020204020204" pitchFamily="34" charset="-122"/>
                <a:cs typeface="+mn-ea"/>
                <a:sym typeface="+mn-lt"/>
              </a:rPr>
              <a:t>、点击生成，豆包快速生成多张图片供选择。</a:t>
            </a:r>
          </a:p>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4</a:t>
            </a:r>
            <a:r>
              <a:rPr lang="zh-CN" altLang="en-US" sz="1400" dirty="0">
                <a:latin typeface="微软雅黑" panose="020B0503020204020204" pitchFamily="34" charset="-122"/>
                <a:ea typeface="微软雅黑" panose="020B0503020204020204" pitchFamily="34" charset="-122"/>
                <a:cs typeface="+mn-ea"/>
                <a:sym typeface="+mn-lt"/>
              </a:rPr>
              <a:t>、选择满意的图片下载或用于创作。</a:t>
            </a:r>
          </a:p>
          <a:p>
            <a:pPr eaLnBrk="1" hangingPunct="1">
              <a:lnSpc>
                <a:spcPct val="150000"/>
              </a:lnSpc>
              <a:buSzPct val="25000"/>
              <a:defRPr/>
            </a:pPr>
            <a:endParaRPr lang="zh-CN" altLang="en-US" sz="1400" dirty="0">
              <a:latin typeface="微软雅黑" panose="020B0503020204020204" pitchFamily="34" charset="-122"/>
              <a:ea typeface="微软雅黑" panose="020B0503020204020204" pitchFamily="34" charset="-122"/>
              <a:cs typeface="+mn-ea"/>
              <a:sym typeface="+mn-lt"/>
            </a:endParaRPr>
          </a:p>
          <a:p>
            <a:pPr eaLnBrk="1" hangingPunct="1">
              <a:lnSpc>
                <a:spcPct val="150000"/>
              </a:lnSpc>
              <a:buSzPct val="25000"/>
              <a:defRPr/>
            </a:pPr>
            <a:r>
              <a:rPr lang="en-US" altLang="zh-CN" sz="1400" dirty="0" err="1">
                <a:latin typeface="微软雅黑" panose="020B0503020204020204" pitchFamily="34" charset="-122"/>
                <a:ea typeface="微软雅黑" panose="020B0503020204020204" pitchFamily="34" charset="-122"/>
                <a:cs typeface="+mn-ea"/>
                <a:sym typeface="+mn-lt"/>
              </a:rPr>
              <a:t>ps</a:t>
            </a:r>
            <a:r>
              <a:rPr lang="en-US" altLang="zh-CN" sz="1400" dirty="0">
                <a:latin typeface="微软雅黑" panose="020B0503020204020204" pitchFamily="34" charset="-122"/>
                <a:ea typeface="微软雅黑" panose="020B0503020204020204" pitchFamily="34" charset="-122"/>
                <a:cs typeface="+mn-ea"/>
                <a:sym typeface="+mn-lt"/>
              </a:rPr>
              <a:t>:</a:t>
            </a:r>
            <a:r>
              <a:rPr lang="zh-CN" altLang="en-US" sz="1400" dirty="0">
                <a:latin typeface="微软雅黑" panose="020B0503020204020204" pitchFamily="34" charset="-122"/>
                <a:ea typeface="微软雅黑" panose="020B0503020204020204" pitchFamily="34" charset="-122"/>
                <a:cs typeface="+mn-ea"/>
                <a:sym typeface="+mn-lt"/>
              </a:rPr>
              <a:t>豆包也可以进行简单</a:t>
            </a:r>
            <a:r>
              <a:rPr lang="en-US" altLang="zh-CN" sz="1400" dirty="0">
                <a:latin typeface="微软雅黑" panose="020B0503020204020204" pitchFamily="34" charset="-122"/>
                <a:ea typeface="微软雅黑" panose="020B0503020204020204" pitchFamily="34" charset="-122"/>
                <a:cs typeface="+mn-ea"/>
                <a:sym typeface="+mn-lt"/>
              </a:rPr>
              <a:t>P</a:t>
            </a:r>
            <a:r>
              <a:rPr lang="zh-CN" altLang="en-US" sz="1400" dirty="0">
                <a:latin typeface="微软雅黑" panose="020B0503020204020204" pitchFamily="34" charset="-122"/>
                <a:ea typeface="微软雅黑" panose="020B0503020204020204" pitchFamily="34" charset="-122"/>
                <a:cs typeface="+mn-ea"/>
                <a:sym typeface="+mn-lt"/>
              </a:rPr>
              <a:t>图，可自行尝试</a:t>
            </a:r>
          </a:p>
        </p:txBody>
      </p:sp>
      <p:sp>
        <p:nvSpPr>
          <p:cNvPr id="4" name="PA-矩形 4"/>
          <p:cNvSpPr>
            <a:spLocks noChangeArrowheads="1"/>
          </p:cNvSpPr>
          <p:nvPr>
            <p:custDataLst>
              <p:tags r:id="rId2"/>
            </p:custDataLst>
          </p:nvPr>
        </p:nvSpPr>
        <p:spPr bwMode="auto">
          <a:xfrm>
            <a:off x="7309908" y="1707426"/>
            <a:ext cx="4108980"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5.AI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生成图片</a:t>
            </a: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视频</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grpSp>
        <p:nvGrpSpPr>
          <p:cNvPr id="2" name="组合 1"/>
          <p:cNvGrpSpPr/>
          <p:nvPr/>
        </p:nvGrpSpPr>
        <p:grpSpPr>
          <a:xfrm>
            <a:off x="989385" y="2049215"/>
            <a:ext cx="3285709" cy="3231747"/>
            <a:chOff x="9925124" y="1746176"/>
            <a:chExt cx="3782016" cy="3719904"/>
          </a:xfrm>
          <a:solidFill>
            <a:schemeClr val="accent1"/>
          </a:solidFill>
        </p:grpSpPr>
        <p:sp>
          <p:nvSpPr>
            <p:cNvPr id="3" name="矩形: 圆角 2"/>
            <p:cNvSpPr/>
            <p:nvPr/>
          </p:nvSpPr>
          <p:spPr>
            <a:xfrm rot="16200000">
              <a:off x="10171988" y="3469498"/>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 name="矩形: 圆角 3"/>
            <p:cNvSpPr/>
            <p:nvPr/>
          </p:nvSpPr>
          <p:spPr>
            <a:xfrm rot="16416000">
              <a:off x="10175221" y="3260426"/>
              <a:ext cx="13704" cy="51389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 name="矩形: 圆角 4"/>
            <p:cNvSpPr/>
            <p:nvPr/>
          </p:nvSpPr>
          <p:spPr>
            <a:xfrm rot="16632001">
              <a:off x="10184905" y="3277870"/>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 name="矩形: 圆角 5"/>
            <p:cNvSpPr/>
            <p:nvPr/>
          </p:nvSpPr>
          <p:spPr>
            <a:xfrm rot="16847999">
              <a:off x="10201004" y="3148803"/>
              <a:ext cx="13704" cy="32889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 name="矩形: 圆角 6"/>
            <p:cNvSpPr/>
            <p:nvPr/>
          </p:nvSpPr>
          <p:spPr>
            <a:xfrm rot="17064000">
              <a:off x="10223455" y="2993534"/>
              <a:ext cx="13704" cy="43852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 name="矩形: 圆角 7"/>
            <p:cNvSpPr/>
            <p:nvPr/>
          </p:nvSpPr>
          <p:spPr>
            <a:xfrm rot="17280000">
              <a:off x="10252166" y="2860423"/>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 name="矩形: 圆角 8"/>
            <p:cNvSpPr/>
            <p:nvPr/>
          </p:nvSpPr>
          <p:spPr>
            <a:xfrm rot="17496000">
              <a:off x="10287028" y="2746435"/>
              <a:ext cx="13704" cy="54130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矩形: 圆角 9"/>
            <p:cNvSpPr/>
            <p:nvPr/>
          </p:nvSpPr>
          <p:spPr>
            <a:xfrm rot="17712001">
              <a:off x="10327900" y="2765010"/>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矩形: 圆角 10"/>
            <p:cNvSpPr/>
            <p:nvPr/>
          </p:nvSpPr>
          <p:spPr>
            <a:xfrm rot="17927999">
              <a:off x="10374621" y="2584199"/>
              <a:ext cx="13704" cy="49334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 name="矩形: 圆角 11"/>
            <p:cNvSpPr/>
            <p:nvPr/>
          </p:nvSpPr>
          <p:spPr>
            <a:xfrm rot="18144000">
              <a:off x="10427009" y="2454462"/>
              <a:ext cx="13704" cy="57556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 name="矩形: 圆角 12"/>
            <p:cNvSpPr/>
            <p:nvPr/>
          </p:nvSpPr>
          <p:spPr>
            <a:xfrm rot="18360000">
              <a:off x="10484855" y="2372723"/>
              <a:ext cx="13704" cy="56871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 name="矩形: 圆角 14"/>
            <p:cNvSpPr/>
            <p:nvPr/>
          </p:nvSpPr>
          <p:spPr>
            <a:xfrm rot="18576000">
              <a:off x="10547931" y="2479781"/>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 name="矩形: 圆角 15"/>
            <p:cNvSpPr/>
            <p:nvPr/>
          </p:nvSpPr>
          <p:spPr>
            <a:xfrm rot="18792001">
              <a:off x="10615990" y="2316880"/>
              <a:ext cx="13704" cy="36315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 name="矩形: 圆角 16"/>
            <p:cNvSpPr/>
            <p:nvPr/>
          </p:nvSpPr>
          <p:spPr>
            <a:xfrm rot="19007999">
              <a:off x="10688761" y="2264606"/>
              <a:ext cx="13704" cy="32204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矩形: 圆角 17"/>
            <p:cNvSpPr/>
            <p:nvPr/>
          </p:nvSpPr>
          <p:spPr>
            <a:xfrm rot="19224000">
              <a:off x="10765957" y="2169076"/>
              <a:ext cx="13704" cy="37685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 name="矩形: 圆角 18"/>
            <p:cNvSpPr/>
            <p:nvPr/>
          </p:nvSpPr>
          <p:spPr>
            <a:xfrm rot="19440000">
              <a:off x="10847275" y="2198434"/>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 name="矩形: 圆角 19"/>
            <p:cNvSpPr/>
            <p:nvPr/>
          </p:nvSpPr>
          <p:spPr>
            <a:xfrm rot="19656000">
              <a:off x="10932394" y="1982925"/>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1" name="矩形: 圆角 20"/>
            <p:cNvSpPr/>
            <p:nvPr/>
          </p:nvSpPr>
          <p:spPr>
            <a:xfrm rot="19872001">
              <a:off x="11020975" y="1992132"/>
              <a:ext cx="13704" cy="38371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2" name="矩形: 圆角 21"/>
            <p:cNvSpPr/>
            <p:nvPr/>
          </p:nvSpPr>
          <p:spPr>
            <a:xfrm rot="20087999">
              <a:off x="11112673" y="1863112"/>
              <a:ext cx="13704" cy="54815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3" name="矩形: 圆角 22"/>
            <p:cNvSpPr/>
            <p:nvPr/>
          </p:nvSpPr>
          <p:spPr>
            <a:xfrm rot="20304000">
              <a:off x="11207122" y="1979758"/>
              <a:ext cx="13704" cy="23296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4" name="矩形: 圆角 23"/>
            <p:cNvSpPr/>
            <p:nvPr/>
          </p:nvSpPr>
          <p:spPr>
            <a:xfrm rot="20520000">
              <a:off x="11303951" y="1958522"/>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5" name="矩形: 圆角 24"/>
            <p:cNvSpPr/>
            <p:nvPr/>
          </p:nvSpPr>
          <p:spPr>
            <a:xfrm rot="20736000">
              <a:off x="11402779" y="1919451"/>
              <a:ext cx="13704" cy="22611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矩形: 圆角 25"/>
            <p:cNvSpPr/>
            <p:nvPr/>
          </p:nvSpPr>
          <p:spPr>
            <a:xfrm rot="20952001">
              <a:off x="11503214" y="1746176"/>
              <a:ext cx="13704" cy="52760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7" name="矩形: 圆角 26"/>
            <p:cNvSpPr/>
            <p:nvPr/>
          </p:nvSpPr>
          <p:spPr>
            <a:xfrm rot="21167999">
              <a:off x="11604861" y="1843050"/>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8" name="矩形: 圆角 27"/>
            <p:cNvSpPr/>
            <p:nvPr/>
          </p:nvSpPr>
          <p:spPr>
            <a:xfrm rot="21384000">
              <a:off x="11707319" y="1888097"/>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9" name="矩形: 圆角 28"/>
            <p:cNvSpPr/>
            <p:nvPr/>
          </p:nvSpPr>
          <p:spPr>
            <a:xfrm>
              <a:off x="11810182" y="1843669"/>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0" name="矩形: 圆角 29"/>
            <p:cNvSpPr/>
            <p:nvPr/>
          </p:nvSpPr>
          <p:spPr>
            <a:xfrm rot="216000">
              <a:off x="11913044" y="1874225"/>
              <a:ext cx="13704" cy="21926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1" name="矩形: 圆角 30"/>
            <p:cNvSpPr/>
            <p:nvPr/>
          </p:nvSpPr>
          <p:spPr>
            <a:xfrm rot="432000">
              <a:off x="12015501" y="1880401"/>
              <a:ext cx="13704" cy="22611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2" name="矩形: 圆角 31"/>
            <p:cNvSpPr/>
            <p:nvPr/>
          </p:nvSpPr>
          <p:spPr>
            <a:xfrm rot="648000">
              <a:off x="12117147" y="1841602"/>
              <a:ext cx="13704" cy="33574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3" name="矩形: 圆角 32"/>
            <p:cNvSpPr/>
            <p:nvPr/>
          </p:nvSpPr>
          <p:spPr>
            <a:xfrm rot="864000">
              <a:off x="12217584" y="1905081"/>
              <a:ext cx="13704" cy="25352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4" name="矩形: 圆角 33"/>
            <p:cNvSpPr/>
            <p:nvPr/>
          </p:nvSpPr>
          <p:spPr>
            <a:xfrm rot="1080000">
              <a:off x="12316411" y="1827507"/>
              <a:ext cx="13704" cy="46593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5" name="矩形: 圆角 34"/>
            <p:cNvSpPr/>
            <p:nvPr/>
          </p:nvSpPr>
          <p:spPr>
            <a:xfrm rot="1296000">
              <a:off x="12413240" y="1965068"/>
              <a:ext cx="13704" cy="26037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6" name="矩形: 圆角 35"/>
            <p:cNvSpPr/>
            <p:nvPr/>
          </p:nvSpPr>
          <p:spPr>
            <a:xfrm rot="1512000">
              <a:off x="12507690" y="1875675"/>
              <a:ext cx="13704" cy="52074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7" name="矩形: 圆角 36"/>
            <p:cNvSpPr/>
            <p:nvPr/>
          </p:nvSpPr>
          <p:spPr>
            <a:xfrm rot="1728000">
              <a:off x="12599387" y="2004546"/>
              <a:ext cx="13704" cy="35630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8" name="矩形: 圆角 37"/>
            <p:cNvSpPr/>
            <p:nvPr/>
          </p:nvSpPr>
          <p:spPr>
            <a:xfrm rot="1944000">
              <a:off x="12687970" y="2005472"/>
              <a:ext cx="13704" cy="45908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9" name="矩形: 圆角 38"/>
            <p:cNvSpPr/>
            <p:nvPr/>
          </p:nvSpPr>
          <p:spPr>
            <a:xfrm rot="2160000">
              <a:off x="12773087" y="2128340"/>
              <a:ext cx="13704" cy="32889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0" name="矩形: 圆角 39"/>
            <p:cNvSpPr/>
            <p:nvPr/>
          </p:nvSpPr>
          <p:spPr>
            <a:xfrm rot="2376000">
              <a:off x="12854405" y="2253019"/>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1" name="矩形: 圆角 40"/>
            <p:cNvSpPr/>
            <p:nvPr/>
          </p:nvSpPr>
          <p:spPr>
            <a:xfrm rot="2592000">
              <a:off x="12931602" y="2211383"/>
              <a:ext cx="13704" cy="42482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2" name="矩形: 圆角 41"/>
            <p:cNvSpPr/>
            <p:nvPr/>
          </p:nvSpPr>
          <p:spPr>
            <a:xfrm rot="2808000">
              <a:off x="13004372" y="2239556"/>
              <a:ext cx="13704" cy="51389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3" name="矩形: 圆角 42"/>
            <p:cNvSpPr/>
            <p:nvPr/>
          </p:nvSpPr>
          <p:spPr>
            <a:xfrm rot="3024000">
              <a:off x="13072430" y="2330401"/>
              <a:ext cx="13704" cy="48648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4" name="矩形: 圆角 43"/>
            <p:cNvSpPr/>
            <p:nvPr/>
          </p:nvSpPr>
          <p:spPr>
            <a:xfrm rot="3240000">
              <a:off x="13116288" y="2520062"/>
              <a:ext cx="13704" cy="30833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5" name="矩形: 圆角 44"/>
            <p:cNvSpPr/>
            <p:nvPr/>
          </p:nvSpPr>
          <p:spPr>
            <a:xfrm rot="3456000">
              <a:off x="13193354" y="2500164"/>
              <a:ext cx="13704" cy="47963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6" name="矩形: 圆角 45"/>
            <p:cNvSpPr/>
            <p:nvPr/>
          </p:nvSpPr>
          <p:spPr>
            <a:xfrm rot="3672000">
              <a:off x="13245740" y="2674354"/>
              <a:ext cx="13704" cy="30833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7" name="矩形: 圆角 46"/>
            <p:cNvSpPr/>
            <p:nvPr/>
          </p:nvSpPr>
          <p:spPr>
            <a:xfrm rot="3888000">
              <a:off x="13292463" y="2762586"/>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8" name="矩形: 圆角 47"/>
            <p:cNvSpPr/>
            <p:nvPr/>
          </p:nvSpPr>
          <p:spPr>
            <a:xfrm rot="4104000">
              <a:off x="13333333" y="2918669"/>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9" name="矩形: 圆角 48"/>
            <p:cNvSpPr/>
            <p:nvPr/>
          </p:nvSpPr>
          <p:spPr>
            <a:xfrm rot="4320000">
              <a:off x="13368196" y="3005192"/>
              <a:ext cx="13704" cy="21241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0" name="矩形: 圆角 49"/>
            <p:cNvSpPr/>
            <p:nvPr/>
          </p:nvSpPr>
          <p:spPr>
            <a:xfrm rot="4536000">
              <a:off x="13396908" y="3045755"/>
              <a:ext cx="13704" cy="32889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1" name="矩形: 圆角 50"/>
            <p:cNvSpPr/>
            <p:nvPr/>
          </p:nvSpPr>
          <p:spPr>
            <a:xfrm rot="4752000">
              <a:off x="13458062" y="3142215"/>
              <a:ext cx="13704" cy="32204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2" name="矩形: 圆角 51"/>
            <p:cNvSpPr/>
            <p:nvPr/>
          </p:nvSpPr>
          <p:spPr>
            <a:xfrm rot="4968000">
              <a:off x="13435457" y="3165582"/>
              <a:ext cx="13704" cy="49334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3" name="矩形: 圆角 52"/>
            <p:cNvSpPr/>
            <p:nvPr/>
          </p:nvSpPr>
          <p:spPr>
            <a:xfrm rot="5184000">
              <a:off x="13445142" y="3312569"/>
              <a:ext cx="13704" cy="40426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4" name="矩形: 圆角 53"/>
            <p:cNvSpPr/>
            <p:nvPr/>
          </p:nvSpPr>
          <p:spPr>
            <a:xfrm rot="5400000">
              <a:off x="13448374" y="3511358"/>
              <a:ext cx="13704" cy="21241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5" name="矩形: 圆角 54"/>
            <p:cNvSpPr/>
            <p:nvPr/>
          </p:nvSpPr>
          <p:spPr>
            <a:xfrm rot="5616000">
              <a:off x="13445142" y="3562833"/>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6" name="矩形: 圆角 55"/>
            <p:cNvSpPr/>
            <p:nvPr/>
          </p:nvSpPr>
          <p:spPr>
            <a:xfrm rot="5832000">
              <a:off x="13435457" y="3589927"/>
              <a:ext cx="13704" cy="46593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7" name="矩形: 圆角 56"/>
            <p:cNvSpPr/>
            <p:nvPr/>
          </p:nvSpPr>
          <p:spPr>
            <a:xfrm rot="6048000">
              <a:off x="13419358" y="3643624"/>
              <a:ext cx="13704" cy="56186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8" name="矩形: 圆角 57"/>
            <p:cNvSpPr/>
            <p:nvPr/>
          </p:nvSpPr>
          <p:spPr>
            <a:xfrm rot="6264000">
              <a:off x="13396908" y="3891393"/>
              <a:ext cx="13704" cy="26722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9" name="矩形: 圆角 58"/>
            <p:cNvSpPr/>
            <p:nvPr/>
          </p:nvSpPr>
          <p:spPr>
            <a:xfrm rot="6480000">
              <a:off x="13368196" y="3928577"/>
              <a:ext cx="13704" cy="39056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0" name="矩形: 圆角 59"/>
            <p:cNvSpPr/>
            <p:nvPr/>
          </p:nvSpPr>
          <p:spPr>
            <a:xfrm rot="6696000">
              <a:off x="13333333" y="4042565"/>
              <a:ext cx="13704" cy="35630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1" name="矩形: 圆角 60"/>
            <p:cNvSpPr/>
            <p:nvPr/>
          </p:nvSpPr>
          <p:spPr>
            <a:xfrm rot="6912000">
              <a:off x="13292463" y="4161029"/>
              <a:ext cx="13704" cy="30833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2" name="矩形: 圆角 61"/>
            <p:cNvSpPr/>
            <p:nvPr/>
          </p:nvSpPr>
          <p:spPr>
            <a:xfrm rot="7128000">
              <a:off x="13245740" y="4146559"/>
              <a:ext cx="13704" cy="52074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3" name="矩形: 圆角 62"/>
            <p:cNvSpPr/>
            <p:nvPr/>
          </p:nvSpPr>
          <p:spPr>
            <a:xfrm rot="7344000">
              <a:off x="13193354" y="4242036"/>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4" name="矩形: 圆角 63"/>
            <p:cNvSpPr/>
            <p:nvPr/>
          </p:nvSpPr>
          <p:spPr>
            <a:xfrm rot="7560000">
              <a:off x="13135507" y="4467667"/>
              <a:ext cx="13704" cy="22611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5" name="矩形: 圆角 64"/>
            <p:cNvSpPr/>
            <p:nvPr/>
          </p:nvSpPr>
          <p:spPr>
            <a:xfrm rot="7776000">
              <a:off x="13072430" y="4415424"/>
              <a:ext cx="13704" cy="49334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6" name="矩形: 圆角 65"/>
            <p:cNvSpPr/>
            <p:nvPr/>
          </p:nvSpPr>
          <p:spPr>
            <a:xfrm rot="7992000">
              <a:off x="13004372" y="4485824"/>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7" name="矩形: 圆角 66"/>
            <p:cNvSpPr/>
            <p:nvPr/>
          </p:nvSpPr>
          <p:spPr>
            <a:xfrm rot="8208000">
              <a:off x="12931602" y="4548376"/>
              <a:ext cx="13704" cy="52760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8" name="矩形: 圆角 67"/>
            <p:cNvSpPr/>
            <p:nvPr/>
          </p:nvSpPr>
          <p:spPr>
            <a:xfrm rot="8424000">
              <a:off x="12854405" y="4674739"/>
              <a:ext cx="13704" cy="41111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9" name="矩形: 圆角 68"/>
            <p:cNvSpPr/>
            <p:nvPr/>
          </p:nvSpPr>
          <p:spPr>
            <a:xfrm rot="8640000">
              <a:off x="12773087" y="4806402"/>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0" name="矩形: 圆角 69"/>
            <p:cNvSpPr/>
            <p:nvPr/>
          </p:nvSpPr>
          <p:spPr>
            <a:xfrm rot="8856000">
              <a:off x="12687970" y="4898577"/>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1" name="矩形: 圆角 70"/>
            <p:cNvSpPr/>
            <p:nvPr/>
          </p:nvSpPr>
          <p:spPr>
            <a:xfrm rot="9072000">
              <a:off x="12599387" y="4786590"/>
              <a:ext cx="13704" cy="53445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2" name="矩形: 圆角 71"/>
            <p:cNvSpPr/>
            <p:nvPr/>
          </p:nvSpPr>
          <p:spPr>
            <a:xfrm rot="9288000">
              <a:off x="12507690" y="4812830"/>
              <a:ext cx="13704" cy="57556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3" name="矩形: 圆角 72"/>
            <p:cNvSpPr/>
            <p:nvPr/>
          </p:nvSpPr>
          <p:spPr>
            <a:xfrm rot="9504000">
              <a:off x="12413240" y="4912022"/>
              <a:ext cx="13704" cy="45908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4" name="矩形: 圆角 73"/>
            <p:cNvSpPr/>
            <p:nvPr/>
          </p:nvSpPr>
          <p:spPr>
            <a:xfrm rot="9720000">
              <a:off x="12316411" y="5073723"/>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5" name="矩形: 圆角 74"/>
            <p:cNvSpPr/>
            <p:nvPr/>
          </p:nvSpPr>
          <p:spPr>
            <a:xfrm rot="9936000">
              <a:off x="12217584" y="4951772"/>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6" name="矩形: 圆角 75"/>
            <p:cNvSpPr/>
            <p:nvPr/>
          </p:nvSpPr>
          <p:spPr>
            <a:xfrm rot="10152000">
              <a:off x="12117147" y="5011990"/>
              <a:ext cx="13704" cy="43167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7" name="矩形: 圆角 76"/>
            <p:cNvSpPr/>
            <p:nvPr/>
          </p:nvSpPr>
          <p:spPr>
            <a:xfrm rot="10368000">
              <a:off x="12015501" y="5093267"/>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8" name="矩形: 圆角 77"/>
            <p:cNvSpPr/>
            <p:nvPr/>
          </p:nvSpPr>
          <p:spPr>
            <a:xfrm rot="10584000">
              <a:off x="11913044" y="5127017"/>
              <a:ext cx="13704" cy="25352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9" name="矩形: 圆角 78"/>
            <p:cNvSpPr/>
            <p:nvPr/>
          </p:nvSpPr>
          <p:spPr>
            <a:xfrm rot="10800000">
              <a:off x="11810182" y="5048110"/>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0" name="矩形: 圆角 79"/>
            <p:cNvSpPr/>
            <p:nvPr/>
          </p:nvSpPr>
          <p:spPr>
            <a:xfrm rot="11016000">
              <a:off x="11707319" y="5127186"/>
              <a:ext cx="13704" cy="25352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1" name="矩形: 圆角 80"/>
            <p:cNvSpPr/>
            <p:nvPr/>
          </p:nvSpPr>
          <p:spPr>
            <a:xfrm rot="11232000">
              <a:off x="11604861" y="5076473"/>
              <a:ext cx="13704" cy="33574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2" name="矩形: 圆角 81"/>
            <p:cNvSpPr/>
            <p:nvPr/>
          </p:nvSpPr>
          <p:spPr>
            <a:xfrm rot="11448000">
              <a:off x="11503214" y="4995362"/>
              <a:ext cx="13704" cy="46593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3" name="矩形: 圆角 82"/>
            <p:cNvSpPr/>
            <p:nvPr/>
          </p:nvSpPr>
          <p:spPr>
            <a:xfrm rot="11664000">
              <a:off x="11402779" y="5048365"/>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4" name="矩形: 圆角 83"/>
            <p:cNvSpPr/>
            <p:nvPr/>
          </p:nvSpPr>
          <p:spPr>
            <a:xfrm rot="11880000">
              <a:off x="11303951" y="5060846"/>
              <a:ext cx="13704" cy="23296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5" name="矩形: 圆角 84"/>
            <p:cNvSpPr/>
            <p:nvPr/>
          </p:nvSpPr>
          <p:spPr>
            <a:xfrm rot="12096000">
              <a:off x="11207122" y="4933564"/>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6" name="矩形: 圆角 85"/>
            <p:cNvSpPr/>
            <p:nvPr/>
          </p:nvSpPr>
          <p:spPr>
            <a:xfrm rot="12312000">
              <a:off x="11112673" y="4837953"/>
              <a:ext cx="13704" cy="52760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7" name="矩形: 圆角 86"/>
            <p:cNvSpPr/>
            <p:nvPr/>
          </p:nvSpPr>
          <p:spPr>
            <a:xfrm rot="12528000">
              <a:off x="11020975" y="4818714"/>
              <a:ext cx="13704" cy="47278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8" name="矩形: 圆角 87"/>
            <p:cNvSpPr/>
            <p:nvPr/>
          </p:nvSpPr>
          <p:spPr>
            <a:xfrm rot="12744000">
              <a:off x="10932394" y="4845196"/>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9" name="矩形: 圆角 88"/>
            <p:cNvSpPr/>
            <p:nvPr/>
          </p:nvSpPr>
          <p:spPr>
            <a:xfrm rot="12960000">
              <a:off x="10847275" y="4770291"/>
              <a:ext cx="13704" cy="34945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0" name="矩形: 圆角 89"/>
            <p:cNvSpPr/>
            <p:nvPr/>
          </p:nvSpPr>
          <p:spPr>
            <a:xfrm rot="13176000">
              <a:off x="10765957" y="4772374"/>
              <a:ext cx="13704" cy="21926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1" name="矩形: 圆角 90"/>
            <p:cNvSpPr/>
            <p:nvPr/>
          </p:nvSpPr>
          <p:spPr>
            <a:xfrm rot="13392000">
              <a:off x="10688761" y="4563913"/>
              <a:ext cx="13704" cy="50019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2" name="矩形: 圆角 91"/>
            <p:cNvSpPr/>
            <p:nvPr/>
          </p:nvSpPr>
          <p:spPr>
            <a:xfrm rot="13608000">
              <a:off x="10615990" y="4532314"/>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3" name="矩形: 圆角 92"/>
            <p:cNvSpPr/>
            <p:nvPr/>
          </p:nvSpPr>
          <p:spPr>
            <a:xfrm rot="13824000">
              <a:off x="10547931" y="4390079"/>
              <a:ext cx="13704" cy="54815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4" name="矩形: 圆角 93"/>
            <p:cNvSpPr/>
            <p:nvPr/>
          </p:nvSpPr>
          <p:spPr>
            <a:xfrm rot="14040000">
              <a:off x="10484855" y="4421870"/>
              <a:ext cx="13704" cy="32204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5" name="矩形: 圆角 94"/>
            <p:cNvSpPr/>
            <p:nvPr/>
          </p:nvSpPr>
          <p:spPr>
            <a:xfrm rot="14256000">
              <a:off x="10427009" y="4329948"/>
              <a:ext cx="13704" cy="33574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6" name="矩形: 圆角 95"/>
            <p:cNvSpPr/>
            <p:nvPr/>
          </p:nvSpPr>
          <p:spPr>
            <a:xfrm rot="14472000">
              <a:off x="10374621" y="4203722"/>
              <a:ext cx="13704" cy="41111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7" name="矩形: 圆角 96"/>
            <p:cNvSpPr/>
            <p:nvPr/>
          </p:nvSpPr>
          <p:spPr>
            <a:xfrm rot="14688000">
              <a:off x="10327900" y="4088081"/>
              <a:ext cx="13704" cy="45908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8" name="矩形: 圆角 97"/>
            <p:cNvSpPr/>
            <p:nvPr/>
          </p:nvSpPr>
          <p:spPr>
            <a:xfrm rot="14904000">
              <a:off x="10287028" y="3945702"/>
              <a:ext cx="13704" cy="55500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9" name="矩形: 圆角 98"/>
            <p:cNvSpPr/>
            <p:nvPr/>
          </p:nvSpPr>
          <p:spPr>
            <a:xfrm rot="15120000">
              <a:off x="10252166" y="4009922"/>
              <a:ext cx="13704" cy="23296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0" name="矩形: 圆角 99"/>
            <p:cNvSpPr/>
            <p:nvPr/>
          </p:nvSpPr>
          <p:spPr>
            <a:xfrm rot="15336000">
              <a:off x="10223455" y="3876857"/>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1" name="矩形: 圆角 100"/>
            <p:cNvSpPr/>
            <p:nvPr/>
          </p:nvSpPr>
          <p:spPr>
            <a:xfrm rot="15552001">
              <a:off x="10201004" y="3790146"/>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2" name="矩形: 圆角 101"/>
            <p:cNvSpPr/>
            <p:nvPr/>
          </p:nvSpPr>
          <p:spPr>
            <a:xfrm rot="15767999">
              <a:off x="10184905" y="3616565"/>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3" name="矩形: 圆角 102"/>
            <p:cNvSpPr/>
            <p:nvPr/>
          </p:nvSpPr>
          <p:spPr>
            <a:xfrm rot="15984000">
              <a:off x="10175221" y="3620322"/>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grpSp>
      <p:grpSp>
        <p:nvGrpSpPr>
          <p:cNvPr id="104" name="组合 103"/>
          <p:cNvGrpSpPr/>
          <p:nvPr/>
        </p:nvGrpSpPr>
        <p:grpSpPr>
          <a:xfrm rot="4550021">
            <a:off x="1443990" y="2496354"/>
            <a:ext cx="2376499" cy="2337469"/>
            <a:chOff x="9925124" y="1746176"/>
            <a:chExt cx="3782016" cy="3719904"/>
          </a:xfrm>
          <a:solidFill>
            <a:schemeClr val="accent1"/>
          </a:solidFill>
        </p:grpSpPr>
        <p:sp>
          <p:nvSpPr>
            <p:cNvPr id="105" name="矩形: 圆角 104"/>
            <p:cNvSpPr/>
            <p:nvPr/>
          </p:nvSpPr>
          <p:spPr>
            <a:xfrm rot="16200000">
              <a:off x="10171988" y="3469498"/>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6" name="矩形: 圆角 105"/>
            <p:cNvSpPr/>
            <p:nvPr/>
          </p:nvSpPr>
          <p:spPr>
            <a:xfrm rot="16416000">
              <a:off x="10175221" y="3260426"/>
              <a:ext cx="13704" cy="51389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7" name="矩形: 圆角 106"/>
            <p:cNvSpPr/>
            <p:nvPr/>
          </p:nvSpPr>
          <p:spPr>
            <a:xfrm rot="16632001">
              <a:off x="10184905" y="3277870"/>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8" name="矩形: 圆角 107"/>
            <p:cNvSpPr/>
            <p:nvPr/>
          </p:nvSpPr>
          <p:spPr>
            <a:xfrm rot="16847999">
              <a:off x="10201004" y="3148803"/>
              <a:ext cx="13704" cy="32889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9" name="矩形: 圆角 108"/>
            <p:cNvSpPr/>
            <p:nvPr/>
          </p:nvSpPr>
          <p:spPr>
            <a:xfrm rot="17064000">
              <a:off x="10223455" y="2993534"/>
              <a:ext cx="13704" cy="43852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0" name="矩形: 圆角 109"/>
            <p:cNvSpPr/>
            <p:nvPr/>
          </p:nvSpPr>
          <p:spPr>
            <a:xfrm rot="17280000">
              <a:off x="10252166" y="2860423"/>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1" name="矩形: 圆角 110"/>
            <p:cNvSpPr/>
            <p:nvPr/>
          </p:nvSpPr>
          <p:spPr>
            <a:xfrm rot="17496000">
              <a:off x="10287028" y="2746435"/>
              <a:ext cx="13704" cy="54130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2" name="矩形: 圆角 111"/>
            <p:cNvSpPr/>
            <p:nvPr/>
          </p:nvSpPr>
          <p:spPr>
            <a:xfrm rot="17712001">
              <a:off x="10327900" y="2765010"/>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3" name="矩形: 圆角 112"/>
            <p:cNvSpPr/>
            <p:nvPr/>
          </p:nvSpPr>
          <p:spPr>
            <a:xfrm rot="17927999">
              <a:off x="10374621" y="2584199"/>
              <a:ext cx="13704" cy="49334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4" name="矩形: 圆角 113"/>
            <p:cNvSpPr/>
            <p:nvPr/>
          </p:nvSpPr>
          <p:spPr>
            <a:xfrm rot="18144000">
              <a:off x="10427009" y="2454462"/>
              <a:ext cx="13704" cy="57556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5" name="矩形: 圆角 114"/>
            <p:cNvSpPr/>
            <p:nvPr/>
          </p:nvSpPr>
          <p:spPr>
            <a:xfrm rot="18360000">
              <a:off x="10484855" y="2372723"/>
              <a:ext cx="13704" cy="56871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6" name="矩形: 圆角 115"/>
            <p:cNvSpPr/>
            <p:nvPr/>
          </p:nvSpPr>
          <p:spPr>
            <a:xfrm rot="18576000">
              <a:off x="10547931" y="2479781"/>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7" name="矩形: 圆角 116"/>
            <p:cNvSpPr/>
            <p:nvPr/>
          </p:nvSpPr>
          <p:spPr>
            <a:xfrm rot="18792001">
              <a:off x="10615990" y="2316880"/>
              <a:ext cx="13704" cy="36315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8" name="矩形: 圆角 117"/>
            <p:cNvSpPr/>
            <p:nvPr/>
          </p:nvSpPr>
          <p:spPr>
            <a:xfrm rot="19007999">
              <a:off x="10688761" y="2264606"/>
              <a:ext cx="13704" cy="32204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9" name="矩形: 圆角 118"/>
            <p:cNvSpPr/>
            <p:nvPr/>
          </p:nvSpPr>
          <p:spPr>
            <a:xfrm rot="19224000">
              <a:off x="10765957" y="2169076"/>
              <a:ext cx="13704" cy="37685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0" name="矩形: 圆角 119"/>
            <p:cNvSpPr/>
            <p:nvPr/>
          </p:nvSpPr>
          <p:spPr>
            <a:xfrm rot="19440000">
              <a:off x="10847275" y="2198434"/>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1" name="矩形: 圆角 120"/>
            <p:cNvSpPr/>
            <p:nvPr/>
          </p:nvSpPr>
          <p:spPr>
            <a:xfrm rot="19656000">
              <a:off x="10932394" y="1982925"/>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2" name="矩形: 圆角 121"/>
            <p:cNvSpPr/>
            <p:nvPr/>
          </p:nvSpPr>
          <p:spPr>
            <a:xfrm rot="19872001">
              <a:off x="11020975" y="1992132"/>
              <a:ext cx="13704" cy="38371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3" name="矩形: 圆角 122"/>
            <p:cNvSpPr/>
            <p:nvPr/>
          </p:nvSpPr>
          <p:spPr>
            <a:xfrm rot="20087999">
              <a:off x="11112673" y="1863112"/>
              <a:ext cx="13704" cy="54815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4" name="矩形: 圆角 123"/>
            <p:cNvSpPr/>
            <p:nvPr/>
          </p:nvSpPr>
          <p:spPr>
            <a:xfrm rot="20304000">
              <a:off x="11207122" y="1979758"/>
              <a:ext cx="13704" cy="23296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5" name="矩形: 圆角 124"/>
            <p:cNvSpPr/>
            <p:nvPr/>
          </p:nvSpPr>
          <p:spPr>
            <a:xfrm rot="20520000">
              <a:off x="11303951" y="1958522"/>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6" name="矩形: 圆角 125"/>
            <p:cNvSpPr/>
            <p:nvPr/>
          </p:nvSpPr>
          <p:spPr>
            <a:xfrm rot="20736000">
              <a:off x="11402779" y="1919451"/>
              <a:ext cx="13704" cy="22611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7" name="矩形: 圆角 126"/>
            <p:cNvSpPr/>
            <p:nvPr/>
          </p:nvSpPr>
          <p:spPr>
            <a:xfrm rot="20952001">
              <a:off x="11503214" y="1746176"/>
              <a:ext cx="13704" cy="52760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8" name="矩形: 圆角 127"/>
            <p:cNvSpPr/>
            <p:nvPr/>
          </p:nvSpPr>
          <p:spPr>
            <a:xfrm rot="21167999">
              <a:off x="11604861" y="1843050"/>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9" name="矩形: 圆角 128"/>
            <p:cNvSpPr/>
            <p:nvPr/>
          </p:nvSpPr>
          <p:spPr>
            <a:xfrm rot="21384000">
              <a:off x="11707319" y="1888097"/>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0" name="矩形: 圆角 129"/>
            <p:cNvSpPr/>
            <p:nvPr/>
          </p:nvSpPr>
          <p:spPr>
            <a:xfrm>
              <a:off x="11810182" y="1843669"/>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1" name="矩形: 圆角 130"/>
            <p:cNvSpPr/>
            <p:nvPr/>
          </p:nvSpPr>
          <p:spPr>
            <a:xfrm rot="216000">
              <a:off x="11913044" y="1874225"/>
              <a:ext cx="13704" cy="21926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2" name="矩形: 圆角 131"/>
            <p:cNvSpPr/>
            <p:nvPr/>
          </p:nvSpPr>
          <p:spPr>
            <a:xfrm rot="432000">
              <a:off x="12015501" y="1880401"/>
              <a:ext cx="13704" cy="22611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3" name="矩形: 圆角 132"/>
            <p:cNvSpPr/>
            <p:nvPr/>
          </p:nvSpPr>
          <p:spPr>
            <a:xfrm rot="648000">
              <a:off x="12117147" y="1841602"/>
              <a:ext cx="13704" cy="33574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4" name="矩形: 圆角 133"/>
            <p:cNvSpPr/>
            <p:nvPr/>
          </p:nvSpPr>
          <p:spPr>
            <a:xfrm rot="864000">
              <a:off x="12217584" y="1905081"/>
              <a:ext cx="13704" cy="25352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5" name="矩形: 圆角 134"/>
            <p:cNvSpPr/>
            <p:nvPr/>
          </p:nvSpPr>
          <p:spPr>
            <a:xfrm rot="1080000">
              <a:off x="12316411" y="1827507"/>
              <a:ext cx="13704" cy="46593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6" name="矩形: 圆角 135"/>
            <p:cNvSpPr/>
            <p:nvPr/>
          </p:nvSpPr>
          <p:spPr>
            <a:xfrm rot="1296000">
              <a:off x="12413240" y="1965068"/>
              <a:ext cx="13704" cy="26037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7" name="矩形: 圆角 136"/>
            <p:cNvSpPr/>
            <p:nvPr/>
          </p:nvSpPr>
          <p:spPr>
            <a:xfrm rot="1512000">
              <a:off x="12507690" y="1875675"/>
              <a:ext cx="13704" cy="52074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8" name="矩形: 圆角 137"/>
            <p:cNvSpPr/>
            <p:nvPr/>
          </p:nvSpPr>
          <p:spPr>
            <a:xfrm rot="1728000">
              <a:off x="12599387" y="2004546"/>
              <a:ext cx="13704" cy="35630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9" name="矩形: 圆角 138"/>
            <p:cNvSpPr/>
            <p:nvPr/>
          </p:nvSpPr>
          <p:spPr>
            <a:xfrm rot="1944000">
              <a:off x="12687970" y="2005472"/>
              <a:ext cx="13704" cy="45908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0" name="矩形: 圆角 139"/>
            <p:cNvSpPr/>
            <p:nvPr/>
          </p:nvSpPr>
          <p:spPr>
            <a:xfrm rot="2160000">
              <a:off x="12773087" y="2128340"/>
              <a:ext cx="13704" cy="32889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1" name="矩形: 圆角 140"/>
            <p:cNvSpPr/>
            <p:nvPr/>
          </p:nvSpPr>
          <p:spPr>
            <a:xfrm rot="2376000">
              <a:off x="12854405" y="2253019"/>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2" name="矩形: 圆角 141"/>
            <p:cNvSpPr/>
            <p:nvPr/>
          </p:nvSpPr>
          <p:spPr>
            <a:xfrm rot="2592000">
              <a:off x="12931602" y="2211383"/>
              <a:ext cx="13704" cy="42482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3" name="矩形: 圆角 142"/>
            <p:cNvSpPr/>
            <p:nvPr/>
          </p:nvSpPr>
          <p:spPr>
            <a:xfrm rot="2808000">
              <a:off x="13004372" y="2239556"/>
              <a:ext cx="13704" cy="51389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4" name="矩形: 圆角 143"/>
            <p:cNvSpPr/>
            <p:nvPr/>
          </p:nvSpPr>
          <p:spPr>
            <a:xfrm rot="3024000">
              <a:off x="13072430" y="2330401"/>
              <a:ext cx="13704" cy="48648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5" name="矩形: 圆角 144"/>
            <p:cNvSpPr/>
            <p:nvPr/>
          </p:nvSpPr>
          <p:spPr>
            <a:xfrm rot="3240000">
              <a:off x="13116288" y="2520062"/>
              <a:ext cx="13704" cy="30833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6" name="矩形: 圆角 145"/>
            <p:cNvSpPr/>
            <p:nvPr/>
          </p:nvSpPr>
          <p:spPr>
            <a:xfrm rot="3456000">
              <a:off x="13193354" y="2500164"/>
              <a:ext cx="13704" cy="47963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7" name="矩形: 圆角 146"/>
            <p:cNvSpPr/>
            <p:nvPr/>
          </p:nvSpPr>
          <p:spPr>
            <a:xfrm rot="3672000">
              <a:off x="13245740" y="2674354"/>
              <a:ext cx="13704" cy="30833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8" name="矩形: 圆角 147"/>
            <p:cNvSpPr/>
            <p:nvPr/>
          </p:nvSpPr>
          <p:spPr>
            <a:xfrm rot="3888000">
              <a:off x="13292463" y="2762586"/>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49" name="矩形: 圆角 148"/>
            <p:cNvSpPr/>
            <p:nvPr/>
          </p:nvSpPr>
          <p:spPr>
            <a:xfrm rot="4104000">
              <a:off x="13333333" y="2918669"/>
              <a:ext cx="13704" cy="19185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0" name="矩形: 圆角 149"/>
            <p:cNvSpPr/>
            <p:nvPr/>
          </p:nvSpPr>
          <p:spPr>
            <a:xfrm rot="4320000">
              <a:off x="13368196" y="3005192"/>
              <a:ext cx="13704" cy="21241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1" name="矩形: 圆角 150"/>
            <p:cNvSpPr/>
            <p:nvPr/>
          </p:nvSpPr>
          <p:spPr>
            <a:xfrm rot="4536000">
              <a:off x="13396908" y="3045755"/>
              <a:ext cx="13704" cy="32889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2" name="矩形: 圆角 151"/>
            <p:cNvSpPr/>
            <p:nvPr/>
          </p:nvSpPr>
          <p:spPr>
            <a:xfrm rot="4752000">
              <a:off x="13458062" y="3142215"/>
              <a:ext cx="13704" cy="32204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3" name="矩形: 圆角 152"/>
            <p:cNvSpPr/>
            <p:nvPr/>
          </p:nvSpPr>
          <p:spPr>
            <a:xfrm rot="4968000">
              <a:off x="13435457" y="3165582"/>
              <a:ext cx="13704" cy="49334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4" name="矩形: 圆角 153"/>
            <p:cNvSpPr/>
            <p:nvPr/>
          </p:nvSpPr>
          <p:spPr>
            <a:xfrm rot="5184000">
              <a:off x="13445142" y="3312569"/>
              <a:ext cx="13704" cy="40426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5" name="矩形: 圆角 154"/>
            <p:cNvSpPr/>
            <p:nvPr/>
          </p:nvSpPr>
          <p:spPr>
            <a:xfrm rot="5400000">
              <a:off x="13448374" y="3511358"/>
              <a:ext cx="13704" cy="21241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6" name="矩形: 圆角 155"/>
            <p:cNvSpPr/>
            <p:nvPr/>
          </p:nvSpPr>
          <p:spPr>
            <a:xfrm rot="5616000">
              <a:off x="13445142" y="3562833"/>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7" name="矩形: 圆角 156"/>
            <p:cNvSpPr/>
            <p:nvPr/>
          </p:nvSpPr>
          <p:spPr>
            <a:xfrm rot="5832000">
              <a:off x="13435457" y="3589927"/>
              <a:ext cx="13704" cy="46593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8" name="矩形: 圆角 157"/>
            <p:cNvSpPr/>
            <p:nvPr/>
          </p:nvSpPr>
          <p:spPr>
            <a:xfrm rot="6048000">
              <a:off x="13419358" y="3643624"/>
              <a:ext cx="13704" cy="56186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9" name="矩形: 圆角 158"/>
            <p:cNvSpPr/>
            <p:nvPr/>
          </p:nvSpPr>
          <p:spPr>
            <a:xfrm rot="6264000">
              <a:off x="13396908" y="3891393"/>
              <a:ext cx="13704" cy="26722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0" name="矩形: 圆角 159"/>
            <p:cNvSpPr/>
            <p:nvPr/>
          </p:nvSpPr>
          <p:spPr>
            <a:xfrm rot="6480000">
              <a:off x="13368196" y="3928577"/>
              <a:ext cx="13704" cy="39056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1" name="矩形: 圆角 160"/>
            <p:cNvSpPr/>
            <p:nvPr/>
          </p:nvSpPr>
          <p:spPr>
            <a:xfrm rot="6696000">
              <a:off x="13333333" y="4042565"/>
              <a:ext cx="13704" cy="35630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2" name="矩形: 圆角 161"/>
            <p:cNvSpPr/>
            <p:nvPr/>
          </p:nvSpPr>
          <p:spPr>
            <a:xfrm rot="6912000">
              <a:off x="13292463" y="4161029"/>
              <a:ext cx="13704" cy="30833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3" name="矩形: 圆角 162"/>
            <p:cNvSpPr/>
            <p:nvPr/>
          </p:nvSpPr>
          <p:spPr>
            <a:xfrm rot="7128000">
              <a:off x="13245740" y="4146559"/>
              <a:ext cx="13704" cy="52074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4" name="矩形: 圆角 163"/>
            <p:cNvSpPr/>
            <p:nvPr/>
          </p:nvSpPr>
          <p:spPr>
            <a:xfrm rot="7344000">
              <a:off x="13193354" y="4242036"/>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5" name="矩形: 圆角 164"/>
            <p:cNvSpPr/>
            <p:nvPr/>
          </p:nvSpPr>
          <p:spPr>
            <a:xfrm rot="7560000">
              <a:off x="13135507" y="4467667"/>
              <a:ext cx="13704" cy="22611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6" name="矩形: 圆角 165"/>
            <p:cNvSpPr/>
            <p:nvPr/>
          </p:nvSpPr>
          <p:spPr>
            <a:xfrm rot="7776000">
              <a:off x="13072430" y="4415424"/>
              <a:ext cx="13704" cy="49334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7" name="矩形: 圆角 166"/>
            <p:cNvSpPr/>
            <p:nvPr/>
          </p:nvSpPr>
          <p:spPr>
            <a:xfrm rot="7992000">
              <a:off x="13004372" y="4485824"/>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8" name="矩形: 圆角 167"/>
            <p:cNvSpPr/>
            <p:nvPr/>
          </p:nvSpPr>
          <p:spPr>
            <a:xfrm rot="8208000">
              <a:off x="12931602" y="4548376"/>
              <a:ext cx="13704" cy="52760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9" name="矩形: 圆角 168"/>
            <p:cNvSpPr/>
            <p:nvPr/>
          </p:nvSpPr>
          <p:spPr>
            <a:xfrm rot="8424000">
              <a:off x="12854405" y="4674739"/>
              <a:ext cx="13704" cy="41111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0" name="矩形: 圆角 169"/>
            <p:cNvSpPr/>
            <p:nvPr/>
          </p:nvSpPr>
          <p:spPr>
            <a:xfrm rot="8640000">
              <a:off x="12773087" y="4806402"/>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1" name="矩形: 圆角 170"/>
            <p:cNvSpPr/>
            <p:nvPr/>
          </p:nvSpPr>
          <p:spPr>
            <a:xfrm rot="8856000">
              <a:off x="12687970" y="4898577"/>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2" name="矩形: 圆角 171"/>
            <p:cNvSpPr/>
            <p:nvPr/>
          </p:nvSpPr>
          <p:spPr>
            <a:xfrm rot="9072000">
              <a:off x="12599387" y="4786590"/>
              <a:ext cx="13704" cy="53445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3" name="矩形: 圆角 172"/>
            <p:cNvSpPr/>
            <p:nvPr/>
          </p:nvSpPr>
          <p:spPr>
            <a:xfrm rot="9288000">
              <a:off x="12507690" y="4812830"/>
              <a:ext cx="13704" cy="57556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4" name="矩形: 圆角 173"/>
            <p:cNvSpPr/>
            <p:nvPr/>
          </p:nvSpPr>
          <p:spPr>
            <a:xfrm rot="9504000">
              <a:off x="12413240" y="4912022"/>
              <a:ext cx="13704" cy="45908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5" name="矩形: 圆角 174"/>
            <p:cNvSpPr/>
            <p:nvPr/>
          </p:nvSpPr>
          <p:spPr>
            <a:xfrm rot="9720000">
              <a:off x="12316411" y="5073723"/>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6" name="矩形: 圆角 175"/>
            <p:cNvSpPr/>
            <p:nvPr/>
          </p:nvSpPr>
          <p:spPr>
            <a:xfrm rot="9936000">
              <a:off x="12217584" y="4951772"/>
              <a:ext cx="13704" cy="50704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7" name="矩形: 圆角 176"/>
            <p:cNvSpPr/>
            <p:nvPr/>
          </p:nvSpPr>
          <p:spPr>
            <a:xfrm rot="10152000">
              <a:off x="12117147" y="5011990"/>
              <a:ext cx="13704" cy="431674"/>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8" name="矩形: 圆角 177"/>
            <p:cNvSpPr/>
            <p:nvPr/>
          </p:nvSpPr>
          <p:spPr>
            <a:xfrm rot="10368000">
              <a:off x="12015501" y="5093267"/>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9" name="矩形: 圆角 178"/>
            <p:cNvSpPr/>
            <p:nvPr/>
          </p:nvSpPr>
          <p:spPr>
            <a:xfrm rot="10584000">
              <a:off x="11913044" y="5127017"/>
              <a:ext cx="13704" cy="25352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0" name="矩形: 圆角 179"/>
            <p:cNvSpPr/>
            <p:nvPr/>
          </p:nvSpPr>
          <p:spPr>
            <a:xfrm rot="10800000">
              <a:off x="11810182" y="5048110"/>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1" name="矩形: 圆角 180"/>
            <p:cNvSpPr/>
            <p:nvPr/>
          </p:nvSpPr>
          <p:spPr>
            <a:xfrm rot="11016000">
              <a:off x="11707319" y="5127186"/>
              <a:ext cx="13704" cy="25352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2" name="矩形: 圆角 181"/>
            <p:cNvSpPr/>
            <p:nvPr/>
          </p:nvSpPr>
          <p:spPr>
            <a:xfrm rot="11232000">
              <a:off x="11604861" y="5076473"/>
              <a:ext cx="13704" cy="33574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3" name="矩形: 圆角 182"/>
            <p:cNvSpPr/>
            <p:nvPr/>
          </p:nvSpPr>
          <p:spPr>
            <a:xfrm rot="11448000">
              <a:off x="11503214" y="4995362"/>
              <a:ext cx="13704" cy="46593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4" name="矩形: 圆角 183"/>
            <p:cNvSpPr/>
            <p:nvPr/>
          </p:nvSpPr>
          <p:spPr>
            <a:xfrm rot="11664000">
              <a:off x="11402779" y="5048365"/>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5" name="矩形: 圆角 184"/>
            <p:cNvSpPr/>
            <p:nvPr/>
          </p:nvSpPr>
          <p:spPr>
            <a:xfrm rot="11880000">
              <a:off x="11303951" y="5060846"/>
              <a:ext cx="13704" cy="23296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6" name="矩形: 圆角 185"/>
            <p:cNvSpPr/>
            <p:nvPr/>
          </p:nvSpPr>
          <p:spPr>
            <a:xfrm rot="12096000">
              <a:off x="11207122" y="4933564"/>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7" name="矩形: 圆角 186"/>
            <p:cNvSpPr/>
            <p:nvPr/>
          </p:nvSpPr>
          <p:spPr>
            <a:xfrm rot="12312000">
              <a:off x="11112673" y="4837953"/>
              <a:ext cx="13704" cy="52760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8" name="矩形: 圆角 187"/>
            <p:cNvSpPr/>
            <p:nvPr/>
          </p:nvSpPr>
          <p:spPr>
            <a:xfrm rot="12528000">
              <a:off x="11020975" y="4818714"/>
              <a:ext cx="13704" cy="472785"/>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9" name="矩形: 圆角 188"/>
            <p:cNvSpPr/>
            <p:nvPr/>
          </p:nvSpPr>
          <p:spPr>
            <a:xfrm rot="12744000">
              <a:off x="10932394" y="4845196"/>
              <a:ext cx="13704" cy="31519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0" name="矩形: 圆角 189"/>
            <p:cNvSpPr/>
            <p:nvPr/>
          </p:nvSpPr>
          <p:spPr>
            <a:xfrm rot="12960000">
              <a:off x="10847275" y="4770291"/>
              <a:ext cx="13704" cy="34945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1" name="矩形: 圆角 190"/>
            <p:cNvSpPr/>
            <p:nvPr/>
          </p:nvSpPr>
          <p:spPr>
            <a:xfrm rot="13176000">
              <a:off x="10765957" y="4772374"/>
              <a:ext cx="13704" cy="21926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2" name="矩形: 圆角 191"/>
            <p:cNvSpPr/>
            <p:nvPr/>
          </p:nvSpPr>
          <p:spPr>
            <a:xfrm rot="13392000">
              <a:off x="10688761" y="4563913"/>
              <a:ext cx="13704" cy="50019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3" name="矩形: 圆角 192"/>
            <p:cNvSpPr/>
            <p:nvPr/>
          </p:nvSpPr>
          <p:spPr>
            <a:xfrm rot="13608000">
              <a:off x="10615990" y="4532314"/>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4" name="矩形: 圆角 193"/>
            <p:cNvSpPr/>
            <p:nvPr/>
          </p:nvSpPr>
          <p:spPr>
            <a:xfrm rot="13824000">
              <a:off x="10547931" y="4390079"/>
              <a:ext cx="13704" cy="54815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5" name="矩形: 圆角 194"/>
            <p:cNvSpPr/>
            <p:nvPr/>
          </p:nvSpPr>
          <p:spPr>
            <a:xfrm rot="14040000">
              <a:off x="10484855" y="4421870"/>
              <a:ext cx="13704" cy="322042"/>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6" name="矩形: 圆角 195"/>
            <p:cNvSpPr/>
            <p:nvPr/>
          </p:nvSpPr>
          <p:spPr>
            <a:xfrm rot="14256000">
              <a:off x="10427009" y="4329948"/>
              <a:ext cx="13704" cy="33574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7" name="矩形: 圆角 196"/>
            <p:cNvSpPr/>
            <p:nvPr/>
          </p:nvSpPr>
          <p:spPr>
            <a:xfrm rot="14472000">
              <a:off x="10374621" y="4203722"/>
              <a:ext cx="13704" cy="41111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8" name="矩形: 圆角 197"/>
            <p:cNvSpPr/>
            <p:nvPr/>
          </p:nvSpPr>
          <p:spPr>
            <a:xfrm rot="14688000">
              <a:off x="10327900" y="4088081"/>
              <a:ext cx="13704" cy="459081"/>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9" name="矩形: 圆角 198"/>
            <p:cNvSpPr/>
            <p:nvPr/>
          </p:nvSpPr>
          <p:spPr>
            <a:xfrm rot="14904000">
              <a:off x="10287028" y="3945702"/>
              <a:ext cx="13704" cy="55500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0" name="矩形: 圆角 199"/>
            <p:cNvSpPr/>
            <p:nvPr/>
          </p:nvSpPr>
          <p:spPr>
            <a:xfrm rot="15120000">
              <a:off x="10252166" y="4009922"/>
              <a:ext cx="13704" cy="232967"/>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1" name="矩形: 圆角 200"/>
            <p:cNvSpPr/>
            <p:nvPr/>
          </p:nvSpPr>
          <p:spPr>
            <a:xfrm rot="15336000">
              <a:off x="10223455" y="3876857"/>
              <a:ext cx="13704" cy="301486"/>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2" name="矩形: 圆角 201"/>
            <p:cNvSpPr/>
            <p:nvPr/>
          </p:nvSpPr>
          <p:spPr>
            <a:xfrm rot="15552001">
              <a:off x="10201004" y="3790146"/>
              <a:ext cx="13704" cy="274078"/>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3" name="矩形: 圆角 202"/>
            <p:cNvSpPr/>
            <p:nvPr/>
          </p:nvSpPr>
          <p:spPr>
            <a:xfrm rot="15767999">
              <a:off x="10184905" y="3616565"/>
              <a:ext cx="13704" cy="417970"/>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4" name="矩形: 圆角 203"/>
            <p:cNvSpPr/>
            <p:nvPr/>
          </p:nvSpPr>
          <p:spPr>
            <a:xfrm rot="15984000">
              <a:off x="10175221" y="3620322"/>
              <a:ext cx="13704" cy="205559"/>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grpSp>
      <p:sp>
        <p:nvSpPr>
          <p:cNvPr id="206" name="矩形 205"/>
          <p:cNvSpPr/>
          <p:nvPr/>
        </p:nvSpPr>
        <p:spPr>
          <a:xfrm>
            <a:off x="1543177" y="3417162"/>
            <a:ext cx="2167581" cy="497957"/>
          </a:xfrm>
          <a:prstGeom prst="rect">
            <a:avLst/>
          </a:prstGeom>
        </p:spPr>
        <p:txBody>
          <a:bodyPr wrap="none">
            <a:spAutoFit/>
          </a:bodyPr>
          <a:lstStyle/>
          <a:p>
            <a:pPr lvl="0" algn="ctr">
              <a:lnSpc>
                <a:spcPct val="120000"/>
              </a:lnSpc>
              <a:buSzPct val="25000"/>
              <a:defRPr/>
            </a:pPr>
            <a:r>
              <a:rPr lang="en-US" altLang="zh-CN" sz="2400" b="1" cap="all" dirty="0">
                <a:solidFill>
                  <a:schemeClr val="accent1"/>
                </a:solidFill>
                <a:latin typeface="微软雅黑" panose="020B0503020204020204" pitchFamily="34" charset="-122"/>
                <a:ea typeface="微软雅黑" panose="020B0503020204020204" pitchFamily="34" charset="-122"/>
                <a:cs typeface="+mn-ea"/>
                <a:sym typeface="+mn-lt"/>
              </a:rPr>
              <a:t>6.AI+Xmind</a:t>
            </a:r>
          </a:p>
        </p:txBody>
      </p:sp>
      <p:pic>
        <p:nvPicPr>
          <p:cNvPr id="207" name="图片 20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17389" y="1359762"/>
            <a:ext cx="6693539" cy="4144645"/>
          </a:xfrm>
          <a:prstGeom prst="rect">
            <a:avLst/>
          </a:prstGeom>
        </p:spPr>
      </p:pic>
      <p:sp>
        <p:nvSpPr>
          <p:cNvPr id="208" name="îṥliḑê"/>
          <p:cNvSpPr/>
          <p:nvPr/>
        </p:nvSpPr>
        <p:spPr bwMode="auto">
          <a:xfrm>
            <a:off x="1023774" y="5618707"/>
            <a:ext cx="10377654" cy="45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4400">
              <a:lnSpc>
                <a:spcPct val="150000"/>
              </a:lnSpc>
              <a:defRPr/>
            </a:pP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在</a:t>
            </a:r>
            <a:r>
              <a:rPr kumimoji="0" lang="en-US" altLang="zh-CN" sz="1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ea"/>
                <a:sym typeface="+mn-lt"/>
              </a:rPr>
              <a:t>Deepseek</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中输入要制作的内容，输出</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【markdown】</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格式，将内容保存为 </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.md </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格式文件，导入</a:t>
            </a:r>
            <a:r>
              <a:rPr kumimoji="0" lang="en-US" altLang="zh-CN" sz="1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ea"/>
                <a:sym typeface="+mn-lt"/>
              </a:rPr>
              <a:t>Xmind</a:t>
            </a:r>
            <a:r>
              <a:rPr kumimoji="0" lang="en-US" altLang="zh-CN"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zh-CN" altLang="en-US" sz="1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一键生成思维导图</a:t>
            </a:r>
          </a:p>
        </p:txBody>
      </p:sp>
      <p:sp>
        <p:nvSpPr>
          <p:cNvPr id="209" name="矩形 208"/>
          <p:cNvSpPr/>
          <p:nvPr/>
        </p:nvSpPr>
        <p:spPr>
          <a:xfrm>
            <a:off x="983729" y="1435962"/>
            <a:ext cx="3286477" cy="430374"/>
          </a:xfrm>
          <a:prstGeom prst="rect">
            <a:avLst/>
          </a:prstGeom>
        </p:spPr>
        <p:txBody>
          <a:bodyPr wrap="none">
            <a:spAutoFit/>
          </a:bodyPr>
          <a:lstStyle/>
          <a:p>
            <a:pPr lvl="0" algn="ctr">
              <a:lnSpc>
                <a:spcPct val="120000"/>
              </a:lnSpc>
              <a:buSzPct val="25000"/>
              <a:defRPr/>
            </a:pPr>
            <a:r>
              <a:rPr lang="en-US" altLang="zh-CN" sz="2000" b="1" cap="all" dirty="0" err="1">
                <a:latin typeface="微软雅黑" panose="020B0503020204020204" pitchFamily="34" charset="-122"/>
                <a:ea typeface="微软雅黑" panose="020B0503020204020204" pitchFamily="34" charset="-122"/>
                <a:cs typeface="+mn-ea"/>
                <a:sym typeface="+mn-lt"/>
              </a:rPr>
              <a:t>Deepseek+Xmind</a:t>
            </a:r>
            <a:r>
              <a:rPr lang="en-US" altLang="zh-CN" sz="2000" b="1" cap="all" dirty="0">
                <a:latin typeface="微软雅黑" panose="020B0503020204020204" pitchFamily="34" charset="-122"/>
                <a:ea typeface="微软雅黑" panose="020B0503020204020204" pitchFamily="34" charset="-122"/>
                <a:cs typeface="+mn-ea"/>
                <a:sym typeface="+mn-lt"/>
              </a:rPr>
              <a:t> </a:t>
            </a:r>
            <a:r>
              <a:rPr lang="zh-CN" altLang="en-US" sz="2000" b="1" cap="all" dirty="0">
                <a:latin typeface="微软雅黑" panose="020B0503020204020204" pitchFamily="34" charset="-122"/>
                <a:ea typeface="微软雅黑" panose="020B0503020204020204" pitchFamily="34" charset="-122"/>
                <a:cs typeface="+mn-ea"/>
                <a:sym typeface="+mn-lt"/>
              </a:rPr>
              <a:t>组合 </a:t>
            </a:r>
            <a:endParaRPr lang="en-US" altLang="zh-CN" sz="2000" b="1" cap="all" dirty="0">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07"/>
                                        </p:tgtEl>
                                        <p:attrNameLst>
                                          <p:attrName>style.visibility</p:attrName>
                                        </p:attrNameLst>
                                      </p:cBhvr>
                                      <p:to>
                                        <p:strVal val="visible"/>
                                      </p:to>
                                    </p:set>
                                    <p:animEffect transition="in" filter="barn(outVertical)">
                                      <p:cBhvr>
                                        <p:cTn id="12" dur="500"/>
                                        <p:tgtEl>
                                          <p:spTgt spid="207"/>
                                        </p:tgtEl>
                                      </p:cBhvr>
                                    </p:animEffect>
                                  </p:childTnLst>
                                </p:cTn>
                              </p:par>
                            </p:childTnLst>
                          </p:cTn>
                        </p:par>
                        <p:par>
                          <p:cTn id="13" fill="hold">
                            <p:stCondLst>
                              <p:cond delay="500"/>
                            </p:stCondLst>
                            <p:childTnLst>
                              <p:par>
                                <p:cTn id="14" presetID="21"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heel(1)">
                                      <p:cBhvr>
                                        <p:cTn id="16" dur="2000"/>
                                        <p:tgtEl>
                                          <p:spTgt spid="2"/>
                                        </p:tgtEl>
                                      </p:cBhvr>
                                    </p:animEffect>
                                  </p:childTnLst>
                                </p:cTn>
                              </p:par>
                              <p:par>
                                <p:cTn id="17" presetID="21" presetClass="entr" presetSubtype="1" fill="hold"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wheel(1)">
                                      <p:cBhvr>
                                        <p:cTn id="19" dur="2000"/>
                                        <p:tgtEl>
                                          <p:spTgt spid="104"/>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206"/>
                                        </p:tgtEl>
                                        <p:attrNameLst>
                                          <p:attrName>style.visibility</p:attrName>
                                        </p:attrNameLst>
                                      </p:cBhvr>
                                      <p:to>
                                        <p:strVal val="visible"/>
                                      </p:to>
                                    </p:set>
                                    <p:animEffect transition="in" filter="wheel(1)">
                                      <p:cBhvr>
                                        <p:cTn id="22" dur="2000"/>
                                        <p:tgtEl>
                                          <p:spTgt spid="206"/>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209"/>
                                        </p:tgtEl>
                                        <p:attrNameLst>
                                          <p:attrName>style.visibility</p:attrName>
                                        </p:attrNameLst>
                                      </p:cBhvr>
                                      <p:to>
                                        <p:strVal val="visible"/>
                                      </p:to>
                                    </p:set>
                                    <p:animEffect transition="in" filter="wheel(1)">
                                      <p:cBhvr>
                                        <p:cTn id="25" dur="2000"/>
                                        <p:tgtEl>
                                          <p:spTgt spid="20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08"/>
                                        </p:tgtEl>
                                        <p:attrNameLst>
                                          <p:attrName>style.visibility</p:attrName>
                                        </p:attrNameLst>
                                      </p:cBhvr>
                                      <p:to>
                                        <p:strVal val="visible"/>
                                      </p:to>
                                    </p:set>
                                    <p:animEffect transition="in" filter="wipe(left)">
                                      <p:cBhvr>
                                        <p:cTn id="28"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06" grpId="0"/>
      <p:bldP spid="208" grpId="0"/>
      <p:bldP spid="20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pic>
        <p:nvPicPr>
          <p:cNvPr id="2" name="图片 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59815" y="3847737"/>
            <a:ext cx="3950335" cy="1956798"/>
          </a:xfrm>
          <a:prstGeom prst="rect">
            <a:avLst/>
          </a:prstGeom>
        </p:spPr>
      </p:pic>
      <p:pic>
        <p:nvPicPr>
          <p:cNvPr id="3" name="图片 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135754" y="1444625"/>
            <a:ext cx="7042163" cy="2174875"/>
          </a:xfrm>
          <a:prstGeom prst="rect">
            <a:avLst/>
          </a:prstGeom>
        </p:spPr>
      </p:pic>
      <p:sp>
        <p:nvSpPr>
          <p:cNvPr id="4" name="PA-矩形 4"/>
          <p:cNvSpPr>
            <a:spLocks noChangeArrowheads="1"/>
          </p:cNvSpPr>
          <p:nvPr>
            <p:custDataLst>
              <p:tags r:id="rId1"/>
            </p:custDataLst>
          </p:nvPr>
        </p:nvSpPr>
        <p:spPr bwMode="auto">
          <a:xfrm>
            <a:off x="1128383" y="2288632"/>
            <a:ext cx="2757817" cy="9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1400" dirty="0">
                <a:latin typeface="微软雅黑" panose="020B0503020204020204" pitchFamily="34" charset="-122"/>
                <a:ea typeface="微软雅黑" panose="020B0503020204020204" pitchFamily="34" charset="-122"/>
                <a:cs typeface="+mn-ea"/>
                <a:sym typeface="+mn-lt"/>
              </a:rPr>
              <a:t>单次可录制</a:t>
            </a:r>
            <a:r>
              <a:rPr lang="en-US" altLang="zh-CN" sz="1400" dirty="0">
                <a:latin typeface="微软雅黑" panose="020B0503020204020204" pitchFamily="34" charset="-122"/>
                <a:ea typeface="微软雅黑" panose="020B0503020204020204" pitchFamily="34" charset="-122"/>
                <a:cs typeface="+mn-ea"/>
                <a:sym typeface="+mn-lt"/>
              </a:rPr>
              <a:t>6</a:t>
            </a:r>
            <a:r>
              <a:rPr lang="zh-CN" altLang="en-US" sz="1400" dirty="0">
                <a:latin typeface="微软雅黑" panose="020B0503020204020204" pitchFamily="34" charset="-122"/>
                <a:ea typeface="微软雅黑" panose="020B0503020204020204" pitchFamily="34" charset="-122"/>
                <a:cs typeface="+mn-ea"/>
                <a:sym typeface="+mn-lt"/>
              </a:rPr>
              <a:t>小时，会议中可实时记录笔记。</a:t>
            </a:r>
          </a:p>
          <a:p>
            <a:pPr eaLnBrk="1" hangingPunct="1">
              <a:lnSpc>
                <a:spcPct val="150000"/>
              </a:lnSpc>
              <a:buSzPct val="25000"/>
              <a:defRPr/>
            </a:pPr>
            <a:r>
              <a:rPr lang="zh-CN" altLang="en-US" sz="1400" dirty="0">
                <a:latin typeface="微软雅黑" panose="020B0503020204020204" pitchFamily="34" charset="-122"/>
                <a:ea typeface="微软雅黑" panose="020B0503020204020204" pitchFamily="34" charset="-122"/>
                <a:cs typeface="+mn-ea"/>
                <a:sym typeface="+mn-lt"/>
              </a:rPr>
              <a:t>大家也可以根据指定任务增加权益</a:t>
            </a:r>
          </a:p>
        </p:txBody>
      </p:sp>
      <p:sp>
        <p:nvSpPr>
          <p:cNvPr id="5" name="PA-矩形 4"/>
          <p:cNvSpPr>
            <a:spLocks noChangeArrowheads="1"/>
          </p:cNvSpPr>
          <p:nvPr>
            <p:custDataLst>
              <p:tags r:id="rId2"/>
            </p:custDataLst>
          </p:nvPr>
        </p:nvSpPr>
        <p:spPr bwMode="auto">
          <a:xfrm>
            <a:off x="1128383" y="1597025"/>
            <a:ext cx="2757817"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7.AI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生成会议纪要</a:t>
            </a:r>
          </a:p>
        </p:txBody>
      </p:sp>
      <p:sp>
        <p:nvSpPr>
          <p:cNvPr id="6" name="PA-矩形 4"/>
          <p:cNvSpPr>
            <a:spLocks noChangeArrowheads="1"/>
          </p:cNvSpPr>
          <p:nvPr>
            <p:custDataLst>
              <p:tags r:id="rId3"/>
            </p:custDataLst>
          </p:nvPr>
        </p:nvSpPr>
        <p:spPr bwMode="auto">
          <a:xfrm>
            <a:off x="5657850" y="4592450"/>
            <a:ext cx="5139067" cy="285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 </a:t>
            </a:r>
            <a:endParaRPr lang="zh-CN" altLang="en-US" sz="1400" dirty="0">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500"/>
                                        <p:tgtEl>
                                          <p:spTgt spid="3"/>
                                        </p:tgtEl>
                                      </p:cBhvr>
                                    </p:animEffect>
                                  </p:childTnLst>
                                </p:cTn>
                              </p:par>
                            </p:childTnLst>
                          </p:cTn>
                        </p:par>
                        <p:par>
                          <p:cTn id="18" fill="hold">
                            <p:stCondLst>
                              <p:cond delay="500"/>
                            </p:stCondLst>
                            <p:childTnLst>
                              <p:par>
                                <p:cTn id="19" presetID="42"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4" grpId="0"/>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a:t>工作坊</a:t>
            </a:r>
          </a:p>
        </p:txBody>
      </p:sp>
      <p:sp>
        <p:nvSpPr>
          <p:cNvPr id="24" name="椭圆 23"/>
          <p:cNvSpPr/>
          <p:nvPr/>
        </p:nvSpPr>
        <p:spPr>
          <a:xfrm>
            <a:off x="4187122" y="3600053"/>
            <a:ext cx="7346066" cy="2580085"/>
          </a:xfrm>
          <a:prstGeom prst="ellipse">
            <a:avLst/>
          </a:prstGeom>
          <a:gradFill>
            <a:gsLst>
              <a:gs pos="71000">
                <a:schemeClr val="accent6">
                  <a:alpha val="0"/>
                </a:schemeClr>
              </a:gs>
              <a:gs pos="100000">
                <a:schemeClr val="accent6">
                  <a:alpha val="10000"/>
                </a:schemeClr>
              </a:gs>
            </a:gsLst>
            <a:lin ang="5400000" scaled="1"/>
          </a:gradFill>
          <a:ln w="6350">
            <a:gradFill>
              <a:gsLst>
                <a:gs pos="13000">
                  <a:schemeClr val="accent6">
                    <a:alpha val="0"/>
                  </a:schemeClr>
                </a:gs>
                <a:gs pos="100000">
                  <a:schemeClr val="accent6">
                    <a:alpha val="40000"/>
                  </a:schemeClr>
                </a:gs>
              </a:gsLst>
              <a:lin ang="5400000" scaled="1"/>
            </a:gradFill>
          </a:ln>
          <a:effectLst>
            <a:outerShdw blurRad="508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grpSp>
        <p:nvGrpSpPr>
          <p:cNvPr id="30" name="组合 29"/>
          <p:cNvGrpSpPr/>
          <p:nvPr/>
        </p:nvGrpSpPr>
        <p:grpSpPr>
          <a:xfrm>
            <a:off x="5905500" y="1542536"/>
            <a:ext cx="5261453" cy="4159395"/>
            <a:chOff x="4839106" y="1462785"/>
            <a:chExt cx="6042097" cy="4433199"/>
          </a:xfrm>
        </p:grpSpPr>
        <p:grpSp>
          <p:nvGrpSpPr>
            <p:cNvPr id="2" name="组合 1"/>
            <p:cNvGrpSpPr/>
            <p:nvPr/>
          </p:nvGrpSpPr>
          <p:grpSpPr>
            <a:xfrm>
              <a:off x="5218972" y="3889072"/>
              <a:ext cx="5282368" cy="1728200"/>
              <a:chOff x="4388069" y="4234734"/>
              <a:chExt cx="3415862" cy="1117547"/>
            </a:xfrm>
          </p:grpSpPr>
          <p:sp>
            <p:nvSpPr>
              <p:cNvPr id="3" name="椭圆 2"/>
              <p:cNvSpPr/>
              <p:nvPr/>
            </p:nvSpPr>
            <p:spPr>
              <a:xfrm>
                <a:off x="4388069" y="4378799"/>
                <a:ext cx="3415862" cy="973482"/>
              </a:xfrm>
              <a:prstGeom prst="ellipse">
                <a:avLst/>
              </a:prstGeom>
              <a:noFill/>
              <a:ln w="19050">
                <a:gradFill>
                  <a:gsLst>
                    <a:gs pos="0">
                      <a:schemeClr val="accent6">
                        <a:alpha val="20000"/>
                      </a:schemeClr>
                    </a:gs>
                    <a:gs pos="100000">
                      <a:schemeClr val="accent6">
                        <a:alpha val="80000"/>
                      </a:schemeClr>
                    </a:gs>
                  </a:gsLst>
                  <a:lin ang="5400000" scaled="1"/>
                </a:gradFill>
              </a:ln>
              <a:effectLst>
                <a:outerShdw blurRad="50800" algn="ctr" rotWithShape="0">
                  <a:schemeClr val="accent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cxnSp>
            <p:nvCxnSpPr>
              <p:cNvPr id="4" name="直接连接符 3"/>
              <p:cNvCxnSpPr/>
              <p:nvPr/>
            </p:nvCxnSpPr>
            <p:spPr>
              <a:xfrm flipH="1" flipV="1">
                <a:off x="7395976" y="4827038"/>
                <a:ext cx="0" cy="347365"/>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flipV="1">
                <a:off x="7371211" y="5058137"/>
                <a:ext cx="0" cy="132306"/>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flipV="1">
                <a:off x="7418836" y="4924468"/>
                <a:ext cx="0" cy="253500"/>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4696180" y="4234734"/>
                <a:ext cx="2769160" cy="736495"/>
              </a:xfrm>
              <a:prstGeom prst="ellipse">
                <a:avLst/>
              </a:prstGeom>
              <a:noFill/>
              <a:ln w="6350">
                <a:gradFill>
                  <a:gsLst>
                    <a:gs pos="0">
                      <a:schemeClr val="accent6">
                        <a:alpha val="20000"/>
                      </a:schemeClr>
                    </a:gs>
                    <a:gs pos="100000">
                      <a:schemeClr val="accent6">
                        <a:alpha val="8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p:cNvCxnSpPr/>
              <p:nvPr/>
            </p:nvCxnSpPr>
            <p:spPr>
              <a:xfrm flipH="1" flipV="1">
                <a:off x="7660771" y="4817533"/>
                <a:ext cx="0" cy="253500"/>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flipV="1">
                <a:off x="7681726" y="4771194"/>
                <a:ext cx="0" cy="282016"/>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7702681" y="4846049"/>
                <a:ext cx="0" cy="180427"/>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723636" y="4719508"/>
                <a:ext cx="0" cy="289146"/>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6779198" y="5005910"/>
                <a:ext cx="47774" cy="299244"/>
                <a:chOff x="6774031" y="5572125"/>
                <a:chExt cx="47625" cy="388433"/>
              </a:xfrm>
            </p:grpSpPr>
            <p:cxnSp>
              <p:nvCxnSpPr>
                <p:cNvPr id="21" name="直接连接符 20"/>
                <p:cNvCxnSpPr/>
                <p:nvPr/>
              </p:nvCxnSpPr>
              <p:spPr>
                <a:xfrm flipH="1" flipV="1">
                  <a:off x="6798796" y="5572125"/>
                  <a:ext cx="0" cy="371288"/>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flipV="1">
                  <a:off x="6774031" y="5819140"/>
                  <a:ext cx="0" cy="141418"/>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flipV="1">
                  <a:off x="6821656" y="5676265"/>
                  <a:ext cx="0" cy="270958"/>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flipH="1">
                <a:off x="4575908" y="4812366"/>
                <a:ext cx="47774" cy="293895"/>
                <a:chOff x="6774031" y="5572126"/>
                <a:chExt cx="47625" cy="381489"/>
              </a:xfrm>
            </p:grpSpPr>
            <p:cxnSp>
              <p:nvCxnSpPr>
                <p:cNvPr id="18" name="直接连接符 17"/>
                <p:cNvCxnSpPr/>
                <p:nvPr/>
              </p:nvCxnSpPr>
              <p:spPr>
                <a:xfrm flipH="1" flipV="1">
                  <a:off x="6798796" y="5572126"/>
                  <a:ext cx="0" cy="367605"/>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6774031" y="5819140"/>
                  <a:ext cx="0" cy="134475"/>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821656" y="5676267"/>
                  <a:ext cx="0" cy="251897"/>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grpSp>
          <p:cxnSp>
            <p:nvCxnSpPr>
              <p:cNvPr id="15" name="直接连接符 14"/>
              <p:cNvCxnSpPr/>
              <p:nvPr/>
            </p:nvCxnSpPr>
            <p:spPr>
              <a:xfrm flipH="1" flipV="1">
                <a:off x="4918880" y="5064078"/>
                <a:ext cx="0" cy="150304"/>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4867522" y="5100093"/>
                <a:ext cx="0" cy="103598"/>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4895948" y="4840702"/>
                <a:ext cx="0" cy="364770"/>
              </a:xfrm>
              <a:prstGeom prst="line">
                <a:avLst/>
              </a:prstGeom>
              <a:ln>
                <a:gradFill>
                  <a:gsLst>
                    <a:gs pos="0">
                      <a:schemeClr val="accent6">
                        <a:alpha val="20000"/>
                      </a:schemeClr>
                    </a:gs>
                    <a:gs pos="100000">
                      <a:schemeClr val="accent6">
                        <a:alpha val="8000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26" name="任意多边形: 形状 25"/>
            <p:cNvSpPr/>
            <p:nvPr/>
          </p:nvSpPr>
          <p:spPr>
            <a:xfrm>
              <a:off x="4839106" y="1462785"/>
              <a:ext cx="6042097" cy="4433199"/>
            </a:xfrm>
            <a:custGeom>
              <a:avLst/>
              <a:gdLst>
                <a:gd name="connsiteX0" fmla="*/ 0 w 3415862"/>
                <a:gd name="connsiteY0" fmla="*/ 0 h 2678886"/>
                <a:gd name="connsiteX1" fmla="*/ 3415862 w 3415862"/>
                <a:gd name="connsiteY1" fmla="*/ 0 h 2678886"/>
                <a:gd name="connsiteX2" fmla="*/ 3415862 w 3415862"/>
                <a:gd name="connsiteY2" fmla="*/ 2158624 h 2678886"/>
                <a:gd name="connsiteX3" fmla="*/ 1707931 w 3415862"/>
                <a:gd name="connsiteY3" fmla="*/ 2678886 h 2678886"/>
                <a:gd name="connsiteX4" fmla="*/ 0 w 3415862"/>
                <a:gd name="connsiteY4" fmla="*/ 2158624 h 2678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5862" h="2678886">
                  <a:moveTo>
                    <a:pt x="0" y="0"/>
                  </a:moveTo>
                  <a:lnTo>
                    <a:pt x="3415862" y="0"/>
                  </a:lnTo>
                  <a:lnTo>
                    <a:pt x="3415862" y="2158624"/>
                  </a:lnTo>
                  <a:cubicBezTo>
                    <a:pt x="3415862" y="2445957"/>
                    <a:pt x="2651195" y="2678886"/>
                    <a:pt x="1707931" y="2678886"/>
                  </a:cubicBezTo>
                  <a:cubicBezTo>
                    <a:pt x="764667" y="2678886"/>
                    <a:pt x="0" y="2445957"/>
                    <a:pt x="0" y="2158624"/>
                  </a:cubicBezTo>
                  <a:close/>
                </a:path>
              </a:pathLst>
            </a:custGeom>
            <a:gradFill>
              <a:gsLst>
                <a:gs pos="23000">
                  <a:schemeClr val="accent6">
                    <a:alpha val="0"/>
                  </a:schemeClr>
                </a:gs>
                <a:gs pos="100000">
                  <a:schemeClr val="accent6">
                    <a:alpha val="2000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28" name="任意多边形: 形状 27"/>
            <p:cNvSpPr/>
            <p:nvPr/>
          </p:nvSpPr>
          <p:spPr>
            <a:xfrm>
              <a:off x="5218971" y="1741500"/>
              <a:ext cx="5282368" cy="3875769"/>
            </a:xfrm>
            <a:custGeom>
              <a:avLst/>
              <a:gdLst>
                <a:gd name="connsiteX0" fmla="*/ 0 w 3415862"/>
                <a:gd name="connsiteY0" fmla="*/ 0 h 2678886"/>
                <a:gd name="connsiteX1" fmla="*/ 3415862 w 3415862"/>
                <a:gd name="connsiteY1" fmla="*/ 0 h 2678886"/>
                <a:gd name="connsiteX2" fmla="*/ 3415862 w 3415862"/>
                <a:gd name="connsiteY2" fmla="*/ 2158624 h 2678886"/>
                <a:gd name="connsiteX3" fmla="*/ 1707931 w 3415862"/>
                <a:gd name="connsiteY3" fmla="*/ 2678886 h 2678886"/>
                <a:gd name="connsiteX4" fmla="*/ 0 w 3415862"/>
                <a:gd name="connsiteY4" fmla="*/ 2158624 h 2678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5862" h="2678886">
                  <a:moveTo>
                    <a:pt x="0" y="0"/>
                  </a:moveTo>
                  <a:lnTo>
                    <a:pt x="3415862" y="0"/>
                  </a:lnTo>
                  <a:lnTo>
                    <a:pt x="3415862" y="2158624"/>
                  </a:lnTo>
                  <a:cubicBezTo>
                    <a:pt x="3415862" y="2445957"/>
                    <a:pt x="2651195" y="2678886"/>
                    <a:pt x="1707931" y="2678886"/>
                  </a:cubicBezTo>
                  <a:cubicBezTo>
                    <a:pt x="764667" y="2678886"/>
                    <a:pt x="0" y="2445957"/>
                    <a:pt x="0" y="2158624"/>
                  </a:cubicBezTo>
                  <a:close/>
                </a:path>
              </a:pathLst>
            </a:custGeom>
            <a:gradFill>
              <a:gsLst>
                <a:gs pos="8000">
                  <a:schemeClr val="accent6">
                    <a:alpha val="0"/>
                  </a:schemeClr>
                </a:gs>
                <a:gs pos="100000">
                  <a:schemeClr val="accent6">
                    <a:alpha val="3000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accent1"/>
                </a:solidFill>
                <a:latin typeface="微软雅黑" panose="020B0503020204020204" pitchFamily="34" charset="-122"/>
                <a:ea typeface="微软雅黑" panose="020B0503020204020204" pitchFamily="34" charset="-122"/>
                <a:cs typeface="+mn-ea"/>
                <a:sym typeface="+mn-lt"/>
              </a:endParaRPr>
            </a:p>
          </p:txBody>
        </p:sp>
      </p:grpSp>
      <p:pic>
        <p:nvPicPr>
          <p:cNvPr id="29" name="图片 2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47674" y="1765937"/>
            <a:ext cx="4759552" cy="2575598"/>
          </a:xfrm>
          <a:prstGeom prst="rect">
            <a:avLst/>
          </a:prstGeom>
        </p:spPr>
      </p:pic>
      <p:sp>
        <p:nvSpPr>
          <p:cNvPr id="31" name="PA-矩形 4"/>
          <p:cNvSpPr>
            <a:spLocks noChangeArrowheads="1"/>
          </p:cNvSpPr>
          <p:nvPr>
            <p:custDataLst>
              <p:tags r:id="rId1"/>
            </p:custDataLst>
          </p:nvPr>
        </p:nvSpPr>
        <p:spPr bwMode="auto">
          <a:xfrm>
            <a:off x="6853512" y="2600795"/>
            <a:ext cx="3526704" cy="1582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1400" dirty="0">
                <a:latin typeface="微软雅黑" panose="020B0503020204020204" pitchFamily="34" charset="-122"/>
                <a:ea typeface="微软雅黑" panose="020B0503020204020204" pitchFamily="34" charset="-122"/>
                <a:cs typeface="+mn-ea"/>
                <a:sym typeface="+mn-lt"/>
              </a:rPr>
              <a:t>网站（</a:t>
            </a:r>
            <a:r>
              <a:rPr lang="en-US" altLang="zh-CN" sz="1400" dirty="0">
                <a:latin typeface="微软雅黑" panose="020B0503020204020204" pitchFamily="34" charset="-122"/>
                <a:ea typeface="微软雅黑" panose="020B0503020204020204" pitchFamily="34" charset="-122"/>
                <a:cs typeface="+mn-ea"/>
                <a:sym typeface="+mn-lt"/>
              </a:rPr>
              <a:t>chat.qwen.ai</a:t>
            </a:r>
            <a:r>
              <a:rPr lang="zh-CN" altLang="en-US" sz="1400" dirty="0">
                <a:latin typeface="微软雅黑" panose="020B0503020204020204" pitchFamily="34" charset="-122"/>
                <a:ea typeface="微软雅黑" panose="020B0503020204020204" pitchFamily="34" charset="-122"/>
                <a:cs typeface="+mn-ea"/>
                <a:sym typeface="+mn-lt"/>
              </a:rPr>
              <a:t>），点击网页开发模块，输入你想要的内容（可提前编辑好），点击发送 自动写网页，产生预览，最后部署就可以一键分享给其他人。</a:t>
            </a:r>
          </a:p>
          <a:p>
            <a:pPr eaLnBrk="1" hangingPunct="1">
              <a:lnSpc>
                <a:spcPct val="150000"/>
              </a:lnSpc>
              <a:buSzPct val="25000"/>
              <a:defRPr/>
            </a:pPr>
            <a:r>
              <a:rPr lang="zh-CN" altLang="en-US" sz="1400" dirty="0">
                <a:latin typeface="微软雅黑" panose="020B0503020204020204" pitchFamily="34" charset="-122"/>
                <a:ea typeface="微软雅黑" panose="020B0503020204020204" pitchFamily="34" charset="-122"/>
                <a:cs typeface="+mn-ea"/>
                <a:sym typeface="+mn-lt"/>
              </a:rPr>
              <a:t>可用在个人介绍、商务（项目介绍）等。</a:t>
            </a:r>
          </a:p>
        </p:txBody>
      </p:sp>
      <p:sp>
        <p:nvSpPr>
          <p:cNvPr id="32" name="PA-矩形 4"/>
          <p:cNvSpPr>
            <a:spLocks noChangeArrowheads="1"/>
          </p:cNvSpPr>
          <p:nvPr>
            <p:custDataLst>
              <p:tags r:id="rId2"/>
            </p:custDataLst>
          </p:nvPr>
        </p:nvSpPr>
        <p:spPr bwMode="auto">
          <a:xfrm>
            <a:off x="6853511" y="1984704"/>
            <a:ext cx="2757817"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8.AI</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生成网页</a:t>
            </a:r>
          </a:p>
        </p:txBody>
      </p:sp>
      <p:sp>
        <p:nvSpPr>
          <p:cNvPr id="33" name="PA-矩形 4"/>
          <p:cNvSpPr>
            <a:spLocks noChangeArrowheads="1"/>
          </p:cNvSpPr>
          <p:nvPr>
            <p:custDataLst>
              <p:tags r:id="rId3"/>
            </p:custDataLst>
          </p:nvPr>
        </p:nvSpPr>
        <p:spPr bwMode="auto">
          <a:xfrm>
            <a:off x="966087" y="4927755"/>
            <a:ext cx="4427142" cy="285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en-US" altLang="zh-CN" sz="1400" dirty="0">
                <a:latin typeface="微软雅黑" panose="020B0503020204020204" pitchFamily="34" charset="-122"/>
                <a:ea typeface="微软雅黑" panose="020B0503020204020204" pitchFamily="34" charset="-122"/>
                <a:cs typeface="+mn-ea"/>
                <a:sym typeface="+mn-lt"/>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arn(outVertic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down)">
                                      <p:cBhvr>
                                        <p:cTn id="17" dur="500"/>
                                        <p:tgtEl>
                                          <p:spTgt spid="30"/>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1000"/>
                                        <p:tgtEl>
                                          <p:spTgt spid="31"/>
                                        </p:tgtEl>
                                      </p:cBhvr>
                                    </p:animEffect>
                                    <p:anim calcmode="lin" valueType="num">
                                      <p:cBhvr>
                                        <p:cTn id="25" dur="1000" fill="hold"/>
                                        <p:tgtEl>
                                          <p:spTgt spid="31"/>
                                        </p:tgtEl>
                                        <p:attrNameLst>
                                          <p:attrName>ppt_x</p:attrName>
                                        </p:attrNameLst>
                                      </p:cBhvr>
                                      <p:tavLst>
                                        <p:tav tm="0">
                                          <p:val>
                                            <p:strVal val="#ppt_x"/>
                                          </p:val>
                                        </p:tav>
                                        <p:tav tm="100000">
                                          <p:val>
                                            <p:strVal val="#ppt_x"/>
                                          </p:val>
                                        </p:tav>
                                      </p:tavLst>
                                    </p:anim>
                                    <p:anim calcmode="lin" valueType="num">
                                      <p:cBhvr>
                                        <p:cTn id="26" dur="1000" fill="hold"/>
                                        <p:tgtEl>
                                          <p:spTgt spid="31"/>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42" presetClass="entr" presetSubtype="0"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1000"/>
                                        <p:tgtEl>
                                          <p:spTgt spid="32"/>
                                        </p:tgtEl>
                                      </p:cBhvr>
                                    </p:animEffect>
                                    <p:anim calcmode="lin" valueType="num">
                                      <p:cBhvr>
                                        <p:cTn id="31" dur="1000" fill="hold"/>
                                        <p:tgtEl>
                                          <p:spTgt spid="32"/>
                                        </p:tgtEl>
                                        <p:attrNameLst>
                                          <p:attrName>ppt_x</p:attrName>
                                        </p:attrNameLst>
                                      </p:cBhvr>
                                      <p:tavLst>
                                        <p:tav tm="0">
                                          <p:val>
                                            <p:strVal val="#ppt_x"/>
                                          </p:val>
                                        </p:tav>
                                        <p:tav tm="100000">
                                          <p:val>
                                            <p:strVal val="#ppt_x"/>
                                          </p:val>
                                        </p:tav>
                                      </p:tavLst>
                                    </p:anim>
                                    <p:anim calcmode="lin" valueType="num">
                                      <p:cBhvr>
                                        <p:cTn id="32" dur="1000" fill="hold"/>
                                        <p:tgtEl>
                                          <p:spTgt spid="32"/>
                                        </p:tgtEl>
                                        <p:attrNameLst>
                                          <p:attrName>ppt_y</p:attrName>
                                        </p:attrNameLst>
                                      </p:cBhvr>
                                      <p:tavLst>
                                        <p:tav tm="0">
                                          <p:val>
                                            <p:strVal val="#ppt_y+.1"/>
                                          </p:val>
                                        </p:tav>
                                        <p:tav tm="100000">
                                          <p:val>
                                            <p:strVal val="#ppt_y"/>
                                          </p:val>
                                        </p:tav>
                                      </p:tavLst>
                                    </p:anim>
                                  </p:childTnLst>
                                </p:cTn>
                              </p:par>
                            </p:childTnLst>
                          </p:cTn>
                        </p:par>
                        <p:par>
                          <p:cTn id="33" fill="hold">
                            <p:stCondLst>
                              <p:cond delay="2500"/>
                            </p:stCondLst>
                            <p:childTnLst>
                              <p:par>
                                <p:cTn id="34" presetID="42" presetClass="entr" presetSubtype="0" fill="hold" grpId="0" nodeType="after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1000"/>
                                        <p:tgtEl>
                                          <p:spTgt spid="33"/>
                                        </p:tgtEl>
                                      </p:cBhvr>
                                    </p:animEffect>
                                    <p:anim calcmode="lin" valueType="num">
                                      <p:cBhvr>
                                        <p:cTn id="37" dur="1000" fill="hold"/>
                                        <p:tgtEl>
                                          <p:spTgt spid="33"/>
                                        </p:tgtEl>
                                        <p:attrNameLst>
                                          <p:attrName>ppt_x</p:attrName>
                                        </p:attrNameLst>
                                      </p:cBhvr>
                                      <p:tavLst>
                                        <p:tav tm="0">
                                          <p:val>
                                            <p:strVal val="#ppt_x"/>
                                          </p:val>
                                        </p:tav>
                                        <p:tav tm="100000">
                                          <p:val>
                                            <p:strVal val="#ppt_x"/>
                                          </p:val>
                                        </p:tav>
                                      </p:tavLst>
                                    </p:anim>
                                    <p:anim calcmode="lin" valueType="num">
                                      <p:cBhvr>
                                        <p:cTn id="3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4" grpId="0" animBg="1"/>
      <p:bldP spid="31" grpId="0"/>
      <p:bldP spid="32" grpId="0"/>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r>
              <a:rPr lang="zh-CN" altLang="en-US" dirty="0"/>
              <a:t>工作坊</a:t>
            </a:r>
          </a:p>
        </p:txBody>
      </p:sp>
      <p:grpSp>
        <p:nvGrpSpPr>
          <p:cNvPr id="2" name="组合 1"/>
          <p:cNvGrpSpPr/>
          <p:nvPr/>
        </p:nvGrpSpPr>
        <p:grpSpPr>
          <a:xfrm>
            <a:off x="6805012" y="1595725"/>
            <a:ext cx="3986328" cy="3986328"/>
            <a:chOff x="987481" y="1149583"/>
            <a:chExt cx="4892458" cy="4892458"/>
          </a:xfrm>
          <a:solidFill>
            <a:schemeClr val="accent1"/>
          </a:solidFill>
        </p:grpSpPr>
        <p:sp>
          <p:nvSpPr>
            <p:cNvPr id="3" name="矩形: 圆角 2"/>
            <p:cNvSpPr/>
            <p:nvPr/>
          </p:nvSpPr>
          <p:spPr>
            <a:xfrm rot="16200000">
              <a:off x="1164362" y="340764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 name="矩形: 圆角 3"/>
            <p:cNvSpPr/>
            <p:nvPr/>
          </p:nvSpPr>
          <p:spPr>
            <a:xfrm rot="16416000">
              <a:off x="1168818" y="3265855"/>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 name="矩形: 圆角 4"/>
            <p:cNvSpPr/>
            <p:nvPr/>
          </p:nvSpPr>
          <p:spPr>
            <a:xfrm rot="16632001">
              <a:off x="1182167" y="312463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 name="矩形: 圆角 5"/>
            <p:cNvSpPr/>
            <p:nvPr/>
          </p:nvSpPr>
          <p:spPr>
            <a:xfrm rot="16847999">
              <a:off x="1204358" y="298452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 name="矩形: 圆角 6"/>
            <p:cNvSpPr/>
            <p:nvPr/>
          </p:nvSpPr>
          <p:spPr>
            <a:xfrm rot="17064000">
              <a:off x="1235303" y="2846085"/>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 name="矩形: 圆角 7"/>
            <p:cNvSpPr/>
            <p:nvPr/>
          </p:nvSpPr>
          <p:spPr>
            <a:xfrm rot="17280000">
              <a:off x="1274879" y="270986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 name="矩形: 圆角 8"/>
            <p:cNvSpPr/>
            <p:nvPr/>
          </p:nvSpPr>
          <p:spPr>
            <a:xfrm rot="17496000">
              <a:off x="1322931" y="257639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矩形: 圆角 9"/>
            <p:cNvSpPr/>
            <p:nvPr/>
          </p:nvSpPr>
          <p:spPr>
            <a:xfrm rot="17712001">
              <a:off x="1379268" y="244620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矩形: 圆角 10"/>
            <p:cNvSpPr/>
            <p:nvPr/>
          </p:nvSpPr>
          <p:spPr>
            <a:xfrm rot="17927999">
              <a:off x="1443668" y="231981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2" name="矩形: 圆角 11"/>
            <p:cNvSpPr/>
            <p:nvPr/>
          </p:nvSpPr>
          <p:spPr>
            <a:xfrm rot="18144000">
              <a:off x="1515879" y="219771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3" name="矩形: 圆角 12"/>
            <p:cNvSpPr/>
            <p:nvPr/>
          </p:nvSpPr>
          <p:spPr>
            <a:xfrm rot="18360000">
              <a:off x="1595612" y="20803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5" name="矩形: 圆角 14"/>
            <p:cNvSpPr/>
            <p:nvPr/>
          </p:nvSpPr>
          <p:spPr>
            <a:xfrm rot="18576000">
              <a:off x="1682556" y="196830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6" name="矩形: 圆角 15"/>
            <p:cNvSpPr/>
            <p:nvPr/>
          </p:nvSpPr>
          <p:spPr>
            <a:xfrm rot="18792001">
              <a:off x="1776367" y="186189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7" name="矩形: 圆角 16"/>
            <p:cNvSpPr/>
            <p:nvPr/>
          </p:nvSpPr>
          <p:spPr>
            <a:xfrm rot="19007999">
              <a:off x="1876673" y="17615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矩形: 圆角 17"/>
            <p:cNvSpPr/>
            <p:nvPr/>
          </p:nvSpPr>
          <p:spPr>
            <a:xfrm rot="19224000">
              <a:off x="1983079" y="166777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9" name="矩形: 圆角 18"/>
            <p:cNvSpPr/>
            <p:nvPr/>
          </p:nvSpPr>
          <p:spPr>
            <a:xfrm rot="19440000">
              <a:off x="2095167" y="158083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0" name="矩形: 圆角 19"/>
            <p:cNvSpPr/>
            <p:nvPr/>
          </p:nvSpPr>
          <p:spPr>
            <a:xfrm rot="19656000">
              <a:off x="2212492" y="150110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1" name="矩形: 圆角 20"/>
            <p:cNvSpPr/>
            <p:nvPr/>
          </p:nvSpPr>
          <p:spPr>
            <a:xfrm rot="19872001">
              <a:off x="2334592" y="142889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2" name="矩形: 圆角 21"/>
            <p:cNvSpPr/>
            <p:nvPr/>
          </p:nvSpPr>
          <p:spPr>
            <a:xfrm rot="20087999">
              <a:off x="2460986" y="136448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3" name="矩形: 圆角 22"/>
            <p:cNvSpPr/>
            <p:nvPr/>
          </p:nvSpPr>
          <p:spPr>
            <a:xfrm rot="20304000">
              <a:off x="2591173" y="130815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4" name="矩形: 圆角 23"/>
            <p:cNvSpPr/>
            <p:nvPr/>
          </p:nvSpPr>
          <p:spPr>
            <a:xfrm rot="20520000">
              <a:off x="2724641" y="126010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5" name="矩形: 圆角 24"/>
            <p:cNvSpPr/>
            <p:nvPr/>
          </p:nvSpPr>
          <p:spPr>
            <a:xfrm rot="20736000">
              <a:off x="2860864" y="122052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矩形: 圆角 25"/>
            <p:cNvSpPr/>
            <p:nvPr/>
          </p:nvSpPr>
          <p:spPr>
            <a:xfrm rot="20952001">
              <a:off x="2999302" y="118958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7" name="矩形: 圆角 26"/>
            <p:cNvSpPr/>
            <p:nvPr/>
          </p:nvSpPr>
          <p:spPr>
            <a:xfrm rot="21167999">
              <a:off x="3139410" y="11673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8" name="矩形: 圆角 27"/>
            <p:cNvSpPr/>
            <p:nvPr/>
          </p:nvSpPr>
          <p:spPr>
            <a:xfrm rot="21384000">
              <a:off x="3280636" y="115403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9" name="矩形: 圆角 28"/>
            <p:cNvSpPr/>
            <p:nvPr/>
          </p:nvSpPr>
          <p:spPr>
            <a:xfrm>
              <a:off x="3422420" y="114958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0" name="矩形: 圆角 29"/>
            <p:cNvSpPr/>
            <p:nvPr/>
          </p:nvSpPr>
          <p:spPr>
            <a:xfrm rot="216000">
              <a:off x="3564204" y="115403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1" name="矩形: 圆角 30"/>
            <p:cNvSpPr/>
            <p:nvPr/>
          </p:nvSpPr>
          <p:spPr>
            <a:xfrm rot="432000">
              <a:off x="3705430" y="11673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2" name="矩形: 圆角 31"/>
            <p:cNvSpPr/>
            <p:nvPr/>
          </p:nvSpPr>
          <p:spPr>
            <a:xfrm rot="648000">
              <a:off x="3845537" y="118958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3" name="矩形: 圆角 32"/>
            <p:cNvSpPr/>
            <p:nvPr/>
          </p:nvSpPr>
          <p:spPr>
            <a:xfrm rot="864000">
              <a:off x="3983976" y="122052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4" name="矩形: 圆角 33"/>
            <p:cNvSpPr/>
            <p:nvPr/>
          </p:nvSpPr>
          <p:spPr>
            <a:xfrm rot="1080000">
              <a:off x="4120198" y="126010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5" name="矩形: 圆角 34"/>
            <p:cNvSpPr/>
            <p:nvPr/>
          </p:nvSpPr>
          <p:spPr>
            <a:xfrm rot="1296000">
              <a:off x="4253666" y="130815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6" name="矩形: 圆角 35"/>
            <p:cNvSpPr/>
            <p:nvPr/>
          </p:nvSpPr>
          <p:spPr>
            <a:xfrm rot="1512000">
              <a:off x="4383854" y="136448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7" name="矩形: 圆角 36"/>
            <p:cNvSpPr/>
            <p:nvPr/>
          </p:nvSpPr>
          <p:spPr>
            <a:xfrm rot="1728000">
              <a:off x="4510247" y="142889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8" name="矩形: 圆角 37"/>
            <p:cNvSpPr/>
            <p:nvPr/>
          </p:nvSpPr>
          <p:spPr>
            <a:xfrm rot="1944000">
              <a:off x="4632348" y="150110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9" name="矩形: 圆角 38"/>
            <p:cNvSpPr/>
            <p:nvPr/>
          </p:nvSpPr>
          <p:spPr>
            <a:xfrm rot="2160000">
              <a:off x="4749672" y="158083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0" name="矩形: 圆角 39"/>
            <p:cNvSpPr/>
            <p:nvPr/>
          </p:nvSpPr>
          <p:spPr>
            <a:xfrm rot="2376000">
              <a:off x="4861760" y="166777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1" name="矩形: 圆角 40"/>
            <p:cNvSpPr/>
            <p:nvPr/>
          </p:nvSpPr>
          <p:spPr>
            <a:xfrm rot="2592000">
              <a:off x="4968167" y="17615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2" name="矩形: 圆角 41"/>
            <p:cNvSpPr/>
            <p:nvPr/>
          </p:nvSpPr>
          <p:spPr>
            <a:xfrm rot="2808000">
              <a:off x="5068473" y="186189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3" name="矩形: 圆角 42"/>
            <p:cNvSpPr/>
            <p:nvPr/>
          </p:nvSpPr>
          <p:spPr>
            <a:xfrm rot="3024000">
              <a:off x="5162282" y="196830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4" name="矩形: 圆角 43"/>
            <p:cNvSpPr/>
            <p:nvPr/>
          </p:nvSpPr>
          <p:spPr>
            <a:xfrm rot="3240000">
              <a:off x="5249227" y="20803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5" name="矩形: 圆角 44"/>
            <p:cNvSpPr/>
            <p:nvPr/>
          </p:nvSpPr>
          <p:spPr>
            <a:xfrm rot="3456000">
              <a:off x="5328960" y="219771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6" name="矩形: 圆角 45"/>
            <p:cNvSpPr/>
            <p:nvPr/>
          </p:nvSpPr>
          <p:spPr>
            <a:xfrm rot="3672000">
              <a:off x="5401170" y="231981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7" name="矩形: 圆角 46"/>
            <p:cNvSpPr/>
            <p:nvPr/>
          </p:nvSpPr>
          <p:spPr>
            <a:xfrm rot="3888000">
              <a:off x="5465571" y="244620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8" name="矩形: 圆角 47"/>
            <p:cNvSpPr/>
            <p:nvPr/>
          </p:nvSpPr>
          <p:spPr>
            <a:xfrm rot="4104000">
              <a:off x="5521908" y="257639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49" name="矩形: 圆角 48"/>
            <p:cNvSpPr/>
            <p:nvPr/>
          </p:nvSpPr>
          <p:spPr>
            <a:xfrm rot="4320000">
              <a:off x="5569960" y="270986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0" name="矩形: 圆角 49"/>
            <p:cNvSpPr/>
            <p:nvPr/>
          </p:nvSpPr>
          <p:spPr>
            <a:xfrm rot="4536000">
              <a:off x="5609537" y="2846085"/>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1" name="矩形: 圆角 50"/>
            <p:cNvSpPr/>
            <p:nvPr/>
          </p:nvSpPr>
          <p:spPr>
            <a:xfrm rot="4752000">
              <a:off x="5640481" y="298452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2" name="矩形: 圆角 51"/>
            <p:cNvSpPr/>
            <p:nvPr/>
          </p:nvSpPr>
          <p:spPr>
            <a:xfrm rot="4968000">
              <a:off x="5662672" y="312463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3" name="矩形: 圆角 52"/>
            <p:cNvSpPr/>
            <p:nvPr/>
          </p:nvSpPr>
          <p:spPr>
            <a:xfrm rot="5184000">
              <a:off x="5676022" y="3265855"/>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4" name="矩形: 圆角 53"/>
            <p:cNvSpPr/>
            <p:nvPr/>
          </p:nvSpPr>
          <p:spPr>
            <a:xfrm rot="5400000">
              <a:off x="5680477" y="340764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5" name="矩形: 圆角 54"/>
            <p:cNvSpPr/>
            <p:nvPr/>
          </p:nvSpPr>
          <p:spPr>
            <a:xfrm rot="5616000">
              <a:off x="5676022" y="3549425"/>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6" name="矩形: 圆角 55"/>
            <p:cNvSpPr/>
            <p:nvPr/>
          </p:nvSpPr>
          <p:spPr>
            <a:xfrm rot="5832000">
              <a:off x="5662672" y="369065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7" name="矩形: 圆角 56"/>
            <p:cNvSpPr/>
            <p:nvPr/>
          </p:nvSpPr>
          <p:spPr>
            <a:xfrm rot="6048000">
              <a:off x="5640481" y="383075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8" name="矩形: 圆角 57"/>
            <p:cNvSpPr/>
            <p:nvPr/>
          </p:nvSpPr>
          <p:spPr>
            <a:xfrm rot="6264000">
              <a:off x="5609537" y="3969196"/>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59" name="矩形: 圆角 58"/>
            <p:cNvSpPr/>
            <p:nvPr/>
          </p:nvSpPr>
          <p:spPr>
            <a:xfrm rot="6480000">
              <a:off x="5569960" y="410541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0" name="矩形: 圆角 59"/>
            <p:cNvSpPr/>
            <p:nvPr/>
          </p:nvSpPr>
          <p:spPr>
            <a:xfrm rot="6696000">
              <a:off x="5521908" y="423888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1" name="矩形: 圆角 60"/>
            <p:cNvSpPr/>
            <p:nvPr/>
          </p:nvSpPr>
          <p:spPr>
            <a:xfrm rot="6912000">
              <a:off x="5465571" y="436907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2" name="矩形: 圆角 61"/>
            <p:cNvSpPr/>
            <p:nvPr/>
          </p:nvSpPr>
          <p:spPr>
            <a:xfrm rot="7128000">
              <a:off x="5401170" y="449546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3" name="矩形: 圆角 62"/>
            <p:cNvSpPr/>
            <p:nvPr/>
          </p:nvSpPr>
          <p:spPr>
            <a:xfrm rot="7344000">
              <a:off x="5328960" y="461756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4" name="矩形: 圆角 63"/>
            <p:cNvSpPr/>
            <p:nvPr/>
          </p:nvSpPr>
          <p:spPr>
            <a:xfrm rot="7560000">
              <a:off x="5249227" y="473489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5" name="矩形: 圆角 64"/>
            <p:cNvSpPr/>
            <p:nvPr/>
          </p:nvSpPr>
          <p:spPr>
            <a:xfrm rot="7776000">
              <a:off x="5162282" y="484698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6" name="矩形: 圆角 65"/>
            <p:cNvSpPr/>
            <p:nvPr/>
          </p:nvSpPr>
          <p:spPr>
            <a:xfrm rot="7992000">
              <a:off x="5068473" y="49533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7" name="矩形: 圆角 66"/>
            <p:cNvSpPr/>
            <p:nvPr/>
          </p:nvSpPr>
          <p:spPr>
            <a:xfrm rot="8208000">
              <a:off x="4968167" y="505369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8" name="矩形: 圆角 67"/>
            <p:cNvSpPr/>
            <p:nvPr/>
          </p:nvSpPr>
          <p:spPr>
            <a:xfrm rot="8424000">
              <a:off x="4861760" y="514750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9" name="矩形: 圆角 68"/>
            <p:cNvSpPr/>
            <p:nvPr/>
          </p:nvSpPr>
          <p:spPr>
            <a:xfrm rot="8640000">
              <a:off x="4749672" y="523444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0" name="矩形: 圆角 69"/>
            <p:cNvSpPr/>
            <p:nvPr/>
          </p:nvSpPr>
          <p:spPr>
            <a:xfrm rot="8856000">
              <a:off x="4632348" y="531418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1" name="矩形: 圆角 70"/>
            <p:cNvSpPr/>
            <p:nvPr/>
          </p:nvSpPr>
          <p:spPr>
            <a:xfrm rot="9072000">
              <a:off x="4510247" y="538639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2" name="矩形: 圆角 71"/>
            <p:cNvSpPr/>
            <p:nvPr/>
          </p:nvSpPr>
          <p:spPr>
            <a:xfrm rot="9288000">
              <a:off x="4383854" y="545079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3" name="矩形: 圆角 72"/>
            <p:cNvSpPr/>
            <p:nvPr/>
          </p:nvSpPr>
          <p:spPr>
            <a:xfrm rot="9504000">
              <a:off x="4253666" y="550712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4" name="矩形: 圆角 73"/>
            <p:cNvSpPr/>
            <p:nvPr/>
          </p:nvSpPr>
          <p:spPr>
            <a:xfrm rot="9720000">
              <a:off x="4120198" y="555518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5" name="矩形: 圆角 74"/>
            <p:cNvSpPr/>
            <p:nvPr/>
          </p:nvSpPr>
          <p:spPr>
            <a:xfrm rot="9936000">
              <a:off x="3983976" y="559475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6" name="矩形: 圆角 75"/>
            <p:cNvSpPr/>
            <p:nvPr/>
          </p:nvSpPr>
          <p:spPr>
            <a:xfrm rot="10152000">
              <a:off x="3845537" y="562570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7" name="矩形: 圆角 76"/>
            <p:cNvSpPr/>
            <p:nvPr/>
          </p:nvSpPr>
          <p:spPr>
            <a:xfrm rot="10368000">
              <a:off x="3705430" y="564789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8" name="矩形: 圆角 77"/>
            <p:cNvSpPr/>
            <p:nvPr/>
          </p:nvSpPr>
          <p:spPr>
            <a:xfrm rot="10584000">
              <a:off x="3564204" y="566124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79" name="矩形: 圆角 78"/>
            <p:cNvSpPr/>
            <p:nvPr/>
          </p:nvSpPr>
          <p:spPr>
            <a:xfrm rot="10800000">
              <a:off x="3422420" y="566569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0" name="矩形: 圆角 79"/>
            <p:cNvSpPr/>
            <p:nvPr/>
          </p:nvSpPr>
          <p:spPr>
            <a:xfrm rot="11016000">
              <a:off x="3280636" y="566124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1" name="矩形: 圆角 80"/>
            <p:cNvSpPr/>
            <p:nvPr/>
          </p:nvSpPr>
          <p:spPr>
            <a:xfrm rot="11232000">
              <a:off x="3139410" y="564789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2" name="矩形: 圆角 81"/>
            <p:cNvSpPr/>
            <p:nvPr/>
          </p:nvSpPr>
          <p:spPr>
            <a:xfrm rot="11448000">
              <a:off x="2999302" y="562570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3" name="矩形: 圆角 82"/>
            <p:cNvSpPr/>
            <p:nvPr/>
          </p:nvSpPr>
          <p:spPr>
            <a:xfrm rot="11664000">
              <a:off x="2860864" y="559475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4" name="矩形: 圆角 83"/>
            <p:cNvSpPr/>
            <p:nvPr/>
          </p:nvSpPr>
          <p:spPr>
            <a:xfrm rot="11880000">
              <a:off x="2724641" y="555518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5" name="矩形: 圆角 84"/>
            <p:cNvSpPr/>
            <p:nvPr/>
          </p:nvSpPr>
          <p:spPr>
            <a:xfrm rot="12096000">
              <a:off x="2591173" y="550712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6" name="矩形: 圆角 85"/>
            <p:cNvSpPr/>
            <p:nvPr/>
          </p:nvSpPr>
          <p:spPr>
            <a:xfrm rot="12312000">
              <a:off x="2460986" y="5450792"/>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7" name="矩形: 圆角 86"/>
            <p:cNvSpPr/>
            <p:nvPr/>
          </p:nvSpPr>
          <p:spPr>
            <a:xfrm rot="12528000">
              <a:off x="2334592" y="538639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8" name="矩形: 圆角 87"/>
            <p:cNvSpPr/>
            <p:nvPr/>
          </p:nvSpPr>
          <p:spPr>
            <a:xfrm rot="12744000">
              <a:off x="2212492" y="531418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89" name="矩形: 圆角 88"/>
            <p:cNvSpPr/>
            <p:nvPr/>
          </p:nvSpPr>
          <p:spPr>
            <a:xfrm rot="12960000">
              <a:off x="2095167" y="523444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0" name="矩形: 圆角 89"/>
            <p:cNvSpPr/>
            <p:nvPr/>
          </p:nvSpPr>
          <p:spPr>
            <a:xfrm rot="13176000">
              <a:off x="1983079" y="514750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1" name="矩形: 圆角 90"/>
            <p:cNvSpPr/>
            <p:nvPr/>
          </p:nvSpPr>
          <p:spPr>
            <a:xfrm rot="13392000">
              <a:off x="1876673" y="505369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2" name="矩形: 圆角 91"/>
            <p:cNvSpPr/>
            <p:nvPr/>
          </p:nvSpPr>
          <p:spPr>
            <a:xfrm rot="13608000">
              <a:off x="1776367" y="495338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3" name="矩形: 圆角 92"/>
            <p:cNvSpPr/>
            <p:nvPr/>
          </p:nvSpPr>
          <p:spPr>
            <a:xfrm rot="13824000">
              <a:off x="1682556" y="4846981"/>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4" name="矩形: 圆角 93"/>
            <p:cNvSpPr/>
            <p:nvPr/>
          </p:nvSpPr>
          <p:spPr>
            <a:xfrm rot="14040000">
              <a:off x="1595612" y="4734893"/>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5" name="矩形: 圆角 94"/>
            <p:cNvSpPr/>
            <p:nvPr/>
          </p:nvSpPr>
          <p:spPr>
            <a:xfrm rot="14256000">
              <a:off x="1515879" y="461756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6" name="矩形: 圆角 95"/>
            <p:cNvSpPr/>
            <p:nvPr/>
          </p:nvSpPr>
          <p:spPr>
            <a:xfrm rot="14472000">
              <a:off x="1443668" y="4495468"/>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7" name="矩形: 圆角 96"/>
            <p:cNvSpPr/>
            <p:nvPr/>
          </p:nvSpPr>
          <p:spPr>
            <a:xfrm rot="14688000">
              <a:off x="1379268" y="4369074"/>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8" name="矩形: 圆角 97"/>
            <p:cNvSpPr/>
            <p:nvPr/>
          </p:nvSpPr>
          <p:spPr>
            <a:xfrm rot="14904000">
              <a:off x="1322931" y="4238887"/>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99" name="矩形: 圆角 98"/>
            <p:cNvSpPr/>
            <p:nvPr/>
          </p:nvSpPr>
          <p:spPr>
            <a:xfrm rot="15120000">
              <a:off x="1274879" y="410541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0" name="矩形: 圆角 99"/>
            <p:cNvSpPr/>
            <p:nvPr/>
          </p:nvSpPr>
          <p:spPr>
            <a:xfrm rot="15336000">
              <a:off x="1235303" y="3969196"/>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1" name="矩形: 圆角 100"/>
            <p:cNvSpPr/>
            <p:nvPr/>
          </p:nvSpPr>
          <p:spPr>
            <a:xfrm rot="15552001">
              <a:off x="1204358" y="3830759"/>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2" name="矩形: 圆角 101"/>
            <p:cNvSpPr/>
            <p:nvPr/>
          </p:nvSpPr>
          <p:spPr>
            <a:xfrm rot="15767999">
              <a:off x="1182167" y="3690650"/>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3" name="矩形: 圆角 102"/>
            <p:cNvSpPr/>
            <p:nvPr/>
          </p:nvSpPr>
          <p:spPr>
            <a:xfrm rot="15984000">
              <a:off x="1168818" y="3549425"/>
              <a:ext cx="22581" cy="376343"/>
            </a:xfrm>
            <a:prstGeom prst="roundRect">
              <a:avLst>
                <a:gd name="adj" fmla="val 50000"/>
              </a:avLst>
            </a:prstGeom>
            <a:grpFill/>
            <a:ln>
              <a:gradFill>
                <a:gsLst>
                  <a:gs pos="0">
                    <a:schemeClr val="accent6">
                      <a:alpha val="80000"/>
                    </a:schemeClr>
                  </a:gs>
                  <a:gs pos="100000">
                    <a:schemeClr val="accent6">
                      <a:alpha val="5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grpSp>
      <p:sp>
        <p:nvSpPr>
          <p:cNvPr id="104" name="椭圆 103"/>
          <p:cNvSpPr/>
          <p:nvPr/>
        </p:nvSpPr>
        <p:spPr>
          <a:xfrm>
            <a:off x="7289574" y="2080287"/>
            <a:ext cx="3017205" cy="3017205"/>
          </a:xfrm>
          <a:prstGeom prst="ellipse">
            <a:avLst/>
          </a:prstGeom>
          <a:solidFill>
            <a:schemeClr val="accent6">
              <a:alpha val="5000"/>
            </a:schemeClr>
          </a:solidFill>
          <a:ln>
            <a:gradFill>
              <a:gsLst>
                <a:gs pos="0">
                  <a:schemeClr val="accent6">
                    <a:alpha val="80000"/>
                  </a:schemeClr>
                </a:gs>
                <a:gs pos="100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05" name="椭圆 104"/>
          <p:cNvSpPr/>
          <p:nvPr/>
        </p:nvSpPr>
        <p:spPr>
          <a:xfrm>
            <a:off x="7085071" y="1875784"/>
            <a:ext cx="3426210" cy="3426210"/>
          </a:xfrm>
          <a:prstGeom prst="ellipse">
            <a:avLst/>
          </a:prstGeom>
          <a:noFill/>
          <a:ln>
            <a:gradFill>
              <a:gsLst>
                <a:gs pos="0">
                  <a:schemeClr val="accent6">
                    <a:alpha val="80000"/>
                  </a:schemeClr>
                </a:gs>
                <a:gs pos="100000">
                  <a:schemeClr val="accent6">
                    <a:alpha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latin typeface="微软雅黑" panose="020B0503020204020204" pitchFamily="34" charset="-122"/>
              <a:ea typeface="微软雅黑" panose="020B0503020204020204" pitchFamily="34" charset="-122"/>
              <a:cs typeface="+mn-ea"/>
              <a:sym typeface="+mn-lt"/>
            </a:endParaRPr>
          </a:p>
        </p:txBody>
      </p:sp>
      <p:pic>
        <p:nvPicPr>
          <p:cNvPr id="106" name="图片 105"/>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7596846" y="2387559"/>
            <a:ext cx="2402662" cy="2402662"/>
          </a:xfrm>
          <a:custGeom>
            <a:avLst/>
            <a:gdLst>
              <a:gd name="connsiteX0" fmla="*/ 1201331 w 2402662"/>
              <a:gd name="connsiteY0" fmla="*/ 0 h 2402662"/>
              <a:gd name="connsiteX1" fmla="*/ 2402662 w 2402662"/>
              <a:gd name="connsiteY1" fmla="*/ 1201331 h 2402662"/>
              <a:gd name="connsiteX2" fmla="*/ 1201331 w 2402662"/>
              <a:gd name="connsiteY2" fmla="*/ 2402662 h 2402662"/>
              <a:gd name="connsiteX3" fmla="*/ 0 w 2402662"/>
              <a:gd name="connsiteY3" fmla="*/ 1201331 h 2402662"/>
              <a:gd name="connsiteX4" fmla="*/ 1201331 w 2402662"/>
              <a:gd name="connsiteY4" fmla="*/ 0 h 2402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2662" h="2402662">
                <a:moveTo>
                  <a:pt x="1201331" y="0"/>
                </a:moveTo>
                <a:cubicBezTo>
                  <a:pt x="1864808" y="0"/>
                  <a:pt x="2402662" y="537854"/>
                  <a:pt x="2402662" y="1201331"/>
                </a:cubicBezTo>
                <a:cubicBezTo>
                  <a:pt x="2402662" y="1864808"/>
                  <a:pt x="1864808" y="2402662"/>
                  <a:pt x="1201331" y="2402662"/>
                </a:cubicBezTo>
                <a:cubicBezTo>
                  <a:pt x="537854" y="2402662"/>
                  <a:pt x="0" y="1864808"/>
                  <a:pt x="0" y="1201331"/>
                </a:cubicBezTo>
                <a:cubicBezTo>
                  <a:pt x="0" y="537854"/>
                  <a:pt x="537854" y="0"/>
                  <a:pt x="1201331" y="0"/>
                </a:cubicBezTo>
                <a:close/>
              </a:path>
            </a:pathLst>
          </a:custGeom>
        </p:spPr>
      </p:pic>
      <p:sp>
        <p:nvSpPr>
          <p:cNvPr id="107" name="平行四边形 106"/>
          <p:cNvSpPr/>
          <p:nvPr/>
        </p:nvSpPr>
        <p:spPr>
          <a:xfrm rot="5400000" flipV="1">
            <a:off x="812406" y="3855216"/>
            <a:ext cx="1080000" cy="61879"/>
          </a:xfrm>
          <a:prstGeom prst="parallelogram">
            <a:avLst>
              <a:gd name="adj" fmla="val 47377"/>
            </a:avLst>
          </a:prstGeom>
          <a:gradFill>
            <a:gsLst>
              <a:gs pos="0">
                <a:schemeClr val="accent6">
                  <a:alpha val="20000"/>
                </a:schemeClr>
              </a:gs>
              <a:gs pos="100000">
                <a:schemeClr val="accent6">
                  <a:alpha val="20000"/>
                </a:schemeClr>
              </a:gs>
            </a:gsLst>
            <a:lin ang="0" scaled="0"/>
          </a:gradFill>
          <a:ln w="6350">
            <a:gradFill>
              <a:gsLst>
                <a:gs pos="0">
                  <a:schemeClr val="accent6"/>
                </a:gs>
                <a:gs pos="100000">
                  <a:schemeClr val="accent6">
                    <a:alpha val="1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tx1"/>
              </a:solidFill>
              <a:latin typeface="思源黑体 CN Medium" panose="020B0600000000000000" pitchFamily="34" charset="-122"/>
              <a:ea typeface="思源黑体 CN Medium" panose="020B0600000000000000" pitchFamily="34" charset="-122"/>
            </a:endParaRPr>
          </a:p>
        </p:txBody>
      </p:sp>
      <p:sp>
        <p:nvSpPr>
          <p:cNvPr id="108" name="平行四边形 107"/>
          <p:cNvSpPr/>
          <p:nvPr/>
        </p:nvSpPr>
        <p:spPr>
          <a:xfrm rot="5400000" flipV="1">
            <a:off x="5302033" y="3194985"/>
            <a:ext cx="1628903" cy="47198"/>
          </a:xfrm>
          <a:prstGeom prst="parallelogram">
            <a:avLst>
              <a:gd name="adj" fmla="val 47377"/>
            </a:avLst>
          </a:prstGeom>
          <a:gradFill>
            <a:gsLst>
              <a:gs pos="0">
                <a:schemeClr val="accent6">
                  <a:alpha val="20000"/>
                </a:schemeClr>
              </a:gs>
              <a:gs pos="100000">
                <a:schemeClr val="accent6">
                  <a:alpha val="20000"/>
                </a:schemeClr>
              </a:gs>
            </a:gsLst>
            <a:lin ang="0" scaled="0"/>
          </a:gradFill>
          <a:ln w="6350">
            <a:gradFill>
              <a:gsLst>
                <a:gs pos="0">
                  <a:schemeClr val="accent6"/>
                </a:gs>
                <a:gs pos="100000">
                  <a:schemeClr val="accent6">
                    <a:alpha val="1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tx1"/>
              </a:solidFill>
              <a:latin typeface="思源黑体 CN Medium" panose="020B0600000000000000" pitchFamily="34" charset="-122"/>
              <a:ea typeface="思源黑体 CN Medium" panose="020B0600000000000000" pitchFamily="34" charset="-122"/>
            </a:endParaRPr>
          </a:p>
        </p:txBody>
      </p:sp>
      <p:sp>
        <p:nvSpPr>
          <p:cNvPr id="109" name="PA-矩形 4"/>
          <p:cNvSpPr>
            <a:spLocks noChangeArrowheads="1"/>
          </p:cNvSpPr>
          <p:nvPr>
            <p:custDataLst>
              <p:tags r:id="rId1"/>
            </p:custDataLst>
          </p:nvPr>
        </p:nvSpPr>
        <p:spPr bwMode="auto">
          <a:xfrm>
            <a:off x="1690618" y="2664439"/>
            <a:ext cx="4040317" cy="24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dirty="0">
                <a:latin typeface="微软雅黑" panose="020B0503020204020204" pitchFamily="34" charset="-122"/>
                <a:ea typeface="微软雅黑" panose="020B0503020204020204" pitchFamily="34" charset="-122"/>
                <a:cs typeface="+mn-ea"/>
                <a:sym typeface="+mn-lt"/>
              </a:rPr>
              <a:t>当下 </a:t>
            </a:r>
            <a:r>
              <a:rPr lang="en-US" altLang="zh-CN" dirty="0">
                <a:latin typeface="微软雅黑" panose="020B0503020204020204" pitchFamily="34" charset="-122"/>
                <a:ea typeface="微软雅黑" panose="020B0503020204020204" pitchFamily="34" charset="-122"/>
                <a:cs typeface="+mn-ea"/>
                <a:sym typeface="+mn-lt"/>
              </a:rPr>
              <a:t>AI </a:t>
            </a:r>
            <a:r>
              <a:rPr lang="zh-CN" altLang="en-US" dirty="0">
                <a:latin typeface="微软雅黑" panose="020B0503020204020204" pitchFamily="34" charset="-122"/>
                <a:ea typeface="微软雅黑" panose="020B0503020204020204" pitchFamily="34" charset="-122"/>
                <a:cs typeface="+mn-ea"/>
                <a:sym typeface="+mn-lt"/>
              </a:rPr>
              <a:t>工具已成矩阵之势，办公、创作、学习等场景全覆盖，功能更是从基础辅助延伸到深度定制。但不少高效玩法、精准适配的能力仍需挖掘，多试、多探索，才能解锁工具的真正潜力，让 </a:t>
            </a:r>
            <a:r>
              <a:rPr lang="en-US" altLang="zh-CN" dirty="0">
                <a:latin typeface="微软雅黑" panose="020B0503020204020204" pitchFamily="34" charset="-122"/>
                <a:ea typeface="微软雅黑" panose="020B0503020204020204" pitchFamily="34" charset="-122"/>
                <a:cs typeface="+mn-ea"/>
                <a:sym typeface="+mn-lt"/>
              </a:rPr>
              <a:t>AI </a:t>
            </a:r>
            <a:r>
              <a:rPr lang="zh-CN" altLang="en-US" dirty="0">
                <a:latin typeface="微软雅黑" panose="020B0503020204020204" pitchFamily="34" charset="-122"/>
                <a:ea typeface="微软雅黑" panose="020B0503020204020204" pitchFamily="34" charset="-122"/>
                <a:cs typeface="+mn-ea"/>
                <a:sym typeface="+mn-lt"/>
              </a:rPr>
              <a:t>切实为你提效赋能。</a:t>
            </a:r>
          </a:p>
        </p:txBody>
      </p:sp>
      <p:sp>
        <p:nvSpPr>
          <p:cNvPr id="110" name="PA-矩形 4"/>
          <p:cNvSpPr>
            <a:spLocks noChangeArrowheads="1"/>
          </p:cNvSpPr>
          <p:nvPr>
            <p:custDataLst>
              <p:tags r:id="rId2"/>
            </p:custDataLst>
          </p:nvPr>
        </p:nvSpPr>
        <p:spPr bwMode="auto">
          <a:xfrm>
            <a:off x="1690618" y="1894799"/>
            <a:ext cx="1694562" cy="49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25000"/>
              <a:defRPr/>
            </a:pP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探 </a:t>
            </a:r>
            <a:r>
              <a:rPr lang="en-US" altLang="zh-CN" sz="2400" b="1" dirty="0">
                <a:solidFill>
                  <a:schemeClr val="accent1"/>
                </a:solidFill>
                <a:latin typeface="微软雅黑" panose="020B0503020204020204" pitchFamily="34" charset="-122"/>
                <a:ea typeface="微软雅黑" panose="020B0503020204020204" pitchFamily="34" charset="-122"/>
                <a:cs typeface="+mn-ea"/>
                <a:sym typeface="+mn-lt"/>
              </a:rPr>
              <a:t>AI </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潜力</a:t>
            </a:r>
          </a:p>
        </p:txBody>
      </p:sp>
      <p:sp>
        <p:nvSpPr>
          <p:cNvPr id="111"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barn(inVertical)">
                                      <p:cBhvr>
                                        <p:cTn id="11" dur="500"/>
                                        <p:tgtEl>
                                          <p:spTgt spid="106"/>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04"/>
                                        </p:tgtEl>
                                        <p:attrNameLst>
                                          <p:attrName>style.visibility</p:attrName>
                                        </p:attrNameLst>
                                      </p:cBhvr>
                                      <p:to>
                                        <p:strVal val="visible"/>
                                      </p:to>
                                    </p:set>
                                    <p:anim calcmode="lin" valueType="num">
                                      <p:cBhvr>
                                        <p:cTn id="20" dur="500" fill="hold"/>
                                        <p:tgtEl>
                                          <p:spTgt spid="104"/>
                                        </p:tgtEl>
                                        <p:attrNameLst>
                                          <p:attrName>ppt_w</p:attrName>
                                        </p:attrNameLst>
                                      </p:cBhvr>
                                      <p:tavLst>
                                        <p:tav tm="0">
                                          <p:val>
                                            <p:fltVal val="0"/>
                                          </p:val>
                                        </p:tav>
                                        <p:tav tm="100000">
                                          <p:val>
                                            <p:strVal val="#ppt_w"/>
                                          </p:val>
                                        </p:tav>
                                      </p:tavLst>
                                    </p:anim>
                                    <p:anim calcmode="lin" valueType="num">
                                      <p:cBhvr>
                                        <p:cTn id="21" dur="500" fill="hold"/>
                                        <p:tgtEl>
                                          <p:spTgt spid="104"/>
                                        </p:tgtEl>
                                        <p:attrNameLst>
                                          <p:attrName>ppt_h</p:attrName>
                                        </p:attrNameLst>
                                      </p:cBhvr>
                                      <p:tavLst>
                                        <p:tav tm="0">
                                          <p:val>
                                            <p:fltVal val="0"/>
                                          </p:val>
                                        </p:tav>
                                        <p:tav tm="100000">
                                          <p:val>
                                            <p:strVal val="#ppt_h"/>
                                          </p:val>
                                        </p:tav>
                                      </p:tavLst>
                                    </p:anim>
                                    <p:animEffect transition="in" filter="fade">
                                      <p:cBhvr>
                                        <p:cTn id="22" dur="500"/>
                                        <p:tgtEl>
                                          <p:spTgt spid="104"/>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05"/>
                                        </p:tgtEl>
                                        <p:attrNameLst>
                                          <p:attrName>style.visibility</p:attrName>
                                        </p:attrNameLst>
                                      </p:cBhvr>
                                      <p:to>
                                        <p:strVal val="visible"/>
                                      </p:to>
                                    </p:set>
                                    <p:anim calcmode="lin" valueType="num">
                                      <p:cBhvr>
                                        <p:cTn id="25" dur="500" fill="hold"/>
                                        <p:tgtEl>
                                          <p:spTgt spid="105"/>
                                        </p:tgtEl>
                                        <p:attrNameLst>
                                          <p:attrName>ppt_w</p:attrName>
                                        </p:attrNameLst>
                                      </p:cBhvr>
                                      <p:tavLst>
                                        <p:tav tm="0">
                                          <p:val>
                                            <p:fltVal val="0"/>
                                          </p:val>
                                        </p:tav>
                                        <p:tav tm="100000">
                                          <p:val>
                                            <p:strVal val="#ppt_w"/>
                                          </p:val>
                                        </p:tav>
                                      </p:tavLst>
                                    </p:anim>
                                    <p:anim calcmode="lin" valueType="num">
                                      <p:cBhvr>
                                        <p:cTn id="26" dur="500" fill="hold"/>
                                        <p:tgtEl>
                                          <p:spTgt spid="105"/>
                                        </p:tgtEl>
                                        <p:attrNameLst>
                                          <p:attrName>ppt_h</p:attrName>
                                        </p:attrNameLst>
                                      </p:cBhvr>
                                      <p:tavLst>
                                        <p:tav tm="0">
                                          <p:val>
                                            <p:fltVal val="0"/>
                                          </p:val>
                                        </p:tav>
                                        <p:tav tm="100000">
                                          <p:val>
                                            <p:strVal val="#ppt_h"/>
                                          </p:val>
                                        </p:tav>
                                      </p:tavLst>
                                    </p:anim>
                                    <p:animEffect transition="in" filter="fade">
                                      <p:cBhvr>
                                        <p:cTn id="27" dur="500"/>
                                        <p:tgtEl>
                                          <p:spTgt spid="105"/>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07"/>
                                        </p:tgtEl>
                                        <p:attrNameLst>
                                          <p:attrName>style.visibility</p:attrName>
                                        </p:attrNameLst>
                                      </p:cBhvr>
                                      <p:to>
                                        <p:strVal val="visible"/>
                                      </p:to>
                                    </p:set>
                                    <p:animEffect transition="in" filter="wipe(down)">
                                      <p:cBhvr>
                                        <p:cTn id="30" dur="500"/>
                                        <p:tgtEl>
                                          <p:spTgt spid="107"/>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wipe(down)">
                                      <p:cBhvr>
                                        <p:cTn id="33" dur="500"/>
                                        <p:tgtEl>
                                          <p:spTgt spid="108"/>
                                        </p:tgtEl>
                                      </p:cBhvr>
                                    </p:animEffect>
                                  </p:childTnLst>
                                </p:cTn>
                              </p:par>
                            </p:childTnLst>
                          </p:cTn>
                        </p:par>
                        <p:par>
                          <p:cTn id="34" fill="hold">
                            <p:stCondLst>
                              <p:cond delay="1500"/>
                            </p:stCondLst>
                            <p:childTnLst>
                              <p:par>
                                <p:cTn id="35" presetID="42" presetClass="entr" presetSubtype="0" fill="hold" grpId="0" nodeType="after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1000"/>
                                        <p:tgtEl>
                                          <p:spTgt spid="109"/>
                                        </p:tgtEl>
                                      </p:cBhvr>
                                    </p:animEffect>
                                    <p:anim calcmode="lin" valueType="num">
                                      <p:cBhvr>
                                        <p:cTn id="38" dur="1000" fill="hold"/>
                                        <p:tgtEl>
                                          <p:spTgt spid="109"/>
                                        </p:tgtEl>
                                        <p:attrNameLst>
                                          <p:attrName>ppt_x</p:attrName>
                                        </p:attrNameLst>
                                      </p:cBhvr>
                                      <p:tavLst>
                                        <p:tav tm="0">
                                          <p:val>
                                            <p:strVal val="#ppt_x"/>
                                          </p:val>
                                        </p:tav>
                                        <p:tav tm="100000">
                                          <p:val>
                                            <p:strVal val="#ppt_x"/>
                                          </p:val>
                                        </p:tav>
                                      </p:tavLst>
                                    </p:anim>
                                    <p:anim calcmode="lin" valueType="num">
                                      <p:cBhvr>
                                        <p:cTn id="39" dur="1000" fill="hold"/>
                                        <p:tgtEl>
                                          <p:spTgt spid="109"/>
                                        </p:tgtEl>
                                        <p:attrNameLst>
                                          <p:attrName>ppt_y</p:attrName>
                                        </p:attrNameLst>
                                      </p:cBhvr>
                                      <p:tavLst>
                                        <p:tav tm="0">
                                          <p:val>
                                            <p:strVal val="#ppt_y+.1"/>
                                          </p:val>
                                        </p:tav>
                                        <p:tav tm="100000">
                                          <p:val>
                                            <p:strVal val="#ppt_y"/>
                                          </p:val>
                                        </p:tav>
                                      </p:tavLst>
                                    </p:anim>
                                  </p:childTnLst>
                                </p:cTn>
                              </p:par>
                            </p:childTnLst>
                          </p:cTn>
                        </p:par>
                        <p:par>
                          <p:cTn id="40" fill="hold">
                            <p:stCondLst>
                              <p:cond delay="2500"/>
                            </p:stCondLst>
                            <p:childTnLst>
                              <p:par>
                                <p:cTn id="41" presetID="42" presetClass="entr" presetSubtype="0"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fade">
                                      <p:cBhvr>
                                        <p:cTn id="43" dur="1000"/>
                                        <p:tgtEl>
                                          <p:spTgt spid="110"/>
                                        </p:tgtEl>
                                      </p:cBhvr>
                                    </p:animEffect>
                                    <p:anim calcmode="lin" valueType="num">
                                      <p:cBhvr>
                                        <p:cTn id="44" dur="1000" fill="hold"/>
                                        <p:tgtEl>
                                          <p:spTgt spid="110"/>
                                        </p:tgtEl>
                                        <p:attrNameLst>
                                          <p:attrName>ppt_x</p:attrName>
                                        </p:attrNameLst>
                                      </p:cBhvr>
                                      <p:tavLst>
                                        <p:tav tm="0">
                                          <p:val>
                                            <p:strVal val="#ppt_x"/>
                                          </p:val>
                                        </p:tav>
                                        <p:tav tm="100000">
                                          <p:val>
                                            <p:strVal val="#ppt_x"/>
                                          </p:val>
                                        </p:tav>
                                      </p:tavLst>
                                    </p:anim>
                                    <p:anim calcmode="lin" valueType="num">
                                      <p:cBhvr>
                                        <p:cTn id="45"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04" grpId="0" animBg="1"/>
      <p:bldP spid="105" grpId="0" animBg="1"/>
      <p:bldP spid="107" grpId="0" animBg="1"/>
      <p:bldP spid="108" grpId="0" animBg="1"/>
      <p:bldP spid="109" grpId="0"/>
      <p:bldP spid="1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竖排文字占位符 22"/>
          <p:cNvSpPr>
            <a:spLocks noGrp="1"/>
          </p:cNvSpPr>
          <p:nvPr>
            <p:ph type="body" orient="vert" sz="quarter" idx="15"/>
          </p:nvPr>
        </p:nvSpPr>
        <p:spPr>
          <a:xfrm flipH="1">
            <a:off x="801240" y="3626106"/>
            <a:ext cx="6100652" cy="573097"/>
          </a:xfrm>
        </p:spPr>
        <p:txBody>
          <a:bodyPr/>
          <a:lstStyle/>
          <a:p>
            <a:r>
              <a:rPr lang="en-US" altLang="zh-CN" dirty="0"/>
              <a:t>AI basic knowledge training</a:t>
            </a:r>
          </a:p>
        </p:txBody>
      </p:sp>
      <p:sp>
        <p:nvSpPr>
          <p:cNvPr id="3" name="竖排文字占位符 24"/>
          <p:cNvSpPr>
            <a:spLocks noGrp="1"/>
          </p:cNvSpPr>
          <p:nvPr>
            <p:ph type="body" orient="vert" sz="quarter" idx="16"/>
          </p:nvPr>
        </p:nvSpPr>
        <p:spPr>
          <a:xfrm flipH="1">
            <a:off x="801240" y="5251560"/>
            <a:ext cx="2697251" cy="573097"/>
          </a:xfrm>
        </p:spPr>
        <p:txBody>
          <a:bodyPr/>
          <a:lstStyle/>
          <a:p>
            <a:r>
              <a:rPr lang="zh-CN" altLang="en-US" dirty="0"/>
              <a:t>主讲人：第一</a:t>
            </a:r>
            <a:r>
              <a:rPr lang="en-US" altLang="zh-CN" dirty="0"/>
              <a:t>PPT</a:t>
            </a:r>
            <a:endParaRPr lang="zh-CN" altLang="en-US" dirty="0"/>
          </a:p>
        </p:txBody>
      </p:sp>
      <p:sp>
        <p:nvSpPr>
          <p:cNvPr id="4" name="文本占位符 17"/>
          <p:cNvSpPr>
            <a:spLocks noGrp="1"/>
          </p:cNvSpPr>
          <p:nvPr>
            <p:ph type="body" sz="quarter" idx="13"/>
          </p:nvPr>
        </p:nvSpPr>
        <p:spPr>
          <a:xfrm>
            <a:off x="801240" y="1039138"/>
            <a:ext cx="6475860" cy="2606017"/>
          </a:xfrm>
        </p:spPr>
        <p:txBody>
          <a:bodyPr/>
          <a:lstStyle/>
          <a:p>
            <a:r>
              <a:rPr lang="zh-CN" altLang="en-US" dirty="0"/>
              <a:t>感谢您的观看</a:t>
            </a:r>
            <a:endParaRPr lang="en-US" altLang="zh-CN" dirty="0"/>
          </a:p>
          <a:p>
            <a:r>
              <a:rPr lang="zh-CN" altLang="en-US" dirty="0"/>
              <a:t>祝您学业有成</a:t>
            </a:r>
          </a:p>
        </p:txBody>
      </p:sp>
      <p:sp>
        <p:nvSpPr>
          <p:cNvPr id="5" name="竖排文字占位符 25"/>
          <p:cNvSpPr>
            <a:spLocks noGrp="1"/>
          </p:cNvSpPr>
          <p:nvPr>
            <p:ph type="body" orient="vert" sz="quarter" idx="17"/>
          </p:nvPr>
        </p:nvSpPr>
        <p:spPr>
          <a:xfrm flipH="1">
            <a:off x="801240" y="4371540"/>
            <a:ext cx="6100652" cy="573097"/>
          </a:xfrm>
        </p:spPr>
        <p:txBody>
          <a:bodyPr/>
          <a:lstStyle/>
          <a:p>
            <a:r>
              <a:rPr lang="zh-CN" altLang="en-US" dirty="0"/>
              <a:t>智慧浪潮席卷时代，</a:t>
            </a:r>
            <a:r>
              <a:rPr lang="en-US" altLang="zh-CN" dirty="0"/>
              <a:t>AI</a:t>
            </a:r>
            <a:r>
              <a:rPr lang="zh-CN" altLang="en-US" dirty="0"/>
              <a:t>驱动创新变革。精准高效赋能千行万业，让科技更有温度，让未来触手可及。携手人工智能，共创智能新纪元，点亮无限可能！</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arn(inVertical)">
                                      <p:cBhvr>
                                        <p:cTn id="10" dur="500"/>
                                        <p:tgtEl>
                                          <p:spTgt spid="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barn(inVertical)">
                                      <p:cBhvr>
                                        <p:cTn id="13" dur="500"/>
                                        <p:tgtEl>
                                          <p:spTgt spid="4">
                                            <p:txEl>
                                              <p:pRg st="0" end="0"/>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barn(inVertical)">
                                      <p:cBhvr>
                                        <p:cTn id="16" dur="500"/>
                                        <p:tgtEl>
                                          <p:spTgt spid="4">
                                            <p:txEl>
                                              <p:pRg st="1" end="1"/>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barn(inVertical)">
                                      <p:cBhvr>
                                        <p:cTn id="19"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P spid="4" grpId="0" uiExpand="1" build="p"/>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行业</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节日</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素材：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65">
              <a:solidFill>
                <a:srgbClr val="EEECE1">
                  <a:lumMod val="25000"/>
                </a:srgbClr>
              </a:solidFill>
              <a:latin typeface="微软雅黑" panose="020B0503020204020204" pitchFamily="34" charset="-122"/>
              <a:ea typeface="微软雅黑" panose="020B0503020204020204" pitchFamily="34" charset="-122"/>
            </a:endParaRPr>
          </a:p>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图表：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优秀</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下载：</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教程：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en-US" altLang="zh-CN" sz="1465">
                <a:solidFill>
                  <a:srgbClr val="EEECE1">
                    <a:lumMod val="25000"/>
                  </a:srgbClr>
                </a:solidFill>
                <a:latin typeface="微软雅黑" panose="020B0503020204020204" pitchFamily="34" charset="-122"/>
                <a:ea typeface="微软雅黑" panose="020B0503020204020204" pitchFamily="34" charset="-122"/>
              </a:rPr>
              <a:t>Word</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65">
                <a:solidFill>
                  <a:srgbClr val="EEECE1">
                    <a:lumMod val="25000"/>
                  </a:srgbClr>
                </a:solidFill>
                <a:latin typeface="微软雅黑" panose="020B0503020204020204" pitchFamily="34" charset="-122"/>
                <a:ea typeface="微软雅黑" panose="020B0503020204020204" pitchFamily="34" charset="-122"/>
              </a:rPr>
              <a:t>                        Excel</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课件：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endParaRPr lang="zh-CN" altLang="en-US" sz="1465">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Arial" panose="020B0604020202020204"/>
              <a:ea typeface="微软雅黑" panose="020B0503020204020204" pitchFamily="34" charset="-122"/>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465"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335"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465"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cstate="email">
            <a:extLst>
              <a:ext uri="{28A0092B-C50C-407E-A947-70E740481C1C}">
                <a14:useLocalDpi xmlns:a14="http://schemas.microsoft.com/office/drawing/2010/main"/>
              </a:ext>
            </a:extLst>
          </a:blip>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1.14"/>
  <p:tag name="AS_TITLE" val="Aspose.Slides for .NET 4.0 Client Profile"/>
  <p:tag name="AS_VERSION" val="2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PA" val="v5.2.11"/>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PA" val="v5.2.11"/>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PA" val="v5.2.11"/>
</p:tagLst>
</file>

<file path=ppt/tags/tag26.xml><?xml version="1.0" encoding="utf-8"?>
<p:tagLst xmlns:a="http://schemas.openxmlformats.org/drawingml/2006/main" xmlns:r="http://schemas.openxmlformats.org/officeDocument/2006/relationships" xmlns:p="http://schemas.openxmlformats.org/presentationml/2006/main">
  <p:tag name="PA" val="v5.2.11"/>
</p:tagLst>
</file>

<file path=ppt/tags/tag27.xml><?xml version="1.0" encoding="utf-8"?>
<p:tagLst xmlns:a="http://schemas.openxmlformats.org/drawingml/2006/main" xmlns:r="http://schemas.openxmlformats.org/officeDocument/2006/relationships" xmlns:p="http://schemas.openxmlformats.org/presentationml/2006/main">
  <p:tag name="PA" val="v5.2.11"/>
</p:tagLst>
</file>

<file path=ppt/tags/tag28.xml><?xml version="1.0" encoding="utf-8"?>
<p:tagLst xmlns:a="http://schemas.openxmlformats.org/drawingml/2006/main" xmlns:r="http://schemas.openxmlformats.org/officeDocument/2006/relationships" xmlns:p="http://schemas.openxmlformats.org/presentationml/2006/main">
  <p:tag name="PA" val="v5.2.11"/>
</p:tagLst>
</file>

<file path=ppt/tags/tag29.xml><?xml version="1.0" encoding="utf-8"?>
<p:tagLst xmlns:a="http://schemas.openxmlformats.org/drawingml/2006/main" xmlns:r="http://schemas.openxmlformats.org/officeDocument/2006/relationships" xmlns:p="http://schemas.openxmlformats.org/presentationml/2006/main">
  <p:tag name="PA" val="v5.2.11"/>
</p:tagLst>
</file>

<file path=ppt/tags/tag30.xml><?xml version="1.0" encoding="utf-8"?>
<p:tagLst xmlns:a="http://schemas.openxmlformats.org/drawingml/2006/main" xmlns:r="http://schemas.openxmlformats.org/officeDocument/2006/relationships" xmlns:p="http://schemas.openxmlformats.org/presentationml/2006/main">
  <p:tag name="PA" val="v5.2.11"/>
</p:tagLst>
</file>

<file path=ppt/tags/tag31.xml><?xml version="1.0" encoding="utf-8"?>
<p:tagLst xmlns:a="http://schemas.openxmlformats.org/drawingml/2006/main" xmlns:r="http://schemas.openxmlformats.org/officeDocument/2006/relationships" xmlns:p="http://schemas.openxmlformats.org/presentationml/2006/main">
  <p:tag name="PA" val="v5.2.11"/>
</p:tagLst>
</file>

<file path=ppt/tags/tag32.xml><?xml version="1.0" encoding="utf-8"?>
<p:tagLst xmlns:a="http://schemas.openxmlformats.org/drawingml/2006/main" xmlns:r="http://schemas.openxmlformats.org/officeDocument/2006/relationships" xmlns:p="http://schemas.openxmlformats.org/presentationml/2006/main">
  <p:tag name="PA" val="v5.2.11"/>
</p:tagLst>
</file>

<file path=ppt/tags/tag33.xml><?xml version="1.0" encoding="utf-8"?>
<p:tagLst xmlns:a="http://schemas.openxmlformats.org/drawingml/2006/main" xmlns:r="http://schemas.openxmlformats.org/officeDocument/2006/relationships" xmlns:p="http://schemas.openxmlformats.org/presentationml/2006/main">
  <p:tag name="PA" val="v5.2.11"/>
</p:tagLst>
</file>

<file path=ppt/tags/tag34.xml><?xml version="1.0" encoding="utf-8"?>
<p:tagLst xmlns:a="http://schemas.openxmlformats.org/drawingml/2006/main" xmlns:r="http://schemas.openxmlformats.org/officeDocument/2006/relationships" xmlns:p="http://schemas.openxmlformats.org/presentationml/2006/main">
  <p:tag name="PA" val="v5.2.11"/>
</p:tagLst>
</file>

<file path=ppt/tags/tag35.xml><?xml version="1.0" encoding="utf-8"?>
<p:tagLst xmlns:a="http://schemas.openxmlformats.org/drawingml/2006/main" xmlns:r="http://schemas.openxmlformats.org/officeDocument/2006/relationships" xmlns:p="http://schemas.openxmlformats.org/presentationml/2006/main">
  <p:tag name="PA" val="v5.2.11"/>
</p:tagLst>
</file>

<file path=ppt/tags/tag36.xml><?xml version="1.0" encoding="utf-8"?>
<p:tagLst xmlns:a="http://schemas.openxmlformats.org/drawingml/2006/main" xmlns:r="http://schemas.openxmlformats.org/officeDocument/2006/relationships" xmlns:p="http://schemas.openxmlformats.org/presentationml/2006/main">
  <p:tag name="PA" val="v5.2.11"/>
</p:tagLst>
</file>

<file path=ppt/tags/tag37.xml><?xml version="1.0" encoding="utf-8"?>
<p:tagLst xmlns:a="http://schemas.openxmlformats.org/drawingml/2006/main" xmlns:r="http://schemas.openxmlformats.org/officeDocument/2006/relationships" xmlns:p="http://schemas.openxmlformats.org/presentationml/2006/main">
  <p:tag name="PA" val="v5.2.11"/>
</p:tagLst>
</file>

<file path=ppt/tags/tag38.xml><?xml version="1.0" encoding="utf-8"?>
<p:tagLst xmlns:a="http://schemas.openxmlformats.org/drawingml/2006/main" xmlns:r="http://schemas.openxmlformats.org/officeDocument/2006/relationships" xmlns:p="http://schemas.openxmlformats.org/presentationml/2006/main">
  <p:tag name="PA" val="v5.2.11"/>
</p:tagLst>
</file>

<file path=ppt/tags/tag39.xml><?xml version="1.0" encoding="utf-8"?>
<p:tagLst xmlns:a="http://schemas.openxmlformats.org/drawingml/2006/main" xmlns:r="http://schemas.openxmlformats.org/officeDocument/2006/relationships" xmlns:p="http://schemas.openxmlformats.org/presentationml/2006/main">
  <p:tag name="PA" val="v5.2.11"/>
</p:tagLst>
</file>

<file path=ppt/tags/tag40.xml><?xml version="1.0" encoding="utf-8"?>
<p:tagLst xmlns:a="http://schemas.openxmlformats.org/drawingml/2006/main" xmlns:r="http://schemas.openxmlformats.org/officeDocument/2006/relationships" xmlns:p="http://schemas.openxmlformats.org/presentationml/2006/main">
  <p:tag name="PA" val="v5.2.11"/>
</p:tagLst>
</file>

<file path=ppt/tags/tag41.xml><?xml version="1.0" encoding="utf-8"?>
<p:tagLst xmlns:a="http://schemas.openxmlformats.org/drawingml/2006/main" xmlns:r="http://schemas.openxmlformats.org/officeDocument/2006/relationships" xmlns:p="http://schemas.openxmlformats.org/presentationml/2006/main">
  <p:tag name="PA" val="v5.2.11"/>
</p:tagLst>
</file>

<file path=ppt/tags/tag42.xml><?xml version="1.0" encoding="utf-8"?>
<p:tagLst xmlns:a="http://schemas.openxmlformats.org/drawingml/2006/main" xmlns:r="http://schemas.openxmlformats.org/officeDocument/2006/relationships" xmlns:p="http://schemas.openxmlformats.org/presentationml/2006/main">
  <p:tag name="PA" val="v5.2.11"/>
</p:tagLst>
</file>

<file path=ppt/tags/tag43.xml><?xml version="1.0" encoding="utf-8"?>
<p:tagLst xmlns:a="http://schemas.openxmlformats.org/drawingml/2006/main" xmlns:r="http://schemas.openxmlformats.org/officeDocument/2006/relationships" xmlns:p="http://schemas.openxmlformats.org/presentationml/2006/main">
  <p:tag name="PA" val="v5.2.11"/>
</p:tagLst>
</file>

<file path=ppt/tags/tag44.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第一PPT，www.1ppt.com">
  <a:themeElements>
    <a:clrScheme name="自定义 231">
      <a:dk1>
        <a:sysClr val="windowText" lastClr="000000"/>
      </a:dk1>
      <a:lt1>
        <a:sysClr val="window" lastClr="FFFFFF"/>
      </a:lt1>
      <a:dk2>
        <a:srgbClr val="44546A"/>
      </a:dk2>
      <a:lt2>
        <a:srgbClr val="E7E6E6"/>
      </a:lt2>
      <a:accent1>
        <a:srgbClr val="1049CA"/>
      </a:accent1>
      <a:accent2>
        <a:srgbClr val="4C7EDC"/>
      </a:accent2>
      <a:accent3>
        <a:srgbClr val="72A0EE"/>
      </a:accent3>
      <a:accent4>
        <a:srgbClr val="91BDF4"/>
      </a:accent4>
      <a:accent5>
        <a:srgbClr val="E5E9F5"/>
      </a:accent5>
      <a:accent6>
        <a:srgbClr val="C2DFFD"/>
      </a:accent6>
      <a:hlink>
        <a:srgbClr val="0563C1"/>
      </a:hlink>
      <a:folHlink>
        <a:srgbClr val="954F72"/>
      </a:folHlink>
    </a:clrScheme>
    <a:fontScheme name="自定义 25">
      <a:majorFont>
        <a:latin typeface="优设标题黑"/>
        <a:ea typeface="优设标题黑"/>
        <a:cs typeface="Arial"/>
      </a:majorFont>
      <a:minorFont>
        <a:latin typeface="优设标题黑"/>
        <a:ea typeface="优设标题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8</TotalTime>
  <Words>3728</Words>
  <Application>Microsoft Office PowerPoint</Application>
  <PresentationFormat>宽屏</PresentationFormat>
  <Paragraphs>266</Paragraphs>
  <Slides>32</Slides>
  <Notes>9</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32</vt:i4>
      </vt:variant>
    </vt:vector>
  </HeadingPairs>
  <TitlesOfParts>
    <vt:vector size="42" baseType="lpstr">
      <vt:lpstr>汉仪刚艺体-95简</vt:lpstr>
      <vt:lpstr>思源黑体 CN Medium</vt:lpstr>
      <vt:lpstr>微软雅黑</vt:lpstr>
      <vt:lpstr>优设标题黑</vt:lpstr>
      <vt:lpstr>Arial</vt:lpstr>
      <vt:lpstr>Calibri</vt:lpstr>
      <vt:lpstr>Impact</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AI科技</dc:title>
  <dc:creator>第一PPT</dc:creator>
  <cp:keywords>www.1ppt.com</cp:keywords>
  <dc:description>www.1ppt.com</dc:description>
  <cp:lastModifiedBy>PC</cp:lastModifiedBy>
  <cp:revision>211</cp:revision>
  <dcterms:created xsi:type="dcterms:W3CDTF">2026-01-15T03:24:00Z</dcterms:created>
  <dcterms:modified xsi:type="dcterms:W3CDTF">2026-07-21T01:06:01Z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247F297FA7054A43B12B5FD71B6DD13D_12</vt:lpwstr>
  </property>
  <property fmtid="{D5CDD505-2E9C-101B-9397-08002B2CF9AE}" pid="3" name="KSOProductBuildVer">
    <vt:lpwstr>2052-12.1.0.26375</vt:lpwstr>
  </property>
</Properties>
</file>